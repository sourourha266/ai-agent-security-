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4"/>
  </p:notesMasterIdLst>
  <p:sldIdLst>
    <p:sldId id="256" r:id="rId2"/>
    <p:sldId id="257" r:id="rId3"/>
    <p:sldId id="266" r:id="rId4"/>
    <p:sldId id="268" r:id="rId5"/>
    <p:sldId id="259" r:id="rId6"/>
    <p:sldId id="272" r:id="rId7"/>
    <p:sldId id="273" r:id="rId8"/>
    <p:sldId id="274" r:id="rId9"/>
    <p:sldId id="275" r:id="rId10"/>
    <p:sldId id="276" r:id="rId11"/>
    <p:sldId id="281" r:id="rId12"/>
    <p:sldId id="269" r:id="rId13"/>
    <p:sldId id="270" r:id="rId14"/>
    <p:sldId id="261" r:id="rId15"/>
    <p:sldId id="260" r:id="rId16"/>
    <p:sldId id="258" r:id="rId17"/>
    <p:sldId id="277" r:id="rId18"/>
    <p:sldId id="279" r:id="rId19"/>
    <p:sldId id="280" r:id="rId20"/>
    <p:sldId id="282" r:id="rId21"/>
    <p:sldId id="262" r:id="rId22"/>
    <p:sldId id="289" r:id="rId23"/>
    <p:sldId id="283" r:id="rId24"/>
    <p:sldId id="284" r:id="rId25"/>
    <p:sldId id="285" r:id="rId26"/>
    <p:sldId id="286" r:id="rId27"/>
    <p:sldId id="287" r:id="rId28"/>
    <p:sldId id="295" r:id="rId29"/>
    <p:sldId id="288" r:id="rId30"/>
    <p:sldId id="290" r:id="rId31"/>
    <p:sldId id="291" r:id="rId32"/>
    <p:sldId id="292" r:id="rId33"/>
    <p:sldId id="293" r:id="rId34"/>
    <p:sldId id="294" r:id="rId35"/>
    <p:sldId id="296" r:id="rId36"/>
    <p:sldId id="297" r:id="rId37"/>
    <p:sldId id="298" r:id="rId38"/>
    <p:sldId id="299" r:id="rId39"/>
    <p:sldId id="300" r:id="rId40"/>
    <p:sldId id="301" r:id="rId41"/>
    <p:sldId id="302" r:id="rId42"/>
    <p:sldId id="303" r:id="rId43"/>
    <p:sldId id="304" r:id="rId44"/>
    <p:sldId id="305" r:id="rId45"/>
    <p:sldId id="306" r:id="rId46"/>
    <p:sldId id="307" r:id="rId47"/>
    <p:sldId id="308" r:id="rId48"/>
    <p:sldId id="309" r:id="rId49"/>
    <p:sldId id="310" r:id="rId50"/>
    <p:sldId id="264" r:id="rId51"/>
    <p:sldId id="271" r:id="rId52"/>
    <p:sldId id="265" r:id="rId53"/>
  </p:sldIdLst>
  <p:sldSz cx="18288000" cy="10287000"/>
  <p:notesSz cx="6858000" cy="9144000"/>
  <p:embeddedFontLst>
    <p:embeddedFont>
      <p:font typeface="Open Sans" panose="020B0604020202020204" charset="0"/>
      <p:regular r:id="rId55"/>
    </p:embeddedFont>
    <p:embeddedFont>
      <p:font typeface="Sergio Trendy" panose="020B0604020202020204" charset="0"/>
      <p:regular r:id="rId56"/>
    </p:embeddedFont>
    <p:embeddedFont>
      <p:font typeface="Hobo" panose="020B0604020202020204" charset="0"/>
      <p:regular r:id="rId57"/>
    </p:embeddedFont>
    <p:embeddedFont>
      <p:font typeface="Calibri" panose="020F0502020204030204" pitchFamily="34" charset="0"/>
      <p:regular r:id="rId58"/>
      <p:bold r:id="rId5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78B3DA"/>
    <a:srgbClr val="A626A4"/>
    <a:srgbClr val="B0DBF8"/>
    <a:srgbClr val="F9FAFB"/>
    <a:srgbClr val="B0CFE1"/>
    <a:srgbClr val="96C4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32" autoAdjust="0"/>
    <p:restoredTop sz="57662" autoAdjust="0"/>
  </p:normalViewPr>
  <p:slideViewPr>
    <p:cSldViewPr>
      <p:cViewPr varScale="1">
        <p:scale>
          <a:sx n="23" d="100"/>
          <a:sy n="23" d="100"/>
        </p:scale>
        <p:origin x="1842" y="21"/>
      </p:cViewPr>
      <p:guideLst>
        <p:guide orient="horz" pos="2160"/>
        <p:guide pos="2880"/>
      </p:guideLst>
    </p:cSldViewPr>
  </p:slideViewPr>
  <p:outlineViewPr>
    <p:cViewPr>
      <p:scale>
        <a:sx n="33" d="100"/>
        <a:sy n="33" d="100"/>
      </p:scale>
      <p:origin x="0" y="-2223"/>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1.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3.fntdata"/><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2.fntdata"/><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5.fntdata"/></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151ECE2-E40C-462E-814E-898085E160B7}" type="doc">
      <dgm:prSet loTypeId="urn:microsoft.com/office/officeart/2005/8/layout/radial1" loCatId="cycle" qsTypeId="urn:microsoft.com/office/officeart/2005/8/quickstyle/simple1" qsCatId="simple" csTypeId="urn:microsoft.com/office/officeart/2005/8/colors/accent1_2" csCatId="accent1" phldr="1"/>
      <dgm:spPr/>
      <dgm:t>
        <a:bodyPr/>
        <a:lstStyle/>
        <a:p>
          <a:endParaRPr lang="en-US"/>
        </a:p>
      </dgm:t>
    </dgm:pt>
    <dgm:pt modelId="{294C95DF-F9FF-4A1E-B6DE-B757E7EDF30D}">
      <dgm:prSet phldrT="[Text]"/>
      <dgm:spPr/>
      <dgm:t>
        <a:bodyPr/>
        <a:lstStyle/>
        <a:p>
          <a:r>
            <a:rPr lang="en-US" dirty="0" smtClean="0">
              <a:solidFill>
                <a:srgbClr val="022C5E"/>
              </a:solidFill>
              <a:latin typeface="Hobo"/>
              <a:ea typeface="Hobo"/>
              <a:cs typeface="Hobo"/>
              <a:sym typeface="Hobo"/>
            </a:rPr>
            <a:t>Default Toolbox</a:t>
          </a:r>
          <a:endParaRPr lang="en-US" dirty="0"/>
        </a:p>
      </dgm:t>
    </dgm:pt>
    <dgm:pt modelId="{04937489-333A-443B-9D1F-3361AD24BA2A}" type="parTrans" cxnId="{D5060001-7F09-43A8-94A7-4B0EDB59CE59}">
      <dgm:prSet/>
      <dgm:spPr/>
      <dgm:t>
        <a:bodyPr/>
        <a:lstStyle/>
        <a:p>
          <a:endParaRPr lang="en-US"/>
        </a:p>
      </dgm:t>
    </dgm:pt>
    <dgm:pt modelId="{241D9AD2-A2AE-463C-BF13-07CC8C1295AB}" type="sibTrans" cxnId="{D5060001-7F09-43A8-94A7-4B0EDB59CE59}">
      <dgm:prSet/>
      <dgm:spPr/>
      <dgm:t>
        <a:bodyPr/>
        <a:lstStyle/>
        <a:p>
          <a:endParaRPr lang="en-US"/>
        </a:p>
      </dgm:t>
    </dgm:pt>
    <dgm:pt modelId="{9B227C3E-94D4-44EA-A318-5FD89CDACAC9}">
      <dgm:prSet phldrT="[Text]" custT="1"/>
      <dgm:spPr/>
      <dgm:t>
        <a:bodyPr/>
        <a:lstStyle/>
        <a:p>
          <a:r>
            <a:rPr lang="en-US" sz="2800" dirty="0" smtClean="0">
              <a:solidFill>
                <a:schemeClr val="bg1"/>
              </a:solidFill>
              <a:latin typeface="Hobo" panose="020B0604020202020204" charset="0"/>
            </a:rPr>
            <a:t>UserInputTool</a:t>
          </a:r>
          <a:endParaRPr lang="en-US" sz="2800" dirty="0">
            <a:solidFill>
              <a:schemeClr val="bg1"/>
            </a:solidFill>
          </a:endParaRPr>
        </a:p>
      </dgm:t>
    </dgm:pt>
    <dgm:pt modelId="{3E70169A-1E1B-4124-91F2-6C83BEA6E032}" type="parTrans" cxnId="{CBFA7D48-061D-42A5-8105-5116DB49EEB3}">
      <dgm:prSet/>
      <dgm:spPr/>
      <dgm:t>
        <a:bodyPr/>
        <a:lstStyle/>
        <a:p>
          <a:endParaRPr lang="en-US"/>
        </a:p>
      </dgm:t>
    </dgm:pt>
    <dgm:pt modelId="{85B7DE49-E093-46E3-AAF0-6A6D67648E02}" type="sibTrans" cxnId="{CBFA7D48-061D-42A5-8105-5116DB49EEB3}">
      <dgm:prSet/>
      <dgm:spPr/>
      <dgm:t>
        <a:bodyPr/>
        <a:lstStyle/>
        <a:p>
          <a:endParaRPr lang="en-US"/>
        </a:p>
      </dgm:t>
    </dgm:pt>
    <dgm:pt modelId="{93F26A6F-5B67-46EE-A478-A63BC660EE80}">
      <dgm:prSet phldrT="[Text]" custT="1"/>
      <dgm:spPr/>
      <dgm:t>
        <a:bodyPr/>
        <a:lstStyle/>
        <a:p>
          <a:r>
            <a:rPr lang="en-US" sz="2800" b="1" i="0" dirty="0" smtClean="0">
              <a:solidFill>
                <a:schemeClr val="bg1"/>
              </a:solidFill>
            </a:rPr>
            <a:t>DuckDuckGoSearchTool</a:t>
          </a:r>
          <a:endParaRPr lang="en-US" sz="2800" dirty="0">
            <a:solidFill>
              <a:schemeClr val="bg1"/>
            </a:solidFill>
          </a:endParaRPr>
        </a:p>
      </dgm:t>
    </dgm:pt>
    <dgm:pt modelId="{5B6BDD89-B145-4143-A39A-25FE8995E041}" type="parTrans" cxnId="{B0DCD3CE-ACF9-4E1A-99D7-67445A8B84C3}">
      <dgm:prSet/>
      <dgm:spPr/>
      <dgm:t>
        <a:bodyPr/>
        <a:lstStyle/>
        <a:p>
          <a:endParaRPr lang="en-US"/>
        </a:p>
      </dgm:t>
    </dgm:pt>
    <dgm:pt modelId="{0E492158-0DC3-4A2C-B016-BC8B73635E85}" type="sibTrans" cxnId="{B0DCD3CE-ACF9-4E1A-99D7-67445A8B84C3}">
      <dgm:prSet/>
      <dgm:spPr/>
      <dgm:t>
        <a:bodyPr/>
        <a:lstStyle/>
        <a:p>
          <a:endParaRPr lang="en-US"/>
        </a:p>
      </dgm:t>
    </dgm:pt>
    <dgm:pt modelId="{A3A1AF7B-D877-4FC6-A801-0032D1CDCC95}">
      <dgm:prSet phldrT="[Text]" custT="1"/>
      <dgm:spPr/>
      <dgm:t>
        <a:bodyPr/>
        <a:lstStyle/>
        <a:p>
          <a:r>
            <a:rPr lang="en-US" sz="2800" dirty="0" smtClean="0">
              <a:solidFill>
                <a:schemeClr val="bg1"/>
              </a:solidFill>
              <a:latin typeface="Hobo" panose="020B0604020202020204" charset="0"/>
            </a:rPr>
            <a:t>PythonInterpreterTool</a:t>
          </a:r>
          <a:endParaRPr lang="en-US" sz="2800" dirty="0">
            <a:solidFill>
              <a:schemeClr val="bg1"/>
            </a:solidFill>
          </a:endParaRPr>
        </a:p>
      </dgm:t>
    </dgm:pt>
    <dgm:pt modelId="{4D847E9F-BE21-4C72-A6D7-573983048B2B}" type="parTrans" cxnId="{EC9F5781-DE33-4BF2-9999-E3B5F5E6C6F6}">
      <dgm:prSet/>
      <dgm:spPr/>
      <dgm:t>
        <a:bodyPr/>
        <a:lstStyle/>
        <a:p>
          <a:endParaRPr lang="en-US"/>
        </a:p>
      </dgm:t>
    </dgm:pt>
    <dgm:pt modelId="{51283397-C3A7-4150-983C-8C24EF514A80}" type="sibTrans" cxnId="{EC9F5781-DE33-4BF2-9999-E3B5F5E6C6F6}">
      <dgm:prSet/>
      <dgm:spPr/>
      <dgm:t>
        <a:bodyPr/>
        <a:lstStyle/>
        <a:p>
          <a:endParaRPr lang="en-US"/>
        </a:p>
      </dgm:t>
    </dgm:pt>
    <dgm:pt modelId="{920C2496-0CB6-4A03-927B-6DD2D78C3C0C}">
      <dgm:prSet custT="1"/>
      <dgm:spPr/>
      <dgm:t>
        <a:bodyPr/>
        <a:lstStyle/>
        <a:p>
          <a:r>
            <a:rPr lang="en-US" sz="2800" dirty="0" smtClean="0">
              <a:solidFill>
                <a:schemeClr val="bg1"/>
              </a:solidFill>
              <a:latin typeface="Hobo" panose="020B0604020202020204" charset="0"/>
            </a:rPr>
            <a:t>finalAnswerTool</a:t>
          </a:r>
          <a:endParaRPr lang="en-US" sz="2800" dirty="0">
            <a:solidFill>
              <a:schemeClr val="bg1"/>
            </a:solidFill>
            <a:latin typeface="Hobo" panose="020B0604020202020204" charset="0"/>
          </a:endParaRPr>
        </a:p>
      </dgm:t>
    </dgm:pt>
    <dgm:pt modelId="{71C13F6B-EC4E-4A7D-B743-1A1AC1E54196}" type="parTrans" cxnId="{A646F50F-AF0C-4F98-9F41-82E8E3F9104F}">
      <dgm:prSet/>
      <dgm:spPr/>
      <dgm:t>
        <a:bodyPr/>
        <a:lstStyle/>
        <a:p>
          <a:endParaRPr lang="en-US"/>
        </a:p>
      </dgm:t>
    </dgm:pt>
    <dgm:pt modelId="{D79EF224-0E36-4590-91FC-0474460C7476}" type="sibTrans" cxnId="{A646F50F-AF0C-4F98-9F41-82E8E3F9104F}">
      <dgm:prSet/>
      <dgm:spPr/>
      <dgm:t>
        <a:bodyPr/>
        <a:lstStyle/>
        <a:p>
          <a:endParaRPr lang="en-US"/>
        </a:p>
      </dgm:t>
    </dgm:pt>
    <dgm:pt modelId="{7E09F846-EA22-4709-9D36-447CE94C08A6}">
      <dgm:prSet custT="1"/>
      <dgm:spPr/>
      <dgm:t>
        <a:bodyPr/>
        <a:lstStyle/>
        <a:p>
          <a:r>
            <a:rPr lang="en-US" sz="2800" b="1" i="0" dirty="0" smtClean="0"/>
            <a:t>GoogleSearchTool</a:t>
          </a:r>
          <a:endParaRPr lang="en-US" sz="2800" b="0" i="0" dirty="0"/>
        </a:p>
      </dgm:t>
    </dgm:pt>
    <dgm:pt modelId="{C2A1A9C2-0403-40DC-86E1-7D1904AEF736}" type="parTrans" cxnId="{44A25915-9F56-4DF5-A716-459C072EF40E}">
      <dgm:prSet/>
      <dgm:spPr/>
      <dgm:t>
        <a:bodyPr/>
        <a:lstStyle/>
        <a:p>
          <a:endParaRPr lang="en-US"/>
        </a:p>
      </dgm:t>
    </dgm:pt>
    <dgm:pt modelId="{21426C6A-45F1-4E5A-AB1B-30D706C148A3}" type="sibTrans" cxnId="{44A25915-9F56-4DF5-A716-459C072EF40E}">
      <dgm:prSet/>
      <dgm:spPr/>
      <dgm:t>
        <a:bodyPr/>
        <a:lstStyle/>
        <a:p>
          <a:endParaRPr lang="en-US"/>
        </a:p>
      </dgm:t>
    </dgm:pt>
    <dgm:pt modelId="{3E4B4821-26C4-48AB-8E78-0DB87993BF52}">
      <dgm:prSet custT="1"/>
      <dgm:spPr/>
      <dgm:t>
        <a:bodyPr/>
        <a:lstStyle/>
        <a:p>
          <a:r>
            <a:rPr lang="en-US" sz="2800" b="1" i="0" dirty="0" smtClean="0">
              <a:solidFill>
                <a:schemeClr val="bg1"/>
              </a:solidFill>
            </a:rPr>
            <a:t>VisitWebpageTool</a:t>
          </a:r>
          <a:endParaRPr lang="en-US" sz="2800" b="0" i="0" dirty="0">
            <a:solidFill>
              <a:schemeClr val="bg1"/>
            </a:solidFill>
          </a:endParaRPr>
        </a:p>
      </dgm:t>
    </dgm:pt>
    <dgm:pt modelId="{995DB22E-0C9C-4DAE-ACE9-DDA2C5372F74}" type="parTrans" cxnId="{4D5EE563-EF2A-4220-87B0-F546BAA2DEF4}">
      <dgm:prSet/>
      <dgm:spPr/>
      <dgm:t>
        <a:bodyPr/>
        <a:lstStyle/>
        <a:p>
          <a:endParaRPr lang="en-US"/>
        </a:p>
      </dgm:t>
    </dgm:pt>
    <dgm:pt modelId="{05D56872-9EBB-4384-8488-022FDD05F5BA}" type="sibTrans" cxnId="{4D5EE563-EF2A-4220-87B0-F546BAA2DEF4}">
      <dgm:prSet/>
      <dgm:spPr/>
      <dgm:t>
        <a:bodyPr/>
        <a:lstStyle/>
        <a:p>
          <a:endParaRPr lang="en-US"/>
        </a:p>
      </dgm:t>
    </dgm:pt>
    <dgm:pt modelId="{D161D5E1-CDA2-4A32-ADBC-5002270EF026}" type="pres">
      <dgm:prSet presAssocID="{C151ECE2-E40C-462E-814E-898085E160B7}" presName="cycle" presStyleCnt="0">
        <dgm:presLayoutVars>
          <dgm:chMax val="1"/>
          <dgm:dir/>
          <dgm:animLvl val="ctr"/>
          <dgm:resizeHandles val="exact"/>
        </dgm:presLayoutVars>
      </dgm:prSet>
      <dgm:spPr/>
      <dgm:t>
        <a:bodyPr/>
        <a:lstStyle/>
        <a:p>
          <a:endParaRPr lang="en-US"/>
        </a:p>
      </dgm:t>
    </dgm:pt>
    <dgm:pt modelId="{89B2B5E9-B383-4CB0-8673-0AF1D1C99368}" type="pres">
      <dgm:prSet presAssocID="{294C95DF-F9FF-4A1E-B6DE-B757E7EDF30D}" presName="centerShape" presStyleLbl="node0" presStyleIdx="0" presStyleCnt="1"/>
      <dgm:spPr/>
      <dgm:t>
        <a:bodyPr/>
        <a:lstStyle/>
        <a:p>
          <a:endParaRPr lang="en-US"/>
        </a:p>
      </dgm:t>
    </dgm:pt>
    <dgm:pt modelId="{1F133F0D-30C5-4A8B-899F-C7000C6FB69A}" type="pres">
      <dgm:prSet presAssocID="{3E70169A-1E1B-4124-91F2-6C83BEA6E032}" presName="Name9" presStyleLbl="parChTrans1D2" presStyleIdx="0" presStyleCnt="6"/>
      <dgm:spPr/>
      <dgm:t>
        <a:bodyPr/>
        <a:lstStyle/>
        <a:p>
          <a:endParaRPr lang="en-US"/>
        </a:p>
      </dgm:t>
    </dgm:pt>
    <dgm:pt modelId="{B46C0EB0-1BB8-42F3-8ECF-1955039876F2}" type="pres">
      <dgm:prSet presAssocID="{3E70169A-1E1B-4124-91F2-6C83BEA6E032}" presName="connTx" presStyleLbl="parChTrans1D2" presStyleIdx="0" presStyleCnt="6"/>
      <dgm:spPr/>
      <dgm:t>
        <a:bodyPr/>
        <a:lstStyle/>
        <a:p>
          <a:endParaRPr lang="en-US"/>
        </a:p>
      </dgm:t>
    </dgm:pt>
    <dgm:pt modelId="{2E5D8183-F3FF-4E9D-A2FA-6220AC571A82}" type="pres">
      <dgm:prSet presAssocID="{9B227C3E-94D4-44EA-A318-5FD89CDACAC9}" presName="node" presStyleLbl="node1" presStyleIdx="0" presStyleCnt="6" custScaleX="184541" custRadScaleRad="111523" custRadScaleInc="-4530">
        <dgm:presLayoutVars>
          <dgm:bulletEnabled val="1"/>
        </dgm:presLayoutVars>
      </dgm:prSet>
      <dgm:spPr/>
      <dgm:t>
        <a:bodyPr/>
        <a:lstStyle/>
        <a:p>
          <a:endParaRPr lang="en-US"/>
        </a:p>
      </dgm:t>
    </dgm:pt>
    <dgm:pt modelId="{830304DF-32A7-427C-AA62-962A1B72DC63}" type="pres">
      <dgm:prSet presAssocID="{71C13F6B-EC4E-4A7D-B743-1A1AC1E54196}" presName="Name9" presStyleLbl="parChTrans1D2" presStyleIdx="1" presStyleCnt="6"/>
      <dgm:spPr/>
      <dgm:t>
        <a:bodyPr/>
        <a:lstStyle/>
        <a:p>
          <a:endParaRPr lang="en-US"/>
        </a:p>
      </dgm:t>
    </dgm:pt>
    <dgm:pt modelId="{0ADDE5A8-B429-446E-B2E1-12BC54A6D3BF}" type="pres">
      <dgm:prSet presAssocID="{71C13F6B-EC4E-4A7D-B743-1A1AC1E54196}" presName="connTx" presStyleLbl="parChTrans1D2" presStyleIdx="1" presStyleCnt="6"/>
      <dgm:spPr/>
      <dgm:t>
        <a:bodyPr/>
        <a:lstStyle/>
        <a:p>
          <a:endParaRPr lang="en-US"/>
        </a:p>
      </dgm:t>
    </dgm:pt>
    <dgm:pt modelId="{C8691B6F-765C-46B8-AE2B-4FA39EF805FC}" type="pres">
      <dgm:prSet presAssocID="{920C2496-0CB6-4A03-927B-6DD2D78C3C0C}" presName="node" presStyleLbl="node1" presStyleIdx="1" presStyleCnt="6" custScaleX="180651" custRadScaleRad="158575" custRadScaleInc="39249">
        <dgm:presLayoutVars>
          <dgm:bulletEnabled val="1"/>
        </dgm:presLayoutVars>
      </dgm:prSet>
      <dgm:spPr/>
      <dgm:t>
        <a:bodyPr/>
        <a:lstStyle/>
        <a:p>
          <a:endParaRPr lang="en-US"/>
        </a:p>
      </dgm:t>
    </dgm:pt>
    <dgm:pt modelId="{50E2E09D-A21D-465A-9049-2394A14580EC}" type="pres">
      <dgm:prSet presAssocID="{5B6BDD89-B145-4143-A39A-25FE8995E041}" presName="Name9" presStyleLbl="parChTrans1D2" presStyleIdx="2" presStyleCnt="6"/>
      <dgm:spPr/>
      <dgm:t>
        <a:bodyPr/>
        <a:lstStyle/>
        <a:p>
          <a:endParaRPr lang="en-US"/>
        </a:p>
      </dgm:t>
    </dgm:pt>
    <dgm:pt modelId="{B3940CFA-34A0-4FD4-AAAD-891BD1374E2B}" type="pres">
      <dgm:prSet presAssocID="{5B6BDD89-B145-4143-A39A-25FE8995E041}" presName="connTx" presStyleLbl="parChTrans1D2" presStyleIdx="2" presStyleCnt="6"/>
      <dgm:spPr/>
      <dgm:t>
        <a:bodyPr/>
        <a:lstStyle/>
        <a:p>
          <a:endParaRPr lang="en-US"/>
        </a:p>
      </dgm:t>
    </dgm:pt>
    <dgm:pt modelId="{274DDB65-26B2-4651-9B3B-EE32FEFF31B1}" type="pres">
      <dgm:prSet presAssocID="{93F26A6F-5B67-46EE-A478-A63BC660EE80}" presName="node" presStyleLbl="node1" presStyleIdx="2" presStyleCnt="6" custScaleX="187408" custRadScaleRad="151838" custRadScaleInc="-38029">
        <dgm:presLayoutVars>
          <dgm:bulletEnabled val="1"/>
        </dgm:presLayoutVars>
      </dgm:prSet>
      <dgm:spPr/>
      <dgm:t>
        <a:bodyPr/>
        <a:lstStyle/>
        <a:p>
          <a:endParaRPr lang="en-US"/>
        </a:p>
      </dgm:t>
    </dgm:pt>
    <dgm:pt modelId="{DF361DD7-B5C8-43A4-B937-1896A414D255}" type="pres">
      <dgm:prSet presAssocID="{4D847E9F-BE21-4C72-A6D7-573983048B2B}" presName="Name9" presStyleLbl="parChTrans1D2" presStyleIdx="3" presStyleCnt="6"/>
      <dgm:spPr/>
      <dgm:t>
        <a:bodyPr/>
        <a:lstStyle/>
        <a:p>
          <a:endParaRPr lang="en-US"/>
        </a:p>
      </dgm:t>
    </dgm:pt>
    <dgm:pt modelId="{AD788278-9973-47F4-9F6B-EAB2E5D19B01}" type="pres">
      <dgm:prSet presAssocID="{4D847E9F-BE21-4C72-A6D7-573983048B2B}" presName="connTx" presStyleLbl="parChTrans1D2" presStyleIdx="3" presStyleCnt="6"/>
      <dgm:spPr/>
      <dgm:t>
        <a:bodyPr/>
        <a:lstStyle/>
        <a:p>
          <a:endParaRPr lang="en-US"/>
        </a:p>
      </dgm:t>
    </dgm:pt>
    <dgm:pt modelId="{25A00760-A05A-4ACE-AE24-FBFFB4D01C7E}" type="pres">
      <dgm:prSet presAssocID="{A3A1AF7B-D877-4FC6-A801-0032D1CDCC95}" presName="node" presStyleLbl="node1" presStyleIdx="3" presStyleCnt="6" custScaleX="223262" custRadScaleRad="92933" custRadScaleInc="8003">
        <dgm:presLayoutVars>
          <dgm:bulletEnabled val="1"/>
        </dgm:presLayoutVars>
      </dgm:prSet>
      <dgm:spPr/>
      <dgm:t>
        <a:bodyPr/>
        <a:lstStyle/>
        <a:p>
          <a:endParaRPr lang="en-US"/>
        </a:p>
      </dgm:t>
    </dgm:pt>
    <dgm:pt modelId="{18FD700E-A95C-4A9C-B5CC-FE1BF4CFCF37}" type="pres">
      <dgm:prSet presAssocID="{995DB22E-0C9C-4DAE-ACE9-DDA2C5372F74}" presName="Name9" presStyleLbl="parChTrans1D2" presStyleIdx="4" presStyleCnt="6"/>
      <dgm:spPr/>
      <dgm:t>
        <a:bodyPr/>
        <a:lstStyle/>
        <a:p>
          <a:endParaRPr lang="en-US"/>
        </a:p>
      </dgm:t>
    </dgm:pt>
    <dgm:pt modelId="{0C711998-10A3-4691-A1B6-0505BAC53535}" type="pres">
      <dgm:prSet presAssocID="{995DB22E-0C9C-4DAE-ACE9-DDA2C5372F74}" presName="connTx" presStyleLbl="parChTrans1D2" presStyleIdx="4" presStyleCnt="6"/>
      <dgm:spPr/>
      <dgm:t>
        <a:bodyPr/>
        <a:lstStyle/>
        <a:p>
          <a:endParaRPr lang="en-US"/>
        </a:p>
      </dgm:t>
    </dgm:pt>
    <dgm:pt modelId="{F10FA942-F1AC-43E1-ABD3-3C9D0D558589}" type="pres">
      <dgm:prSet presAssocID="{3E4B4821-26C4-48AB-8E78-0DB87993BF52}" presName="node" presStyleLbl="node1" presStyleIdx="4" presStyleCnt="6" custScaleX="184115" custRadScaleRad="147811" custRadScaleInc="50220">
        <dgm:presLayoutVars>
          <dgm:bulletEnabled val="1"/>
        </dgm:presLayoutVars>
      </dgm:prSet>
      <dgm:spPr/>
      <dgm:t>
        <a:bodyPr/>
        <a:lstStyle/>
        <a:p>
          <a:endParaRPr lang="en-US"/>
        </a:p>
      </dgm:t>
    </dgm:pt>
    <dgm:pt modelId="{8C7CF913-F6F8-4AB2-B0FD-479DB633EC3A}" type="pres">
      <dgm:prSet presAssocID="{C2A1A9C2-0403-40DC-86E1-7D1904AEF736}" presName="Name9" presStyleLbl="parChTrans1D2" presStyleIdx="5" presStyleCnt="6"/>
      <dgm:spPr/>
      <dgm:t>
        <a:bodyPr/>
        <a:lstStyle/>
        <a:p>
          <a:endParaRPr lang="en-US"/>
        </a:p>
      </dgm:t>
    </dgm:pt>
    <dgm:pt modelId="{D9BA0F63-FB93-44A8-B060-9C1AC194BB2D}" type="pres">
      <dgm:prSet presAssocID="{C2A1A9C2-0403-40DC-86E1-7D1904AEF736}" presName="connTx" presStyleLbl="parChTrans1D2" presStyleIdx="5" presStyleCnt="6"/>
      <dgm:spPr/>
      <dgm:t>
        <a:bodyPr/>
        <a:lstStyle/>
        <a:p>
          <a:endParaRPr lang="en-US"/>
        </a:p>
      </dgm:t>
    </dgm:pt>
    <dgm:pt modelId="{5D8D424D-5A56-4185-B48D-6FFE5D4F3270}" type="pres">
      <dgm:prSet presAssocID="{7E09F846-EA22-4709-9D36-447CE94C08A6}" presName="node" presStyleLbl="node1" presStyleIdx="5" presStyleCnt="6" custScaleX="167309" custRadScaleRad="150152" custRadScaleInc="-32223">
        <dgm:presLayoutVars>
          <dgm:bulletEnabled val="1"/>
        </dgm:presLayoutVars>
      </dgm:prSet>
      <dgm:spPr/>
      <dgm:t>
        <a:bodyPr/>
        <a:lstStyle/>
        <a:p>
          <a:endParaRPr lang="en-US"/>
        </a:p>
      </dgm:t>
    </dgm:pt>
  </dgm:ptLst>
  <dgm:cxnLst>
    <dgm:cxn modelId="{EC9F5781-DE33-4BF2-9999-E3B5F5E6C6F6}" srcId="{294C95DF-F9FF-4A1E-B6DE-B757E7EDF30D}" destId="{A3A1AF7B-D877-4FC6-A801-0032D1CDCC95}" srcOrd="3" destOrd="0" parTransId="{4D847E9F-BE21-4C72-A6D7-573983048B2B}" sibTransId="{51283397-C3A7-4150-983C-8C24EF514A80}"/>
    <dgm:cxn modelId="{75D002AF-D63C-4DFF-99CE-F5F5A03201FF}" type="presOf" srcId="{5B6BDD89-B145-4143-A39A-25FE8995E041}" destId="{B3940CFA-34A0-4FD4-AAAD-891BD1374E2B}" srcOrd="1" destOrd="0" presId="urn:microsoft.com/office/officeart/2005/8/layout/radial1"/>
    <dgm:cxn modelId="{81C4F094-F296-4642-99DC-C5A759C8BC70}" type="presOf" srcId="{4D847E9F-BE21-4C72-A6D7-573983048B2B}" destId="{AD788278-9973-47F4-9F6B-EAB2E5D19B01}" srcOrd="1" destOrd="0" presId="urn:microsoft.com/office/officeart/2005/8/layout/radial1"/>
    <dgm:cxn modelId="{CBFA7D48-061D-42A5-8105-5116DB49EEB3}" srcId="{294C95DF-F9FF-4A1E-B6DE-B757E7EDF30D}" destId="{9B227C3E-94D4-44EA-A318-5FD89CDACAC9}" srcOrd="0" destOrd="0" parTransId="{3E70169A-1E1B-4124-91F2-6C83BEA6E032}" sibTransId="{85B7DE49-E093-46E3-AAF0-6A6D67648E02}"/>
    <dgm:cxn modelId="{652BFE44-682A-4746-B988-7D93485E1D5A}" type="presOf" srcId="{71C13F6B-EC4E-4A7D-B743-1A1AC1E54196}" destId="{830304DF-32A7-427C-AA62-962A1B72DC63}" srcOrd="0" destOrd="0" presId="urn:microsoft.com/office/officeart/2005/8/layout/radial1"/>
    <dgm:cxn modelId="{EC94311D-7F17-48B1-9E4D-3115425549F2}" type="presOf" srcId="{7E09F846-EA22-4709-9D36-447CE94C08A6}" destId="{5D8D424D-5A56-4185-B48D-6FFE5D4F3270}" srcOrd="0" destOrd="0" presId="urn:microsoft.com/office/officeart/2005/8/layout/radial1"/>
    <dgm:cxn modelId="{43B4EF4B-1B01-48B6-AD5C-12BD8CC1F9B3}" type="presOf" srcId="{C2A1A9C2-0403-40DC-86E1-7D1904AEF736}" destId="{8C7CF913-F6F8-4AB2-B0FD-479DB633EC3A}" srcOrd="0" destOrd="0" presId="urn:microsoft.com/office/officeart/2005/8/layout/radial1"/>
    <dgm:cxn modelId="{A646F50F-AF0C-4F98-9F41-82E8E3F9104F}" srcId="{294C95DF-F9FF-4A1E-B6DE-B757E7EDF30D}" destId="{920C2496-0CB6-4A03-927B-6DD2D78C3C0C}" srcOrd="1" destOrd="0" parTransId="{71C13F6B-EC4E-4A7D-B743-1A1AC1E54196}" sibTransId="{D79EF224-0E36-4590-91FC-0474460C7476}"/>
    <dgm:cxn modelId="{B3A97A48-8E3E-40BF-9D90-6A97FA0E84F8}" type="presOf" srcId="{5B6BDD89-B145-4143-A39A-25FE8995E041}" destId="{50E2E09D-A21D-465A-9049-2394A14580EC}" srcOrd="0" destOrd="0" presId="urn:microsoft.com/office/officeart/2005/8/layout/radial1"/>
    <dgm:cxn modelId="{D5060001-7F09-43A8-94A7-4B0EDB59CE59}" srcId="{C151ECE2-E40C-462E-814E-898085E160B7}" destId="{294C95DF-F9FF-4A1E-B6DE-B757E7EDF30D}" srcOrd="0" destOrd="0" parTransId="{04937489-333A-443B-9D1F-3361AD24BA2A}" sibTransId="{241D9AD2-A2AE-463C-BF13-07CC8C1295AB}"/>
    <dgm:cxn modelId="{2909DD27-A9D8-4E41-B0F4-44A9FF5F1C49}" type="presOf" srcId="{4D847E9F-BE21-4C72-A6D7-573983048B2B}" destId="{DF361DD7-B5C8-43A4-B937-1896A414D255}" srcOrd="0" destOrd="0" presId="urn:microsoft.com/office/officeart/2005/8/layout/radial1"/>
    <dgm:cxn modelId="{DCC9969D-4DE9-4F0F-BEF1-A4C85FF8D693}" type="presOf" srcId="{3E70169A-1E1B-4124-91F2-6C83BEA6E032}" destId="{B46C0EB0-1BB8-42F3-8ECF-1955039876F2}" srcOrd="1" destOrd="0" presId="urn:microsoft.com/office/officeart/2005/8/layout/radial1"/>
    <dgm:cxn modelId="{56749426-DAED-4697-BCEB-BC7AE94CBEAB}" type="presOf" srcId="{995DB22E-0C9C-4DAE-ACE9-DDA2C5372F74}" destId="{18FD700E-A95C-4A9C-B5CC-FE1BF4CFCF37}" srcOrd="0" destOrd="0" presId="urn:microsoft.com/office/officeart/2005/8/layout/radial1"/>
    <dgm:cxn modelId="{44A25915-9F56-4DF5-A716-459C072EF40E}" srcId="{294C95DF-F9FF-4A1E-B6DE-B757E7EDF30D}" destId="{7E09F846-EA22-4709-9D36-447CE94C08A6}" srcOrd="5" destOrd="0" parTransId="{C2A1A9C2-0403-40DC-86E1-7D1904AEF736}" sibTransId="{21426C6A-45F1-4E5A-AB1B-30D706C148A3}"/>
    <dgm:cxn modelId="{21088081-A282-4E0D-A881-C1486C6A8D50}" type="presOf" srcId="{995DB22E-0C9C-4DAE-ACE9-DDA2C5372F74}" destId="{0C711998-10A3-4691-A1B6-0505BAC53535}" srcOrd="1" destOrd="0" presId="urn:microsoft.com/office/officeart/2005/8/layout/radial1"/>
    <dgm:cxn modelId="{6BC308E1-F627-43CA-8047-8198EBFFFC8A}" type="presOf" srcId="{A3A1AF7B-D877-4FC6-A801-0032D1CDCC95}" destId="{25A00760-A05A-4ACE-AE24-FBFFB4D01C7E}" srcOrd="0" destOrd="0" presId="urn:microsoft.com/office/officeart/2005/8/layout/radial1"/>
    <dgm:cxn modelId="{8C29D90C-5526-4726-BECB-DBFA4B11DC19}" type="presOf" srcId="{C2A1A9C2-0403-40DC-86E1-7D1904AEF736}" destId="{D9BA0F63-FB93-44A8-B060-9C1AC194BB2D}" srcOrd="1" destOrd="0" presId="urn:microsoft.com/office/officeart/2005/8/layout/radial1"/>
    <dgm:cxn modelId="{612027B3-DE0A-442A-B737-3C7885B68ED6}" type="presOf" srcId="{71C13F6B-EC4E-4A7D-B743-1A1AC1E54196}" destId="{0ADDE5A8-B429-446E-B2E1-12BC54A6D3BF}" srcOrd="1" destOrd="0" presId="urn:microsoft.com/office/officeart/2005/8/layout/radial1"/>
    <dgm:cxn modelId="{4169D249-530B-497C-A0FE-B03ABD0B8162}" type="presOf" srcId="{C151ECE2-E40C-462E-814E-898085E160B7}" destId="{D161D5E1-CDA2-4A32-ADBC-5002270EF026}" srcOrd="0" destOrd="0" presId="urn:microsoft.com/office/officeart/2005/8/layout/radial1"/>
    <dgm:cxn modelId="{B0DCD3CE-ACF9-4E1A-99D7-67445A8B84C3}" srcId="{294C95DF-F9FF-4A1E-B6DE-B757E7EDF30D}" destId="{93F26A6F-5B67-46EE-A478-A63BC660EE80}" srcOrd="2" destOrd="0" parTransId="{5B6BDD89-B145-4143-A39A-25FE8995E041}" sibTransId="{0E492158-0DC3-4A2C-B016-BC8B73635E85}"/>
    <dgm:cxn modelId="{4994E6B9-6EE0-4329-8454-4CDBFE2485DD}" type="presOf" srcId="{9B227C3E-94D4-44EA-A318-5FD89CDACAC9}" destId="{2E5D8183-F3FF-4E9D-A2FA-6220AC571A82}" srcOrd="0" destOrd="0" presId="urn:microsoft.com/office/officeart/2005/8/layout/radial1"/>
    <dgm:cxn modelId="{FA9261C3-700B-456B-B836-060A95C85FC1}" type="presOf" srcId="{93F26A6F-5B67-46EE-A478-A63BC660EE80}" destId="{274DDB65-26B2-4651-9B3B-EE32FEFF31B1}" srcOrd="0" destOrd="0" presId="urn:microsoft.com/office/officeart/2005/8/layout/radial1"/>
    <dgm:cxn modelId="{97FF43E3-8A61-4625-A81E-8D0FB485CE3D}" type="presOf" srcId="{294C95DF-F9FF-4A1E-B6DE-B757E7EDF30D}" destId="{89B2B5E9-B383-4CB0-8673-0AF1D1C99368}" srcOrd="0" destOrd="0" presId="urn:microsoft.com/office/officeart/2005/8/layout/radial1"/>
    <dgm:cxn modelId="{615A704A-96B2-467A-9D77-FFDB838C188D}" type="presOf" srcId="{3E70169A-1E1B-4124-91F2-6C83BEA6E032}" destId="{1F133F0D-30C5-4A8B-899F-C7000C6FB69A}" srcOrd="0" destOrd="0" presId="urn:microsoft.com/office/officeart/2005/8/layout/radial1"/>
    <dgm:cxn modelId="{269BA639-8672-40C5-B64F-29DD29FD8637}" type="presOf" srcId="{3E4B4821-26C4-48AB-8E78-0DB87993BF52}" destId="{F10FA942-F1AC-43E1-ABD3-3C9D0D558589}" srcOrd="0" destOrd="0" presId="urn:microsoft.com/office/officeart/2005/8/layout/radial1"/>
    <dgm:cxn modelId="{4D5EE563-EF2A-4220-87B0-F546BAA2DEF4}" srcId="{294C95DF-F9FF-4A1E-B6DE-B757E7EDF30D}" destId="{3E4B4821-26C4-48AB-8E78-0DB87993BF52}" srcOrd="4" destOrd="0" parTransId="{995DB22E-0C9C-4DAE-ACE9-DDA2C5372F74}" sibTransId="{05D56872-9EBB-4384-8488-022FDD05F5BA}"/>
    <dgm:cxn modelId="{82E461AB-3D4E-41E8-AB2E-3379103A6A95}" type="presOf" srcId="{920C2496-0CB6-4A03-927B-6DD2D78C3C0C}" destId="{C8691B6F-765C-46B8-AE2B-4FA39EF805FC}" srcOrd="0" destOrd="0" presId="urn:microsoft.com/office/officeart/2005/8/layout/radial1"/>
    <dgm:cxn modelId="{3D97A98F-5392-4641-9C6A-F3B83E190225}" type="presParOf" srcId="{D161D5E1-CDA2-4A32-ADBC-5002270EF026}" destId="{89B2B5E9-B383-4CB0-8673-0AF1D1C99368}" srcOrd="0" destOrd="0" presId="urn:microsoft.com/office/officeart/2005/8/layout/radial1"/>
    <dgm:cxn modelId="{AEF078D6-B441-42F2-89ED-FE98E6427C13}" type="presParOf" srcId="{D161D5E1-CDA2-4A32-ADBC-5002270EF026}" destId="{1F133F0D-30C5-4A8B-899F-C7000C6FB69A}" srcOrd="1" destOrd="0" presId="urn:microsoft.com/office/officeart/2005/8/layout/radial1"/>
    <dgm:cxn modelId="{99F4A2AD-3105-4082-A2DC-D8115FF8A45B}" type="presParOf" srcId="{1F133F0D-30C5-4A8B-899F-C7000C6FB69A}" destId="{B46C0EB0-1BB8-42F3-8ECF-1955039876F2}" srcOrd="0" destOrd="0" presId="urn:microsoft.com/office/officeart/2005/8/layout/radial1"/>
    <dgm:cxn modelId="{C583A530-F892-4F4D-8E81-9BAECE0D3821}" type="presParOf" srcId="{D161D5E1-CDA2-4A32-ADBC-5002270EF026}" destId="{2E5D8183-F3FF-4E9D-A2FA-6220AC571A82}" srcOrd="2" destOrd="0" presId="urn:microsoft.com/office/officeart/2005/8/layout/radial1"/>
    <dgm:cxn modelId="{907233DC-CD83-4C6F-BA28-03B38524DFD2}" type="presParOf" srcId="{D161D5E1-CDA2-4A32-ADBC-5002270EF026}" destId="{830304DF-32A7-427C-AA62-962A1B72DC63}" srcOrd="3" destOrd="0" presId="urn:microsoft.com/office/officeart/2005/8/layout/radial1"/>
    <dgm:cxn modelId="{5A4D6E0B-5674-47E8-9BF5-54703744A5D2}" type="presParOf" srcId="{830304DF-32A7-427C-AA62-962A1B72DC63}" destId="{0ADDE5A8-B429-446E-B2E1-12BC54A6D3BF}" srcOrd="0" destOrd="0" presId="urn:microsoft.com/office/officeart/2005/8/layout/radial1"/>
    <dgm:cxn modelId="{B3D9837D-CAF2-430C-9FFC-E1935E0AF70C}" type="presParOf" srcId="{D161D5E1-CDA2-4A32-ADBC-5002270EF026}" destId="{C8691B6F-765C-46B8-AE2B-4FA39EF805FC}" srcOrd="4" destOrd="0" presId="urn:microsoft.com/office/officeart/2005/8/layout/radial1"/>
    <dgm:cxn modelId="{6F5AD2F6-6331-4604-BE31-27D9414D2D91}" type="presParOf" srcId="{D161D5E1-CDA2-4A32-ADBC-5002270EF026}" destId="{50E2E09D-A21D-465A-9049-2394A14580EC}" srcOrd="5" destOrd="0" presId="urn:microsoft.com/office/officeart/2005/8/layout/radial1"/>
    <dgm:cxn modelId="{02DCAA52-F1EC-438B-B021-9E101700B1EA}" type="presParOf" srcId="{50E2E09D-A21D-465A-9049-2394A14580EC}" destId="{B3940CFA-34A0-4FD4-AAAD-891BD1374E2B}" srcOrd="0" destOrd="0" presId="urn:microsoft.com/office/officeart/2005/8/layout/radial1"/>
    <dgm:cxn modelId="{BF28D6F9-655F-4FA7-AEA4-85484D6092B8}" type="presParOf" srcId="{D161D5E1-CDA2-4A32-ADBC-5002270EF026}" destId="{274DDB65-26B2-4651-9B3B-EE32FEFF31B1}" srcOrd="6" destOrd="0" presId="urn:microsoft.com/office/officeart/2005/8/layout/radial1"/>
    <dgm:cxn modelId="{82CF9497-87CC-47F5-85CB-A45B5896576C}" type="presParOf" srcId="{D161D5E1-CDA2-4A32-ADBC-5002270EF026}" destId="{DF361DD7-B5C8-43A4-B937-1896A414D255}" srcOrd="7" destOrd="0" presId="urn:microsoft.com/office/officeart/2005/8/layout/radial1"/>
    <dgm:cxn modelId="{517435CF-9199-47AC-B495-CDA648CE7BBE}" type="presParOf" srcId="{DF361DD7-B5C8-43A4-B937-1896A414D255}" destId="{AD788278-9973-47F4-9F6B-EAB2E5D19B01}" srcOrd="0" destOrd="0" presId="urn:microsoft.com/office/officeart/2005/8/layout/radial1"/>
    <dgm:cxn modelId="{B0C92C56-F7A7-4946-A2BB-EAF278426721}" type="presParOf" srcId="{D161D5E1-CDA2-4A32-ADBC-5002270EF026}" destId="{25A00760-A05A-4ACE-AE24-FBFFB4D01C7E}" srcOrd="8" destOrd="0" presId="urn:microsoft.com/office/officeart/2005/8/layout/radial1"/>
    <dgm:cxn modelId="{989A8166-63C6-4A8E-852A-30AC7A225F8A}" type="presParOf" srcId="{D161D5E1-CDA2-4A32-ADBC-5002270EF026}" destId="{18FD700E-A95C-4A9C-B5CC-FE1BF4CFCF37}" srcOrd="9" destOrd="0" presId="urn:microsoft.com/office/officeart/2005/8/layout/radial1"/>
    <dgm:cxn modelId="{91D6456B-7D7D-4459-ACD2-ADBF372C528F}" type="presParOf" srcId="{18FD700E-A95C-4A9C-B5CC-FE1BF4CFCF37}" destId="{0C711998-10A3-4691-A1B6-0505BAC53535}" srcOrd="0" destOrd="0" presId="urn:microsoft.com/office/officeart/2005/8/layout/radial1"/>
    <dgm:cxn modelId="{3616FA49-F0B3-4E02-994E-2FCDDA7018D5}" type="presParOf" srcId="{D161D5E1-CDA2-4A32-ADBC-5002270EF026}" destId="{F10FA942-F1AC-43E1-ABD3-3C9D0D558589}" srcOrd="10" destOrd="0" presId="urn:microsoft.com/office/officeart/2005/8/layout/radial1"/>
    <dgm:cxn modelId="{E3FD20B7-21BE-4C2F-9081-5E04A4EB6E8A}" type="presParOf" srcId="{D161D5E1-CDA2-4A32-ADBC-5002270EF026}" destId="{8C7CF913-F6F8-4AB2-B0FD-479DB633EC3A}" srcOrd="11" destOrd="0" presId="urn:microsoft.com/office/officeart/2005/8/layout/radial1"/>
    <dgm:cxn modelId="{B4E6C2D9-61C4-4109-B0CF-4341004042CD}" type="presParOf" srcId="{8C7CF913-F6F8-4AB2-B0FD-479DB633EC3A}" destId="{D9BA0F63-FB93-44A8-B060-9C1AC194BB2D}" srcOrd="0" destOrd="0" presId="urn:microsoft.com/office/officeart/2005/8/layout/radial1"/>
    <dgm:cxn modelId="{58D52A12-A187-4C08-A879-F31A51EA7364}" type="presParOf" srcId="{D161D5E1-CDA2-4A32-ADBC-5002270EF026}" destId="{5D8D424D-5A56-4185-B48D-6FFE5D4F3270}" srcOrd="12" destOrd="0" presId="urn:microsoft.com/office/officeart/2005/8/layout/radial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B2B5E9-B383-4CB0-8673-0AF1D1C99368}">
      <dsp:nvSpPr>
        <dsp:cNvPr id="0" name=""/>
        <dsp:cNvSpPr/>
      </dsp:nvSpPr>
      <dsp:spPr>
        <a:xfrm>
          <a:off x="7037819" y="2989331"/>
          <a:ext cx="2269986" cy="226998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1600200">
            <a:lnSpc>
              <a:spcPct val="90000"/>
            </a:lnSpc>
            <a:spcBef>
              <a:spcPct val="0"/>
            </a:spcBef>
            <a:spcAft>
              <a:spcPct val="35000"/>
            </a:spcAft>
          </a:pPr>
          <a:r>
            <a:rPr lang="en-US" sz="3600" kern="1200" dirty="0" smtClean="0">
              <a:solidFill>
                <a:srgbClr val="022C5E"/>
              </a:solidFill>
              <a:latin typeface="Hobo"/>
              <a:ea typeface="Hobo"/>
              <a:cs typeface="Hobo"/>
              <a:sym typeface="Hobo"/>
            </a:rPr>
            <a:t>Default Toolbox</a:t>
          </a:r>
          <a:endParaRPr lang="en-US" sz="3600" kern="1200" dirty="0"/>
        </a:p>
      </dsp:txBody>
      <dsp:txXfrm>
        <a:off x="7370251" y="3321763"/>
        <a:ext cx="1605122" cy="1605122"/>
      </dsp:txXfrm>
    </dsp:sp>
    <dsp:sp modelId="{1F133F0D-30C5-4A8B-899F-C7000C6FB69A}">
      <dsp:nvSpPr>
        <dsp:cNvPr id="0" name=""/>
        <dsp:cNvSpPr/>
      </dsp:nvSpPr>
      <dsp:spPr>
        <a:xfrm rot="16110150">
          <a:off x="7773695" y="2617325"/>
          <a:ext cx="720092" cy="24940"/>
        </a:xfrm>
        <a:custGeom>
          <a:avLst/>
          <a:gdLst/>
          <a:ahLst/>
          <a:cxnLst/>
          <a:rect l="0" t="0" r="0" b="0"/>
          <a:pathLst>
            <a:path>
              <a:moveTo>
                <a:pt x="0" y="12470"/>
              </a:moveTo>
              <a:lnTo>
                <a:pt x="720092" y="1247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rot="10800000">
        <a:off x="8115739" y="2611793"/>
        <a:ext cx="36004" cy="36004"/>
      </dsp:txXfrm>
    </dsp:sp>
    <dsp:sp modelId="{2E5D8183-F3FF-4E9D-A2FA-6220AC571A82}">
      <dsp:nvSpPr>
        <dsp:cNvPr id="0" name=""/>
        <dsp:cNvSpPr/>
      </dsp:nvSpPr>
      <dsp:spPr>
        <a:xfrm>
          <a:off x="6000136" y="0"/>
          <a:ext cx="4189055" cy="226998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kern="1200" dirty="0" smtClean="0">
              <a:solidFill>
                <a:schemeClr val="bg1"/>
              </a:solidFill>
              <a:latin typeface="Hobo" panose="020B0604020202020204" charset="0"/>
            </a:rPr>
            <a:t>UserInputTool</a:t>
          </a:r>
          <a:endParaRPr lang="en-US" sz="2800" kern="1200" dirty="0">
            <a:solidFill>
              <a:schemeClr val="bg1"/>
            </a:solidFill>
          </a:endParaRPr>
        </a:p>
      </dsp:txBody>
      <dsp:txXfrm>
        <a:off x="6613609" y="332432"/>
        <a:ext cx="2962109" cy="1605122"/>
      </dsp:txXfrm>
    </dsp:sp>
    <dsp:sp modelId="{830304DF-32A7-427C-AA62-962A1B72DC63}">
      <dsp:nvSpPr>
        <dsp:cNvPr id="0" name=""/>
        <dsp:cNvSpPr/>
      </dsp:nvSpPr>
      <dsp:spPr>
        <a:xfrm rot="20506482">
          <a:off x="9208352" y="3491822"/>
          <a:ext cx="1694990" cy="24940"/>
        </a:xfrm>
        <a:custGeom>
          <a:avLst/>
          <a:gdLst/>
          <a:ahLst/>
          <a:cxnLst/>
          <a:rect l="0" t="0" r="0" b="0"/>
          <a:pathLst>
            <a:path>
              <a:moveTo>
                <a:pt x="0" y="12470"/>
              </a:moveTo>
              <a:lnTo>
                <a:pt x="1694990" y="1247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66700">
            <a:lnSpc>
              <a:spcPct val="90000"/>
            </a:lnSpc>
            <a:spcBef>
              <a:spcPct val="0"/>
            </a:spcBef>
            <a:spcAft>
              <a:spcPct val="35000"/>
            </a:spcAft>
          </a:pPr>
          <a:endParaRPr lang="en-US" sz="600" kern="1200"/>
        </a:p>
      </dsp:txBody>
      <dsp:txXfrm>
        <a:off x="10013472" y="3461918"/>
        <a:ext cx="84749" cy="84749"/>
      </dsp:txXfrm>
    </dsp:sp>
    <dsp:sp modelId="{C8691B6F-765C-46B8-AE2B-4FA39EF805FC}">
      <dsp:nvSpPr>
        <dsp:cNvPr id="0" name=""/>
        <dsp:cNvSpPr/>
      </dsp:nvSpPr>
      <dsp:spPr>
        <a:xfrm>
          <a:off x="10572637" y="1524002"/>
          <a:ext cx="4100753" cy="226998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kern="1200" dirty="0" smtClean="0">
              <a:solidFill>
                <a:schemeClr val="bg1"/>
              </a:solidFill>
              <a:latin typeface="Hobo" panose="020B0604020202020204" charset="0"/>
            </a:rPr>
            <a:t>finalAnswerTool</a:t>
          </a:r>
          <a:endParaRPr lang="en-US" sz="2800" kern="1200" dirty="0">
            <a:solidFill>
              <a:schemeClr val="bg1"/>
            </a:solidFill>
            <a:latin typeface="Hobo" panose="020B0604020202020204" charset="0"/>
          </a:endParaRPr>
        </a:p>
      </dsp:txBody>
      <dsp:txXfrm>
        <a:off x="11173178" y="1856434"/>
        <a:ext cx="2899671" cy="1605122"/>
      </dsp:txXfrm>
    </dsp:sp>
    <dsp:sp modelId="{50E2E09D-A21D-465A-9049-2394A14580EC}">
      <dsp:nvSpPr>
        <dsp:cNvPr id="0" name=""/>
        <dsp:cNvSpPr/>
      </dsp:nvSpPr>
      <dsp:spPr>
        <a:xfrm rot="1115478">
          <a:off x="9210673" y="4705286"/>
          <a:ext cx="1452745" cy="24940"/>
        </a:xfrm>
        <a:custGeom>
          <a:avLst/>
          <a:gdLst/>
          <a:ahLst/>
          <a:cxnLst/>
          <a:rect l="0" t="0" r="0" b="0"/>
          <a:pathLst>
            <a:path>
              <a:moveTo>
                <a:pt x="0" y="12470"/>
              </a:moveTo>
              <a:lnTo>
                <a:pt x="1452745" y="1247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9900727" y="4681438"/>
        <a:ext cx="72637" cy="72637"/>
      </dsp:txXfrm>
    </dsp:sp>
    <dsp:sp modelId="{274DDB65-26B2-4651-9B3B-EE32FEFF31B1}">
      <dsp:nvSpPr>
        <dsp:cNvPr id="0" name=""/>
        <dsp:cNvSpPr/>
      </dsp:nvSpPr>
      <dsp:spPr>
        <a:xfrm>
          <a:off x="10297831" y="4419598"/>
          <a:ext cx="4254136" cy="226998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b="1" i="0" kern="1200" dirty="0" smtClean="0">
              <a:solidFill>
                <a:schemeClr val="bg1"/>
              </a:solidFill>
            </a:rPr>
            <a:t>DuckDuckGoSearchTool</a:t>
          </a:r>
          <a:endParaRPr lang="en-US" sz="2800" kern="1200" dirty="0">
            <a:solidFill>
              <a:schemeClr val="bg1"/>
            </a:solidFill>
          </a:endParaRPr>
        </a:p>
      </dsp:txBody>
      <dsp:txXfrm>
        <a:off x="10920835" y="4752030"/>
        <a:ext cx="3008128" cy="1605122"/>
      </dsp:txXfrm>
    </dsp:sp>
    <dsp:sp modelId="{DF361DD7-B5C8-43A4-B937-1896A414D255}">
      <dsp:nvSpPr>
        <dsp:cNvPr id="0" name=""/>
        <dsp:cNvSpPr/>
      </dsp:nvSpPr>
      <dsp:spPr>
        <a:xfrm rot="5544054">
          <a:off x="7877813" y="5483146"/>
          <a:ext cx="475005" cy="24940"/>
        </a:xfrm>
        <a:custGeom>
          <a:avLst/>
          <a:gdLst/>
          <a:ahLst/>
          <a:cxnLst/>
          <a:rect l="0" t="0" r="0" b="0"/>
          <a:pathLst>
            <a:path>
              <a:moveTo>
                <a:pt x="0" y="12470"/>
              </a:moveTo>
              <a:lnTo>
                <a:pt x="475005" y="1247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rot="10800000">
        <a:off x="8103441" y="5483741"/>
        <a:ext cx="23750" cy="23750"/>
      </dsp:txXfrm>
    </dsp:sp>
    <dsp:sp modelId="{25A00760-A05A-4ACE-AE24-FBFFB4D01C7E}">
      <dsp:nvSpPr>
        <dsp:cNvPr id="0" name=""/>
        <dsp:cNvSpPr/>
      </dsp:nvSpPr>
      <dsp:spPr>
        <a:xfrm>
          <a:off x="5523778" y="5732710"/>
          <a:ext cx="5068017" cy="226998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kern="1200" dirty="0" smtClean="0">
              <a:solidFill>
                <a:schemeClr val="bg1"/>
              </a:solidFill>
              <a:latin typeface="Hobo" panose="020B0604020202020204" charset="0"/>
            </a:rPr>
            <a:t>PythonInterpreterTool</a:t>
          </a:r>
          <a:endParaRPr lang="en-US" sz="2800" kern="1200" dirty="0">
            <a:solidFill>
              <a:schemeClr val="bg1"/>
            </a:solidFill>
          </a:endParaRPr>
        </a:p>
      </dsp:txBody>
      <dsp:txXfrm>
        <a:off x="6265972" y="6065142"/>
        <a:ext cx="3583629" cy="1605122"/>
      </dsp:txXfrm>
    </dsp:sp>
    <dsp:sp modelId="{18FD700E-A95C-4A9C-B5CC-FE1BF4CFCF37}">
      <dsp:nvSpPr>
        <dsp:cNvPr id="0" name=""/>
        <dsp:cNvSpPr/>
      </dsp:nvSpPr>
      <dsp:spPr>
        <a:xfrm rot="9903960">
          <a:off x="5807047" y="4570687"/>
          <a:ext cx="1290909" cy="24940"/>
        </a:xfrm>
        <a:custGeom>
          <a:avLst/>
          <a:gdLst/>
          <a:ahLst/>
          <a:cxnLst/>
          <a:rect l="0" t="0" r="0" b="0"/>
          <a:pathLst>
            <a:path>
              <a:moveTo>
                <a:pt x="0" y="12470"/>
              </a:moveTo>
              <a:lnTo>
                <a:pt x="1290909" y="1247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rot="10800000">
        <a:off x="6420229" y="4550884"/>
        <a:ext cx="64545" cy="64545"/>
      </dsp:txXfrm>
    </dsp:sp>
    <dsp:sp modelId="{F10FA942-F1AC-43E1-ABD3-3C9D0D558589}">
      <dsp:nvSpPr>
        <dsp:cNvPr id="0" name=""/>
        <dsp:cNvSpPr/>
      </dsp:nvSpPr>
      <dsp:spPr>
        <a:xfrm>
          <a:off x="1863419" y="4114788"/>
          <a:ext cx="4179385" cy="226998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b="1" i="0" kern="1200" dirty="0" smtClean="0">
              <a:solidFill>
                <a:schemeClr val="bg1"/>
              </a:solidFill>
            </a:rPr>
            <a:t>VisitWebpageTool</a:t>
          </a:r>
          <a:endParaRPr lang="en-US" sz="2800" b="0" i="0" kern="1200" dirty="0">
            <a:solidFill>
              <a:schemeClr val="bg1"/>
            </a:solidFill>
          </a:endParaRPr>
        </a:p>
      </dsp:txBody>
      <dsp:txXfrm>
        <a:off x="2475476" y="4447220"/>
        <a:ext cx="2955271" cy="1605122"/>
      </dsp:txXfrm>
    </dsp:sp>
    <dsp:sp modelId="{8C7CF913-F6F8-4AB2-B0FD-479DB633EC3A}">
      <dsp:nvSpPr>
        <dsp:cNvPr id="0" name=""/>
        <dsp:cNvSpPr/>
      </dsp:nvSpPr>
      <dsp:spPr>
        <a:xfrm rot="12019986">
          <a:off x="5577564" y="3442926"/>
          <a:ext cx="1580210" cy="24940"/>
        </a:xfrm>
        <a:custGeom>
          <a:avLst/>
          <a:gdLst/>
          <a:ahLst/>
          <a:cxnLst/>
          <a:rect l="0" t="0" r="0" b="0"/>
          <a:pathLst>
            <a:path>
              <a:moveTo>
                <a:pt x="0" y="12470"/>
              </a:moveTo>
              <a:lnTo>
                <a:pt x="1580210" y="1247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rot="10800000">
        <a:off x="6328164" y="3415891"/>
        <a:ext cx="79010" cy="79010"/>
      </dsp:txXfrm>
    </dsp:sp>
    <dsp:sp modelId="{5D8D424D-5A56-4185-B48D-6FFE5D4F3270}">
      <dsp:nvSpPr>
        <dsp:cNvPr id="0" name=""/>
        <dsp:cNvSpPr/>
      </dsp:nvSpPr>
      <dsp:spPr>
        <a:xfrm>
          <a:off x="2113928" y="1447791"/>
          <a:ext cx="3797891" cy="226998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b="1" i="0" kern="1200" dirty="0" smtClean="0"/>
            <a:t>GoogleSearchTool</a:t>
          </a:r>
          <a:endParaRPr lang="en-US" sz="2800" b="0" i="0" kern="1200" dirty="0"/>
        </a:p>
      </dsp:txBody>
      <dsp:txXfrm>
        <a:off x="2670116" y="1780223"/>
        <a:ext cx="2685515" cy="1605122"/>
      </dsp:txXfrm>
    </dsp:sp>
  </dsp:spTree>
</dsp:drawing>
</file>

<file path=ppt/diagrams/layout1.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4DC231-F531-44DD-B179-588FE23979F8}" type="datetimeFigureOut">
              <a:rPr lang="en-US" smtClean="0"/>
              <a:t>17/09/2025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F30392-A7B7-49B9-85D2-A4AD41F39B3F}" type="slidenum">
              <a:rPr lang="en-US" smtClean="0"/>
              <a:t>‹#›</a:t>
            </a:fld>
            <a:endParaRPr lang="en-US"/>
          </a:p>
        </p:txBody>
      </p:sp>
    </p:spTree>
    <p:extLst>
      <p:ext uri="{BB962C8B-B14F-4D97-AF65-F5344CB8AC3E}">
        <p14:creationId xmlns:p14="http://schemas.microsoft.com/office/powerpoint/2010/main" val="88413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7F30392-A7B7-49B9-85D2-A4AD41F39B3F}" type="slidenum">
              <a:rPr lang="en-US" smtClean="0"/>
              <a:t>4</a:t>
            </a:fld>
            <a:endParaRPr lang="en-US"/>
          </a:p>
        </p:txBody>
      </p:sp>
    </p:spTree>
    <p:extLst>
      <p:ext uri="{BB962C8B-B14F-4D97-AF65-F5344CB8AC3E}">
        <p14:creationId xmlns:p14="http://schemas.microsoft.com/office/powerpoint/2010/main" val="27922266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p:txBody>
      </p:sp>
      <p:sp>
        <p:nvSpPr>
          <p:cNvPr id="4" name="Slide Number Placeholder 3"/>
          <p:cNvSpPr>
            <a:spLocks noGrp="1"/>
          </p:cNvSpPr>
          <p:nvPr>
            <p:ph type="sldNum" sz="quarter" idx="10"/>
          </p:nvPr>
        </p:nvSpPr>
        <p:spPr/>
        <p:txBody>
          <a:bodyPr/>
          <a:lstStyle/>
          <a:p>
            <a:fld id="{D7F30392-A7B7-49B9-85D2-A4AD41F39B3F}" type="slidenum">
              <a:rPr lang="en-US" smtClean="0"/>
              <a:t>5</a:t>
            </a:fld>
            <a:endParaRPr lang="en-US"/>
          </a:p>
        </p:txBody>
      </p:sp>
    </p:spTree>
    <p:extLst>
      <p:ext uri="{BB962C8B-B14F-4D97-AF65-F5344CB8AC3E}">
        <p14:creationId xmlns:p14="http://schemas.microsoft.com/office/powerpoint/2010/main" val="2017713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7F30392-A7B7-49B9-85D2-A4AD41F39B3F}" type="slidenum">
              <a:rPr lang="en-US" smtClean="0"/>
              <a:t>7</a:t>
            </a:fld>
            <a:endParaRPr lang="en-US"/>
          </a:p>
        </p:txBody>
      </p:sp>
    </p:spTree>
    <p:extLst>
      <p:ext uri="{BB962C8B-B14F-4D97-AF65-F5344CB8AC3E}">
        <p14:creationId xmlns:p14="http://schemas.microsoft.com/office/powerpoint/2010/main" val="2572917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7F30392-A7B7-49B9-85D2-A4AD41F39B3F}" type="slidenum">
              <a:rPr lang="en-US" smtClean="0"/>
              <a:t>8</a:t>
            </a:fld>
            <a:endParaRPr lang="en-US"/>
          </a:p>
        </p:txBody>
      </p:sp>
    </p:spTree>
    <p:extLst>
      <p:ext uri="{BB962C8B-B14F-4D97-AF65-F5344CB8AC3E}">
        <p14:creationId xmlns:p14="http://schemas.microsoft.com/office/powerpoint/2010/main" val="31037270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7F30392-A7B7-49B9-85D2-A4AD41F39B3F}" type="slidenum">
              <a:rPr lang="en-US" smtClean="0"/>
              <a:t>10</a:t>
            </a:fld>
            <a:endParaRPr lang="en-US"/>
          </a:p>
        </p:txBody>
      </p:sp>
    </p:spTree>
    <p:extLst>
      <p:ext uri="{BB962C8B-B14F-4D97-AF65-F5344CB8AC3E}">
        <p14:creationId xmlns:p14="http://schemas.microsoft.com/office/powerpoint/2010/main" val="27758974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7F30392-A7B7-49B9-85D2-A4AD41F39B3F}" type="slidenum">
              <a:rPr lang="en-US" smtClean="0"/>
              <a:t>11</a:t>
            </a:fld>
            <a:endParaRPr lang="en-US"/>
          </a:p>
        </p:txBody>
      </p:sp>
    </p:spTree>
    <p:extLst>
      <p:ext uri="{BB962C8B-B14F-4D97-AF65-F5344CB8AC3E}">
        <p14:creationId xmlns:p14="http://schemas.microsoft.com/office/powerpoint/2010/main" val="15458577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7F30392-A7B7-49B9-85D2-A4AD41F39B3F}" type="slidenum">
              <a:rPr lang="en-US" smtClean="0"/>
              <a:t>13</a:t>
            </a:fld>
            <a:endParaRPr lang="en-US"/>
          </a:p>
        </p:txBody>
      </p:sp>
    </p:spTree>
    <p:extLst>
      <p:ext uri="{BB962C8B-B14F-4D97-AF65-F5344CB8AC3E}">
        <p14:creationId xmlns:p14="http://schemas.microsoft.com/office/powerpoint/2010/main" val="13922274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7F30392-A7B7-49B9-85D2-A4AD41F39B3F}" type="slidenum">
              <a:rPr lang="en-US" smtClean="0"/>
              <a:t>14</a:t>
            </a:fld>
            <a:endParaRPr lang="en-US"/>
          </a:p>
        </p:txBody>
      </p:sp>
    </p:spTree>
    <p:extLst>
      <p:ext uri="{BB962C8B-B14F-4D97-AF65-F5344CB8AC3E}">
        <p14:creationId xmlns:p14="http://schemas.microsoft.com/office/powerpoint/2010/main" val="30532039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D7F30392-A7B7-49B9-85D2-A4AD41F39B3F}" type="slidenum">
              <a:rPr lang="en-US" smtClean="0"/>
              <a:t>15</a:t>
            </a:fld>
            <a:endParaRPr lang="en-US"/>
          </a:p>
        </p:txBody>
      </p:sp>
    </p:spTree>
    <p:extLst>
      <p:ext uri="{BB962C8B-B14F-4D97-AF65-F5344CB8AC3E}">
        <p14:creationId xmlns:p14="http://schemas.microsoft.com/office/powerpoint/2010/main" val="14310166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7F30392-A7B7-49B9-85D2-A4AD41F39B3F}" type="slidenum">
              <a:rPr lang="en-US" smtClean="0"/>
              <a:t>16</a:t>
            </a:fld>
            <a:endParaRPr lang="en-US"/>
          </a:p>
        </p:txBody>
      </p:sp>
    </p:spTree>
    <p:extLst>
      <p:ext uri="{BB962C8B-B14F-4D97-AF65-F5344CB8AC3E}">
        <p14:creationId xmlns:p14="http://schemas.microsoft.com/office/powerpoint/2010/main" val="17081558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7F30392-A7B7-49B9-85D2-A4AD41F39B3F}" type="slidenum">
              <a:rPr lang="en-US" smtClean="0"/>
              <a:t>17</a:t>
            </a:fld>
            <a:endParaRPr lang="en-US"/>
          </a:p>
        </p:txBody>
      </p:sp>
    </p:spTree>
    <p:extLst>
      <p:ext uri="{BB962C8B-B14F-4D97-AF65-F5344CB8AC3E}">
        <p14:creationId xmlns:p14="http://schemas.microsoft.com/office/powerpoint/2010/main" val="26283799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7F30392-A7B7-49B9-85D2-A4AD41F39B3F}" type="slidenum">
              <a:rPr lang="en-US" smtClean="0"/>
              <a:t>18</a:t>
            </a:fld>
            <a:endParaRPr lang="en-US"/>
          </a:p>
        </p:txBody>
      </p:sp>
    </p:spTree>
    <p:extLst>
      <p:ext uri="{BB962C8B-B14F-4D97-AF65-F5344CB8AC3E}">
        <p14:creationId xmlns:p14="http://schemas.microsoft.com/office/powerpoint/2010/main" val="12025357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7F30392-A7B7-49B9-85D2-A4AD41F39B3F}" type="slidenum">
              <a:rPr lang="en-US" smtClean="0"/>
              <a:t>19</a:t>
            </a:fld>
            <a:endParaRPr lang="en-US"/>
          </a:p>
        </p:txBody>
      </p:sp>
    </p:spTree>
    <p:extLst>
      <p:ext uri="{BB962C8B-B14F-4D97-AF65-F5344CB8AC3E}">
        <p14:creationId xmlns:p14="http://schemas.microsoft.com/office/powerpoint/2010/main" val="41305742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7F30392-A7B7-49B9-85D2-A4AD41F39B3F}" type="slidenum">
              <a:rPr lang="en-US" smtClean="0"/>
              <a:t>20</a:t>
            </a:fld>
            <a:endParaRPr lang="en-US"/>
          </a:p>
        </p:txBody>
      </p:sp>
    </p:spTree>
    <p:extLst>
      <p:ext uri="{BB962C8B-B14F-4D97-AF65-F5344CB8AC3E}">
        <p14:creationId xmlns:p14="http://schemas.microsoft.com/office/powerpoint/2010/main" val="27688936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7F30392-A7B7-49B9-85D2-A4AD41F39B3F}" type="slidenum">
              <a:rPr lang="en-US" smtClean="0"/>
              <a:t>21</a:t>
            </a:fld>
            <a:endParaRPr lang="en-US"/>
          </a:p>
        </p:txBody>
      </p:sp>
    </p:spTree>
    <p:extLst>
      <p:ext uri="{BB962C8B-B14F-4D97-AF65-F5344CB8AC3E}">
        <p14:creationId xmlns:p14="http://schemas.microsoft.com/office/powerpoint/2010/main" val="38864204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7F30392-A7B7-49B9-85D2-A4AD41F39B3F}" type="slidenum">
              <a:rPr lang="en-US" smtClean="0"/>
              <a:t>22</a:t>
            </a:fld>
            <a:endParaRPr lang="en-US"/>
          </a:p>
        </p:txBody>
      </p:sp>
    </p:spTree>
    <p:extLst>
      <p:ext uri="{BB962C8B-B14F-4D97-AF65-F5344CB8AC3E}">
        <p14:creationId xmlns:p14="http://schemas.microsoft.com/office/powerpoint/2010/main" val="25145781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7F30392-A7B7-49B9-85D2-A4AD41F39B3F}" type="slidenum">
              <a:rPr lang="en-US" smtClean="0"/>
              <a:t>23</a:t>
            </a:fld>
            <a:endParaRPr lang="en-US"/>
          </a:p>
        </p:txBody>
      </p:sp>
    </p:spTree>
    <p:extLst>
      <p:ext uri="{BB962C8B-B14F-4D97-AF65-F5344CB8AC3E}">
        <p14:creationId xmlns:p14="http://schemas.microsoft.com/office/powerpoint/2010/main" val="16786201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7F30392-A7B7-49B9-85D2-A4AD41F39B3F}" type="slidenum">
              <a:rPr lang="en-US" smtClean="0"/>
              <a:t>24</a:t>
            </a:fld>
            <a:endParaRPr lang="en-US"/>
          </a:p>
        </p:txBody>
      </p:sp>
    </p:spTree>
    <p:extLst>
      <p:ext uri="{BB962C8B-B14F-4D97-AF65-F5344CB8AC3E}">
        <p14:creationId xmlns:p14="http://schemas.microsoft.com/office/powerpoint/2010/main" val="26535457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7F30392-A7B7-49B9-85D2-A4AD41F39B3F}" type="slidenum">
              <a:rPr lang="en-US" smtClean="0"/>
              <a:t>26</a:t>
            </a:fld>
            <a:endParaRPr lang="en-US"/>
          </a:p>
        </p:txBody>
      </p:sp>
    </p:spTree>
    <p:extLst>
      <p:ext uri="{BB962C8B-B14F-4D97-AF65-F5344CB8AC3E}">
        <p14:creationId xmlns:p14="http://schemas.microsoft.com/office/powerpoint/2010/main" val="21118891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7F30392-A7B7-49B9-85D2-A4AD41F39B3F}" type="slidenum">
              <a:rPr lang="en-US" smtClean="0"/>
              <a:t>27</a:t>
            </a:fld>
            <a:endParaRPr lang="en-US"/>
          </a:p>
        </p:txBody>
      </p:sp>
    </p:spTree>
    <p:extLst>
      <p:ext uri="{BB962C8B-B14F-4D97-AF65-F5344CB8AC3E}">
        <p14:creationId xmlns:p14="http://schemas.microsoft.com/office/powerpoint/2010/main" val="36402366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7F30392-A7B7-49B9-85D2-A4AD41F39B3F}" type="slidenum">
              <a:rPr lang="en-US" smtClean="0"/>
              <a:t>28</a:t>
            </a:fld>
            <a:endParaRPr lang="en-US"/>
          </a:p>
        </p:txBody>
      </p:sp>
    </p:spTree>
    <p:extLst>
      <p:ext uri="{BB962C8B-B14F-4D97-AF65-F5344CB8AC3E}">
        <p14:creationId xmlns:p14="http://schemas.microsoft.com/office/powerpoint/2010/main" val="10827019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7F30392-A7B7-49B9-85D2-A4AD41F39B3F}" type="slidenum">
              <a:rPr lang="en-US" smtClean="0"/>
              <a:t>29</a:t>
            </a:fld>
            <a:endParaRPr lang="en-US"/>
          </a:p>
        </p:txBody>
      </p:sp>
    </p:spTree>
    <p:extLst>
      <p:ext uri="{BB962C8B-B14F-4D97-AF65-F5344CB8AC3E}">
        <p14:creationId xmlns:p14="http://schemas.microsoft.com/office/powerpoint/2010/main" val="32440361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7F30392-A7B7-49B9-85D2-A4AD41F39B3F}" type="slidenum">
              <a:rPr lang="en-US" smtClean="0"/>
              <a:t>30</a:t>
            </a:fld>
            <a:endParaRPr lang="en-US"/>
          </a:p>
        </p:txBody>
      </p:sp>
    </p:spTree>
    <p:extLst>
      <p:ext uri="{BB962C8B-B14F-4D97-AF65-F5344CB8AC3E}">
        <p14:creationId xmlns:p14="http://schemas.microsoft.com/office/powerpoint/2010/main" val="565218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7F30392-A7B7-49B9-85D2-A4AD41F39B3F}" type="slidenum">
              <a:rPr lang="en-US" smtClean="0"/>
              <a:t>31</a:t>
            </a:fld>
            <a:endParaRPr lang="en-US"/>
          </a:p>
        </p:txBody>
      </p:sp>
    </p:spTree>
    <p:extLst>
      <p:ext uri="{BB962C8B-B14F-4D97-AF65-F5344CB8AC3E}">
        <p14:creationId xmlns:p14="http://schemas.microsoft.com/office/powerpoint/2010/main" val="37726117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7F30392-A7B7-49B9-85D2-A4AD41F39B3F}" type="slidenum">
              <a:rPr lang="en-US" smtClean="0"/>
              <a:t>32</a:t>
            </a:fld>
            <a:endParaRPr lang="en-US"/>
          </a:p>
        </p:txBody>
      </p:sp>
    </p:spTree>
    <p:extLst>
      <p:ext uri="{BB962C8B-B14F-4D97-AF65-F5344CB8AC3E}">
        <p14:creationId xmlns:p14="http://schemas.microsoft.com/office/powerpoint/2010/main" val="2268331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7F30392-A7B7-49B9-85D2-A4AD41F39B3F}" type="slidenum">
              <a:rPr lang="en-US" smtClean="0"/>
              <a:t>33</a:t>
            </a:fld>
            <a:endParaRPr lang="en-US"/>
          </a:p>
        </p:txBody>
      </p:sp>
    </p:spTree>
    <p:extLst>
      <p:ext uri="{BB962C8B-B14F-4D97-AF65-F5344CB8AC3E}">
        <p14:creationId xmlns:p14="http://schemas.microsoft.com/office/powerpoint/2010/main" val="36350921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7F30392-A7B7-49B9-85D2-A4AD41F39B3F}" type="slidenum">
              <a:rPr lang="en-US" smtClean="0"/>
              <a:t>34</a:t>
            </a:fld>
            <a:endParaRPr lang="en-US"/>
          </a:p>
        </p:txBody>
      </p:sp>
    </p:spTree>
    <p:extLst>
      <p:ext uri="{BB962C8B-B14F-4D97-AF65-F5344CB8AC3E}">
        <p14:creationId xmlns:p14="http://schemas.microsoft.com/office/powerpoint/2010/main" val="34115164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D7F30392-A7B7-49B9-85D2-A4AD41F39B3F}" type="slidenum">
              <a:rPr lang="en-US" smtClean="0"/>
              <a:t>35</a:t>
            </a:fld>
            <a:endParaRPr lang="en-US"/>
          </a:p>
        </p:txBody>
      </p:sp>
    </p:spTree>
    <p:extLst>
      <p:ext uri="{BB962C8B-B14F-4D97-AF65-F5344CB8AC3E}">
        <p14:creationId xmlns:p14="http://schemas.microsoft.com/office/powerpoint/2010/main" val="26747684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D7F30392-A7B7-49B9-85D2-A4AD41F39B3F}" type="slidenum">
              <a:rPr lang="en-US" smtClean="0"/>
              <a:t>36</a:t>
            </a:fld>
            <a:endParaRPr lang="en-US"/>
          </a:p>
        </p:txBody>
      </p:sp>
    </p:spTree>
    <p:extLst>
      <p:ext uri="{BB962C8B-B14F-4D97-AF65-F5344CB8AC3E}">
        <p14:creationId xmlns:p14="http://schemas.microsoft.com/office/powerpoint/2010/main" val="13643985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D7F30392-A7B7-49B9-85D2-A4AD41F39B3F}" type="slidenum">
              <a:rPr lang="en-US" smtClean="0"/>
              <a:t>37</a:t>
            </a:fld>
            <a:endParaRPr lang="en-US"/>
          </a:p>
        </p:txBody>
      </p:sp>
    </p:spTree>
    <p:extLst>
      <p:ext uri="{BB962C8B-B14F-4D97-AF65-F5344CB8AC3E}">
        <p14:creationId xmlns:p14="http://schemas.microsoft.com/office/powerpoint/2010/main" val="32968966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D7F30392-A7B7-49B9-85D2-A4AD41F39B3F}" type="slidenum">
              <a:rPr lang="en-US" smtClean="0"/>
              <a:t>38</a:t>
            </a:fld>
            <a:endParaRPr lang="en-US"/>
          </a:p>
        </p:txBody>
      </p:sp>
    </p:spTree>
    <p:extLst>
      <p:ext uri="{BB962C8B-B14F-4D97-AF65-F5344CB8AC3E}">
        <p14:creationId xmlns:p14="http://schemas.microsoft.com/office/powerpoint/2010/main" val="2674534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endParaRPr lang="en-US" dirty="0" smtClean="0"/>
          </a:p>
        </p:txBody>
      </p:sp>
      <p:sp>
        <p:nvSpPr>
          <p:cNvPr id="4" name="Slide Number Placeholder 3"/>
          <p:cNvSpPr>
            <a:spLocks noGrp="1"/>
          </p:cNvSpPr>
          <p:nvPr>
            <p:ph type="sldNum" sz="quarter" idx="10"/>
          </p:nvPr>
        </p:nvSpPr>
        <p:spPr/>
        <p:txBody>
          <a:bodyPr/>
          <a:lstStyle/>
          <a:p>
            <a:fld id="{D7F30392-A7B7-49B9-85D2-A4AD41F39B3F}" type="slidenum">
              <a:rPr lang="en-US" smtClean="0"/>
              <a:t>39</a:t>
            </a:fld>
            <a:endParaRPr lang="en-US"/>
          </a:p>
        </p:txBody>
      </p:sp>
    </p:spTree>
    <p:extLst>
      <p:ext uri="{BB962C8B-B14F-4D97-AF65-F5344CB8AC3E}">
        <p14:creationId xmlns:p14="http://schemas.microsoft.com/office/powerpoint/2010/main" val="1728629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7F30392-A7B7-49B9-85D2-A4AD41F39B3F}" type="slidenum">
              <a:rPr lang="en-US" smtClean="0"/>
              <a:t>41</a:t>
            </a:fld>
            <a:endParaRPr lang="en-US"/>
          </a:p>
        </p:txBody>
      </p:sp>
    </p:spTree>
    <p:extLst>
      <p:ext uri="{BB962C8B-B14F-4D97-AF65-F5344CB8AC3E}">
        <p14:creationId xmlns:p14="http://schemas.microsoft.com/office/powerpoint/2010/main" val="11183580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7F30392-A7B7-49B9-85D2-A4AD41F39B3F}" type="slidenum">
              <a:rPr lang="en-US" smtClean="0"/>
              <a:t>42</a:t>
            </a:fld>
            <a:endParaRPr lang="en-US"/>
          </a:p>
        </p:txBody>
      </p:sp>
    </p:spTree>
    <p:extLst>
      <p:ext uri="{BB962C8B-B14F-4D97-AF65-F5344CB8AC3E}">
        <p14:creationId xmlns:p14="http://schemas.microsoft.com/office/powerpoint/2010/main" val="19791615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7F30392-A7B7-49B9-85D2-A4AD41F39B3F}" type="slidenum">
              <a:rPr lang="en-US" smtClean="0"/>
              <a:t>43</a:t>
            </a:fld>
            <a:endParaRPr lang="en-US"/>
          </a:p>
        </p:txBody>
      </p:sp>
    </p:spTree>
    <p:extLst>
      <p:ext uri="{BB962C8B-B14F-4D97-AF65-F5344CB8AC3E}">
        <p14:creationId xmlns:p14="http://schemas.microsoft.com/office/powerpoint/2010/main" val="5240321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7F30392-A7B7-49B9-85D2-A4AD41F39B3F}" type="slidenum">
              <a:rPr lang="en-US" smtClean="0"/>
              <a:t>44</a:t>
            </a:fld>
            <a:endParaRPr lang="en-US"/>
          </a:p>
        </p:txBody>
      </p:sp>
    </p:spTree>
    <p:extLst>
      <p:ext uri="{BB962C8B-B14F-4D97-AF65-F5344CB8AC3E}">
        <p14:creationId xmlns:p14="http://schemas.microsoft.com/office/powerpoint/2010/main" val="34088283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7F30392-A7B7-49B9-85D2-A4AD41F39B3F}" type="slidenum">
              <a:rPr lang="en-US" smtClean="0"/>
              <a:t>45</a:t>
            </a:fld>
            <a:endParaRPr lang="en-US"/>
          </a:p>
        </p:txBody>
      </p:sp>
    </p:spTree>
    <p:extLst>
      <p:ext uri="{BB962C8B-B14F-4D97-AF65-F5344CB8AC3E}">
        <p14:creationId xmlns:p14="http://schemas.microsoft.com/office/powerpoint/2010/main" val="20608427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7F30392-A7B7-49B9-85D2-A4AD41F39B3F}" type="slidenum">
              <a:rPr lang="en-US" smtClean="0"/>
              <a:t>46</a:t>
            </a:fld>
            <a:endParaRPr lang="en-US"/>
          </a:p>
        </p:txBody>
      </p:sp>
    </p:spTree>
    <p:extLst>
      <p:ext uri="{BB962C8B-B14F-4D97-AF65-F5344CB8AC3E}">
        <p14:creationId xmlns:p14="http://schemas.microsoft.com/office/powerpoint/2010/main" val="39125149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7F30392-A7B7-49B9-85D2-A4AD41F39B3F}" type="slidenum">
              <a:rPr lang="en-US" smtClean="0"/>
              <a:t>47</a:t>
            </a:fld>
            <a:endParaRPr lang="en-US"/>
          </a:p>
        </p:txBody>
      </p:sp>
    </p:spTree>
    <p:extLst>
      <p:ext uri="{BB962C8B-B14F-4D97-AF65-F5344CB8AC3E}">
        <p14:creationId xmlns:p14="http://schemas.microsoft.com/office/powerpoint/2010/main" val="283516171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7F30392-A7B7-49B9-85D2-A4AD41F39B3F}" type="slidenum">
              <a:rPr lang="en-US" smtClean="0"/>
              <a:t>48</a:t>
            </a:fld>
            <a:endParaRPr lang="en-US"/>
          </a:p>
        </p:txBody>
      </p:sp>
    </p:spTree>
    <p:extLst>
      <p:ext uri="{BB962C8B-B14F-4D97-AF65-F5344CB8AC3E}">
        <p14:creationId xmlns:p14="http://schemas.microsoft.com/office/powerpoint/2010/main" val="110130874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7F30392-A7B7-49B9-85D2-A4AD41F39B3F}" type="slidenum">
              <a:rPr lang="en-US" smtClean="0"/>
              <a:t>49</a:t>
            </a:fld>
            <a:endParaRPr lang="en-US"/>
          </a:p>
        </p:txBody>
      </p:sp>
    </p:spTree>
    <p:extLst>
      <p:ext uri="{BB962C8B-B14F-4D97-AF65-F5344CB8AC3E}">
        <p14:creationId xmlns:p14="http://schemas.microsoft.com/office/powerpoint/2010/main" val="30648664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205A6A5-CBF7-4D76-88E3-455AD04E5CCB}" type="datetime1">
              <a:rPr lang="en-US" smtClean="0"/>
              <a:t>17/09/2025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9324D56-BF72-46A3-83F6-9B851A9E2F8A}" type="datetime1">
              <a:rPr lang="en-US" smtClean="0"/>
              <a:t>17/09/2025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0CC7E0B-692A-4BB8-A0BD-628188F44856}" type="datetime1">
              <a:rPr lang="en-US" smtClean="0"/>
              <a:t>17/09/2025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60C033B-418E-4EC9-9085-2894EBA9775F}" type="datetime1">
              <a:rPr lang="en-US" smtClean="0"/>
              <a:t>17/09/2025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848B0A7-5544-4CA5-A4A3-477284F682A7}" type="datetime1">
              <a:rPr lang="en-US" smtClean="0"/>
              <a:t>17/09/2025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EFA5617-88E5-43F7-85F0-F26C06614A97}" type="datetime1">
              <a:rPr lang="en-US" smtClean="0"/>
              <a:t>17/09/2025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9A924C-BA08-4CA4-8281-A6DF47265995}" type="datetime1">
              <a:rPr lang="en-US" smtClean="0"/>
              <a:t>17/09/2025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B9E8AE-01B6-4EE0-862A-BF2194E4B55D}" type="datetime1">
              <a:rPr lang="en-US" smtClean="0"/>
              <a:t>17/09/2025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309ADD2-99A4-476D-80EC-A51A1CA2E35B}" type="datetime1">
              <a:rPr lang="en-US" smtClean="0"/>
              <a:t>17/09/2025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2751C35-E3A2-4446-869F-8B6D39C76B04}" type="datetime1">
              <a:rPr lang="en-US" smtClean="0"/>
              <a:t>17/09/2025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9CD793E-0E6A-470B-B296-EE464349703B}" type="datetime1">
              <a:rPr lang="en-US" smtClean="0"/>
              <a:t>17/09/2025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2FF825-FB51-4EE5-A719-5C048B2A7B1F}" type="datetime1">
              <a:rPr lang="en-US" smtClean="0"/>
              <a:t>17/09/2025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sv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slide" Target="slide50.xml"/><Relationship Id="rId5" Type="http://schemas.openxmlformats.org/officeDocument/2006/relationships/image" Target="../media/image1.png"/><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slide" Target="slide50.xml"/><Relationship Id="rId5" Type="http://schemas.openxmlformats.org/officeDocument/2006/relationships/image" Target="../media/image8.sv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slide" Target="slide50.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slide" Target="slide50.xml"/><Relationship Id="rId5" Type="http://schemas.openxmlformats.org/officeDocument/2006/relationships/image" Target="../media/image1.png"/><Relationship Id="rId4" Type="http://schemas.openxmlformats.org/officeDocument/2006/relationships/image" Target="../media/image8.sv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8" Type="http://schemas.openxmlformats.org/officeDocument/2006/relationships/slide" Target="slide50.xml"/><Relationship Id="rId3" Type="http://schemas.openxmlformats.org/officeDocument/2006/relationships/image" Target="../media/image1.png"/><Relationship Id="rId7" Type="http://schemas.openxmlformats.org/officeDocument/2006/relationships/image" Target="../media/image10.sv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slide" Target="slide50.xml"/><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1.png"/><Relationship Id="rId4" Type="http://schemas.openxmlformats.org/officeDocument/2006/relationships/image" Target="../media/image8.sv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slide" Target="slide50.xml"/><Relationship Id="rId5" Type="http://schemas.openxmlformats.org/officeDocument/2006/relationships/image" Target="../media/image8.sv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8.sv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slide" Target="slide50.xml"/><Relationship Id="rId5" Type="http://schemas.openxmlformats.org/officeDocument/2006/relationships/image" Target="../media/image8.svg"/><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slide" Target="slide50.xml"/><Relationship Id="rId5" Type="http://schemas.openxmlformats.org/officeDocument/2006/relationships/image" Target="../media/image8.sv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slide" Target="slide50.xml"/><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8.sv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6.pn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slide" Target="slide50.xml"/><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6.pn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6.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6.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slide" Target="slide50.xml"/><Relationship Id="rId5" Type="http://schemas.openxmlformats.org/officeDocument/2006/relationships/image" Target="../media/image8.svg"/><Relationship Id="rId4" Type="http://schemas.openxmlformats.org/officeDocument/2006/relationships/image" Target="../media/image6.png"/></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slide" Target="slide50.xml"/><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6.png"/><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8.svg"/><Relationship Id="rId4" Type="http://schemas.openxmlformats.org/officeDocument/2006/relationships/image" Target="../media/image6.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8.svg"/><Relationship Id="rId4" Type="http://schemas.openxmlformats.org/officeDocument/2006/relationships/image" Target="../media/image6.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slide" Target="slide50.xml"/><Relationship Id="rId5" Type="http://schemas.openxmlformats.org/officeDocument/2006/relationships/image" Target="../media/image8.svg"/><Relationship Id="rId4" Type="http://schemas.openxmlformats.org/officeDocument/2006/relationships/image" Target="../media/image6.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8.svg"/><Relationship Id="rId4" Type="http://schemas.openxmlformats.org/officeDocument/2006/relationships/image" Target="../media/image6.png"/></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slide" Target="slide50.xml"/><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8.svg"/></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8.svg"/></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8.svg"/></Relationships>
</file>

<file path=ppt/slides/_rels/slide4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slide" Target="slide50.xml"/><Relationship Id="rId2" Type="http://schemas.openxmlformats.org/officeDocument/2006/relationships/notesSlide" Target="../notesSlides/notesSlide36.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8.svg"/></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slide" Target="slide50.xml"/><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8.svg"/></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slide" Target="slide50.xml"/><Relationship Id="rId2" Type="http://schemas.openxmlformats.org/officeDocument/2006/relationships/notesSlide" Target="../notesSlides/notesSlide38.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8.svg"/></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slide" Target="slide50.xml"/><Relationship Id="rId2" Type="http://schemas.openxmlformats.org/officeDocument/2006/relationships/notesSlide" Target="../notesSlides/notesSlide39.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8.svg"/></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4.png"/><Relationship Id="rId2" Type="http://schemas.openxmlformats.org/officeDocument/2006/relationships/notesSlide" Target="../notesSlides/notesSlide40.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8.svg"/></Relationships>
</file>

<file path=ppt/slides/_rels/slide49.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5.png"/><Relationship Id="rId2" Type="http://schemas.openxmlformats.org/officeDocument/2006/relationships/notesSlide" Target="../notesSlides/notesSlide41.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8.svg"/></Relationships>
</file>

<file path=ppt/slides/_rels/slide50.xml.rels><?xml version="1.0" encoding="UTF-8" standalone="yes"?>
<Relationships xmlns="http://schemas.openxmlformats.org/package/2006/relationships"><Relationship Id="rId8" Type="http://schemas.openxmlformats.org/officeDocument/2006/relationships/slide" Target="slide13.xml"/><Relationship Id="rId13" Type="http://schemas.openxmlformats.org/officeDocument/2006/relationships/hyperlink" Target="https://docs.llamaindex.ai/en/stable/" TargetMode="External"/><Relationship Id="rId18" Type="http://schemas.openxmlformats.org/officeDocument/2006/relationships/slide" Target="slide41.xml"/><Relationship Id="rId3" Type="http://schemas.openxmlformats.org/officeDocument/2006/relationships/image" Target="../media/image6.png"/><Relationship Id="rId7" Type="http://schemas.openxmlformats.org/officeDocument/2006/relationships/hyperlink" Target="https://huggingface.co/learn/agents-course/en/unit1/tutorial%20%5b2" TargetMode="External"/><Relationship Id="rId12" Type="http://schemas.openxmlformats.org/officeDocument/2006/relationships/slide" Target="slide11.xml"/><Relationship Id="rId17" Type="http://schemas.openxmlformats.org/officeDocument/2006/relationships/hyperlink" Target="https://huggingface.co/learn/agents-course/en/unit2/langgraph/when_to_use_langgraph" TargetMode="External"/><Relationship Id="rId2" Type="http://schemas.openxmlformats.org/officeDocument/2006/relationships/image" Target="../media/image1.png"/><Relationship Id="rId16" Type="http://schemas.openxmlformats.org/officeDocument/2006/relationships/slide" Target="slide50.xml"/><Relationship Id="rId1" Type="http://schemas.openxmlformats.org/officeDocument/2006/relationships/slideLayout" Target="../slideLayouts/slideLayout7.xml"/><Relationship Id="rId6" Type="http://schemas.openxmlformats.org/officeDocument/2006/relationships/slide" Target="slide4.xml"/><Relationship Id="rId11" Type="http://schemas.openxmlformats.org/officeDocument/2006/relationships/hyperlink" Target="https://platform.openai.com/docs/guides/prompt-engineering" TargetMode="External"/><Relationship Id="rId5" Type="http://schemas.openxmlformats.org/officeDocument/2006/relationships/hyperlink" Target="https://www.coursera.org/articles/what-is-hugging-face%20%5b1" TargetMode="External"/><Relationship Id="rId15" Type="http://schemas.openxmlformats.org/officeDocument/2006/relationships/hyperlink" Target="https://huggingface.co/learn/agents-course/en/unit2/llama-index/introduction%20%5b6" TargetMode="External"/><Relationship Id="rId10" Type="http://schemas.openxmlformats.org/officeDocument/2006/relationships/slide" Target="slide26.xml"/><Relationship Id="rId4" Type="http://schemas.openxmlformats.org/officeDocument/2006/relationships/image" Target="../media/image8.svg"/><Relationship Id="rId9" Type="http://schemas.openxmlformats.org/officeDocument/2006/relationships/hyperlink" Target="https://www.ibm.com/think/topics/llamaindex%20%5b3" TargetMode="External"/><Relationship Id="rId14" Type="http://schemas.openxmlformats.org/officeDocument/2006/relationships/slide" Target="slide38.xml"/></Relationships>
</file>

<file path=ppt/slides/_rels/slide5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B0DBF8"/>
        </a:solidFill>
        <a:effectLst/>
      </p:bgPr>
    </p:bg>
    <p:spTree>
      <p:nvGrpSpPr>
        <p:cNvPr id="1" name=""/>
        <p:cNvGrpSpPr/>
        <p:nvPr/>
      </p:nvGrpSpPr>
      <p:grpSpPr>
        <a:xfrm>
          <a:off x="0" y="0"/>
          <a:ext cx="0" cy="0"/>
          <a:chOff x="0" y="0"/>
          <a:chExt cx="0" cy="0"/>
        </a:xfrm>
      </p:grpSpPr>
      <p:sp>
        <p:nvSpPr>
          <p:cNvPr id="2" name="Freeform 2"/>
          <p:cNvSpPr/>
          <p:nvPr/>
        </p:nvSpPr>
        <p:spPr>
          <a:xfrm>
            <a:off x="1676400" y="1333500"/>
            <a:ext cx="15322762" cy="8229600"/>
          </a:xfrm>
          <a:custGeom>
            <a:avLst/>
            <a:gdLst/>
            <a:ahLst/>
            <a:cxnLst/>
            <a:rect l="l" t="t" r="r" b="b"/>
            <a:pathLst>
              <a:path w="15322762" h="8229600">
                <a:moveTo>
                  <a:pt x="0" y="0"/>
                </a:moveTo>
                <a:lnTo>
                  <a:pt x="15322761" y="0"/>
                </a:lnTo>
                <a:lnTo>
                  <a:pt x="15322761" y="8229600"/>
                </a:lnTo>
                <a:lnTo>
                  <a:pt x="0" y="8229600"/>
                </a:lnTo>
                <a:lnTo>
                  <a:pt x="0" y="0"/>
                </a:lnTo>
                <a:close/>
              </a:path>
            </a:pathLst>
          </a:custGeom>
          <a:blipFill>
            <a:blip r:embed="rId2"/>
            <a:stretch>
              <a:fillRect/>
            </a:stretch>
          </a:blipFill>
        </p:spPr>
      </p:sp>
      <p:sp>
        <p:nvSpPr>
          <p:cNvPr id="3" name="TextBox 3"/>
          <p:cNvSpPr txBox="1"/>
          <p:nvPr/>
        </p:nvSpPr>
        <p:spPr>
          <a:xfrm>
            <a:off x="2531124" y="4332660"/>
            <a:ext cx="13613314" cy="1564531"/>
          </a:xfrm>
          <a:prstGeom prst="rect">
            <a:avLst/>
          </a:prstGeom>
        </p:spPr>
        <p:txBody>
          <a:bodyPr wrap="square" lIns="0" tIns="0" rIns="0" bIns="0" rtlCol="0" anchor="t">
            <a:spAutoFit/>
          </a:bodyPr>
          <a:lstStyle/>
          <a:p>
            <a:pPr algn="ctr">
              <a:lnSpc>
                <a:spcPts val="12177"/>
              </a:lnSpc>
            </a:pPr>
            <a:r>
              <a:rPr lang="en-US" sz="11709" dirty="0" smtClean="0">
                <a:solidFill>
                  <a:srgbClr val="FFFFFF"/>
                </a:solidFill>
                <a:latin typeface="Sergio Trendy"/>
                <a:ea typeface="Sergio Trendy"/>
                <a:cs typeface="Sergio Trendy"/>
                <a:sym typeface="Sergio Trendy"/>
              </a:rPr>
              <a:t>HUGGING FACE </a:t>
            </a:r>
            <a:endParaRPr lang="en-US" sz="11709" dirty="0">
              <a:solidFill>
                <a:srgbClr val="FFFFFF"/>
              </a:solidFill>
              <a:latin typeface="Sergio Trendy"/>
              <a:ea typeface="Sergio Trendy"/>
              <a:cs typeface="Sergio Trendy"/>
              <a:sym typeface="Sergio Trendy"/>
            </a:endParaRPr>
          </a:p>
        </p:txBody>
      </p:sp>
      <p:sp>
        <p:nvSpPr>
          <p:cNvPr id="4" name="Freeform 4"/>
          <p:cNvSpPr/>
          <p:nvPr/>
        </p:nvSpPr>
        <p:spPr>
          <a:xfrm>
            <a:off x="8588160" y="2456722"/>
            <a:ext cx="1499241" cy="1450175"/>
          </a:xfrm>
          <a:custGeom>
            <a:avLst/>
            <a:gdLst/>
            <a:ahLst/>
            <a:cxnLst/>
            <a:rect l="l" t="t" r="r" b="b"/>
            <a:pathLst>
              <a:path w="1499241" h="1450175">
                <a:moveTo>
                  <a:pt x="0" y="0"/>
                </a:moveTo>
                <a:lnTo>
                  <a:pt x="1499242" y="0"/>
                </a:lnTo>
                <a:lnTo>
                  <a:pt x="1499242" y="1450174"/>
                </a:lnTo>
                <a:lnTo>
                  <a:pt x="0" y="145017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a:ln cap="sq">
            <a:noFill/>
            <a:prstDash val="dash"/>
            <a:miter/>
          </a:ln>
        </p:spPr>
      </p:sp>
      <p:sp>
        <p:nvSpPr>
          <p:cNvPr id="5" name="TextBox 5"/>
          <p:cNvSpPr txBox="1"/>
          <p:nvPr/>
        </p:nvSpPr>
        <p:spPr>
          <a:xfrm>
            <a:off x="5867400" y="6134100"/>
            <a:ext cx="6476554" cy="1178015"/>
          </a:xfrm>
          <a:prstGeom prst="rect">
            <a:avLst/>
          </a:prstGeom>
        </p:spPr>
        <p:txBody>
          <a:bodyPr wrap="square" lIns="0" tIns="0" rIns="0" bIns="0" rtlCol="0" anchor="t">
            <a:spAutoFit/>
          </a:bodyPr>
          <a:lstStyle/>
          <a:p>
            <a:pPr algn="ctr">
              <a:lnSpc>
                <a:spcPts val="4759"/>
              </a:lnSpc>
            </a:pPr>
            <a:r>
              <a:rPr lang="en-US" sz="3399" dirty="0">
                <a:solidFill>
                  <a:srgbClr val="FFFFFF"/>
                </a:solidFill>
                <a:latin typeface="Hobo"/>
                <a:ea typeface="Hobo"/>
                <a:cs typeface="Hobo"/>
                <a:sym typeface="Hobo"/>
              </a:rPr>
              <a:t>Presented </a:t>
            </a:r>
            <a:r>
              <a:rPr lang="en-US" sz="3399" dirty="0" smtClean="0">
                <a:solidFill>
                  <a:srgbClr val="FFFFFF"/>
                </a:solidFill>
                <a:latin typeface="Hobo"/>
                <a:ea typeface="Hobo"/>
                <a:cs typeface="Hobo"/>
                <a:sym typeface="Hobo"/>
              </a:rPr>
              <a:t>by: Sourour Hammoud</a:t>
            </a:r>
          </a:p>
          <a:p>
            <a:pPr algn="ctr">
              <a:lnSpc>
                <a:spcPts val="4759"/>
              </a:lnSpc>
            </a:pPr>
            <a:r>
              <a:rPr lang="en-US" sz="3399" dirty="0" smtClean="0">
                <a:solidFill>
                  <a:srgbClr val="FFFFFF"/>
                </a:solidFill>
                <a:latin typeface="Hobo"/>
                <a:ea typeface="Hobo"/>
                <a:cs typeface="Hobo"/>
                <a:sym typeface="Hobo"/>
              </a:rPr>
              <a:t>August 23,2025</a:t>
            </a:r>
            <a:endParaRPr lang="en-US" sz="3399" dirty="0">
              <a:solidFill>
                <a:srgbClr val="FFFFFF"/>
              </a:solidFill>
              <a:latin typeface="Hobo"/>
              <a:ea typeface="Hobo"/>
              <a:cs typeface="Hobo"/>
              <a:sym typeface="Hobo"/>
            </a:endParaRPr>
          </a:p>
        </p:txBody>
      </p:sp>
      <p:pic>
        <p:nvPicPr>
          <p:cNvPr id="7" name="Pictur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2057400" cy="2057400"/>
          </a:xfrm>
          <a:prstGeom prst="rect">
            <a:avLst/>
          </a:prstGeom>
        </p:spPr>
      </p:pic>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230600" y="0"/>
            <a:ext cx="2057400" cy="205740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B0DBF8"/>
        </a:solidFill>
        <a:effectLst/>
      </p:bgPr>
    </p:bg>
    <p:spTree>
      <p:nvGrpSpPr>
        <p:cNvPr id="1" name=""/>
        <p:cNvGrpSpPr/>
        <p:nvPr/>
      </p:nvGrpSpPr>
      <p:grpSpPr>
        <a:xfrm>
          <a:off x="0" y="0"/>
          <a:ext cx="0" cy="0"/>
          <a:chOff x="0" y="0"/>
          <a:chExt cx="0" cy="0"/>
        </a:xfrm>
      </p:grpSpPr>
      <p:sp>
        <p:nvSpPr>
          <p:cNvPr id="2" name="Freeform 2"/>
          <p:cNvSpPr/>
          <p:nvPr/>
        </p:nvSpPr>
        <p:spPr>
          <a:xfrm>
            <a:off x="-4567720" y="8031009"/>
            <a:ext cx="16805381" cy="9025890"/>
          </a:xfrm>
          <a:custGeom>
            <a:avLst/>
            <a:gdLst/>
            <a:ahLst/>
            <a:cxnLst/>
            <a:rect l="l" t="t" r="r" b="b"/>
            <a:pathLst>
              <a:path w="16805381" h="9025890">
                <a:moveTo>
                  <a:pt x="0" y="0"/>
                </a:moveTo>
                <a:lnTo>
                  <a:pt x="16805381" y="0"/>
                </a:lnTo>
                <a:lnTo>
                  <a:pt x="16805381" y="9025890"/>
                </a:lnTo>
                <a:lnTo>
                  <a:pt x="0" y="9025890"/>
                </a:lnTo>
                <a:lnTo>
                  <a:pt x="0" y="0"/>
                </a:lnTo>
                <a:close/>
              </a:path>
            </a:pathLst>
          </a:custGeom>
          <a:blipFill>
            <a:blip r:embed="rId2">
              <a:alphaModFix amt="85000"/>
            </a:blip>
            <a:stretch>
              <a:fillRect/>
            </a:stretch>
          </a:blipFill>
        </p:spPr>
      </p:sp>
      <p:sp>
        <p:nvSpPr>
          <p:cNvPr id="8" name="Freeform 8"/>
          <p:cNvSpPr/>
          <p:nvPr/>
        </p:nvSpPr>
        <p:spPr>
          <a:xfrm>
            <a:off x="10910287" y="-6589014"/>
            <a:ext cx="16805381" cy="9025890"/>
          </a:xfrm>
          <a:custGeom>
            <a:avLst/>
            <a:gdLst/>
            <a:ahLst/>
            <a:cxnLst/>
            <a:rect l="l" t="t" r="r" b="b"/>
            <a:pathLst>
              <a:path w="16805381" h="9025890">
                <a:moveTo>
                  <a:pt x="0" y="0"/>
                </a:moveTo>
                <a:lnTo>
                  <a:pt x="16805381" y="0"/>
                </a:lnTo>
                <a:lnTo>
                  <a:pt x="16805381" y="9025890"/>
                </a:lnTo>
                <a:lnTo>
                  <a:pt x="0" y="9025890"/>
                </a:lnTo>
                <a:lnTo>
                  <a:pt x="0" y="0"/>
                </a:lnTo>
                <a:close/>
              </a:path>
            </a:pathLst>
          </a:custGeom>
          <a:blipFill>
            <a:blip r:embed="rId2">
              <a:alphaModFix amt="85000"/>
            </a:blip>
            <a:stretch>
              <a:fillRect/>
            </a:stretch>
          </a:blipFill>
        </p:spPr>
      </p:sp>
      <p:sp>
        <p:nvSpPr>
          <p:cNvPr id="19" name="TextBox 19"/>
          <p:cNvSpPr txBox="1"/>
          <p:nvPr/>
        </p:nvSpPr>
        <p:spPr>
          <a:xfrm>
            <a:off x="8503861" y="4483651"/>
            <a:ext cx="7467600" cy="1243930"/>
          </a:xfrm>
          <a:prstGeom prst="rect">
            <a:avLst/>
          </a:prstGeom>
        </p:spPr>
        <p:txBody>
          <a:bodyPr wrap="square" lIns="0" tIns="0" rIns="0" bIns="0" rtlCol="0" anchor="t">
            <a:spAutoFit/>
          </a:bodyPr>
          <a:lstStyle/>
          <a:p>
            <a:pPr algn="ctr">
              <a:lnSpc>
                <a:spcPts val="9672"/>
              </a:lnSpc>
            </a:pPr>
            <a:r>
              <a:rPr lang="en-US" sz="9300" dirty="0" smtClean="0">
                <a:solidFill>
                  <a:srgbClr val="022C5E"/>
                </a:solidFill>
                <a:latin typeface="Sergio Trendy"/>
                <a:ea typeface="Sergio Trendy"/>
                <a:cs typeface="Sergio Trendy"/>
                <a:sym typeface="Sergio Trendy"/>
              </a:rPr>
              <a:t>Plan</a:t>
            </a:r>
            <a:endParaRPr lang="en-US" sz="9300" dirty="0">
              <a:solidFill>
                <a:srgbClr val="022C5E"/>
              </a:solidFill>
              <a:latin typeface="Sergio Trendy"/>
              <a:ea typeface="Sergio Trendy"/>
              <a:cs typeface="Sergio Trendy"/>
              <a:sym typeface="Sergio Trendy"/>
            </a:endParaRPr>
          </a:p>
        </p:txBody>
      </p:sp>
      <p:grpSp>
        <p:nvGrpSpPr>
          <p:cNvPr id="26" name="Group 25"/>
          <p:cNvGrpSpPr/>
          <p:nvPr/>
        </p:nvGrpSpPr>
        <p:grpSpPr>
          <a:xfrm>
            <a:off x="2676805" y="564040"/>
            <a:ext cx="3151704" cy="1215736"/>
            <a:chOff x="6400799" y="3742727"/>
            <a:chExt cx="7239000" cy="3046793"/>
          </a:xfrm>
        </p:grpSpPr>
        <p:sp>
          <p:nvSpPr>
            <p:cNvPr id="24" name="Freeform 2"/>
            <p:cNvSpPr/>
            <p:nvPr/>
          </p:nvSpPr>
          <p:spPr>
            <a:xfrm>
              <a:off x="6400799" y="4046320"/>
              <a:ext cx="7239000" cy="2743200"/>
            </a:xfrm>
            <a:custGeom>
              <a:avLst/>
              <a:gdLst/>
              <a:ahLst/>
              <a:cxnLst/>
              <a:rect l="l" t="t" r="r" b="b"/>
              <a:pathLst>
                <a:path w="5934317" h="2028458">
                  <a:moveTo>
                    <a:pt x="0" y="0"/>
                  </a:moveTo>
                  <a:lnTo>
                    <a:pt x="5934318" y="0"/>
                  </a:lnTo>
                  <a:lnTo>
                    <a:pt x="5934318" y="2028458"/>
                  </a:lnTo>
                  <a:lnTo>
                    <a:pt x="0" y="2028458"/>
                  </a:lnTo>
                  <a:lnTo>
                    <a:pt x="0" y="0"/>
                  </a:lnTo>
                  <a:close/>
                </a:path>
              </a:pathLst>
            </a:custGeom>
            <a:blipFill>
              <a:blip r:embed="rId3">
                <a:extLst>
                  <a:ext uri="{BEBA8EAE-BF5A-486C-A8C5-ECC9F3942E4B}">
                    <a14:imgProps xmlns:a14="http://schemas.microsoft.com/office/drawing/2010/main">
                      <a14:imgLayer r:embed="rId4">
                        <a14:imgEffect>
                          <a14:artisticPlasticWrap/>
                        </a14:imgEffect>
                      </a14:imgLayer>
                    </a14:imgProps>
                  </a:ext>
                  <a:ext uri="{96DAC541-7B7A-43D3-8B79-37D633B846F1}">
                    <asvg:svgBlip xmlns:asvg="http://schemas.microsoft.com/office/drawing/2016/SVG/main" xmlns="" r:embed="rId5"/>
                  </a:ext>
                </a:extLst>
              </a:blip>
              <a:stretch>
                <a:fillRect/>
              </a:stretch>
            </a:blipFill>
          </p:spPr>
          <p:txBody>
            <a:bodyPr/>
            <a:lstStyle/>
            <a:p>
              <a:endParaRPr lang="en-US" dirty="0"/>
            </a:p>
          </p:txBody>
        </p:sp>
        <p:sp>
          <p:nvSpPr>
            <p:cNvPr id="25" name="TextBox 6"/>
            <p:cNvSpPr txBox="1"/>
            <p:nvPr/>
          </p:nvSpPr>
          <p:spPr>
            <a:xfrm>
              <a:off x="7084175" y="3742727"/>
              <a:ext cx="5934319" cy="2419310"/>
            </a:xfrm>
            <a:prstGeom prst="rect">
              <a:avLst/>
            </a:prstGeom>
          </p:spPr>
          <p:txBody>
            <a:bodyPr lIns="0" tIns="0" rIns="0" bIns="0" rtlCol="0" anchor="t">
              <a:spAutoFit/>
            </a:bodyPr>
            <a:lstStyle/>
            <a:p>
              <a:pPr algn="ctr">
                <a:lnSpc>
                  <a:spcPts val="7279"/>
                </a:lnSpc>
              </a:pPr>
              <a:r>
                <a:rPr lang="en-US" sz="3200" dirty="0" smtClean="0">
                  <a:solidFill>
                    <a:srgbClr val="022C5E"/>
                  </a:solidFill>
                  <a:latin typeface="Hobo"/>
                  <a:ea typeface="Hobo"/>
                  <a:cs typeface="Hobo"/>
                  <a:sym typeface="Hobo"/>
                </a:rPr>
                <a:t>Hugging Face </a:t>
              </a:r>
              <a:endParaRPr lang="en-US" sz="3200" dirty="0">
                <a:solidFill>
                  <a:srgbClr val="022C5E"/>
                </a:solidFill>
                <a:latin typeface="Hobo"/>
                <a:ea typeface="Hobo"/>
                <a:cs typeface="Hobo"/>
                <a:sym typeface="Hobo"/>
              </a:endParaRPr>
            </a:p>
          </p:txBody>
        </p:sp>
      </p:grpSp>
      <p:grpSp>
        <p:nvGrpSpPr>
          <p:cNvPr id="50" name="Group 49"/>
          <p:cNvGrpSpPr/>
          <p:nvPr/>
        </p:nvGrpSpPr>
        <p:grpSpPr>
          <a:xfrm>
            <a:off x="1799479" y="1781853"/>
            <a:ext cx="4933380" cy="1124629"/>
            <a:chOff x="6400799" y="3770611"/>
            <a:chExt cx="7239000" cy="3018909"/>
          </a:xfrm>
        </p:grpSpPr>
        <p:sp>
          <p:nvSpPr>
            <p:cNvPr id="51" name="Freeform 2"/>
            <p:cNvSpPr/>
            <p:nvPr/>
          </p:nvSpPr>
          <p:spPr>
            <a:xfrm>
              <a:off x="6400799" y="4046320"/>
              <a:ext cx="7239000" cy="2743200"/>
            </a:xfrm>
            <a:custGeom>
              <a:avLst/>
              <a:gdLst/>
              <a:ahLst/>
              <a:cxnLst/>
              <a:rect l="l" t="t" r="r" b="b"/>
              <a:pathLst>
                <a:path w="5934317" h="2028458">
                  <a:moveTo>
                    <a:pt x="0" y="0"/>
                  </a:moveTo>
                  <a:lnTo>
                    <a:pt x="5934318" y="0"/>
                  </a:lnTo>
                  <a:lnTo>
                    <a:pt x="5934318" y="2028458"/>
                  </a:lnTo>
                  <a:lnTo>
                    <a:pt x="0" y="2028458"/>
                  </a:lnTo>
                  <a:lnTo>
                    <a:pt x="0" y="0"/>
                  </a:lnTo>
                  <a:close/>
                </a:path>
              </a:pathLst>
            </a:custGeom>
            <a:blipFill>
              <a:blip r:embed="rId3">
                <a:extLst>
                  <a:ext uri="{BEBA8EAE-BF5A-486C-A8C5-ECC9F3942E4B}">
                    <a14:imgProps xmlns:a14="http://schemas.microsoft.com/office/drawing/2010/main">
                      <a14:imgLayer r:embed="rId4">
                        <a14:imgEffect>
                          <a14:artisticPlasticWrap/>
                        </a14:imgEffect>
                      </a14:imgLayer>
                    </a14:imgProps>
                  </a:ext>
                  <a:ext uri="{96DAC541-7B7A-43D3-8B79-37D633B846F1}">
                    <asvg:svgBlip xmlns:asvg="http://schemas.microsoft.com/office/drawing/2016/SVG/main" xmlns="" r:embed="rId5"/>
                  </a:ext>
                </a:extLst>
              </a:blip>
              <a:stretch>
                <a:fillRect/>
              </a:stretch>
            </a:blipFill>
          </p:spPr>
          <p:txBody>
            <a:bodyPr/>
            <a:lstStyle/>
            <a:p>
              <a:endParaRPr lang="en-US" dirty="0"/>
            </a:p>
          </p:txBody>
        </p:sp>
        <p:sp>
          <p:nvSpPr>
            <p:cNvPr id="52" name="TextBox 6"/>
            <p:cNvSpPr txBox="1"/>
            <p:nvPr/>
          </p:nvSpPr>
          <p:spPr>
            <a:xfrm>
              <a:off x="7053138" y="3770611"/>
              <a:ext cx="5934321" cy="2139470"/>
            </a:xfrm>
            <a:prstGeom prst="rect">
              <a:avLst/>
            </a:prstGeom>
          </p:spPr>
          <p:txBody>
            <a:bodyPr lIns="0" tIns="0" rIns="0" bIns="0" rtlCol="0" anchor="t">
              <a:spAutoFit/>
            </a:bodyPr>
            <a:lstStyle/>
            <a:p>
              <a:pPr algn="ctr">
                <a:lnSpc>
                  <a:spcPts val="7279"/>
                </a:lnSpc>
              </a:pPr>
              <a:r>
                <a:rPr lang="en-US" sz="3200" dirty="0">
                  <a:solidFill>
                    <a:srgbClr val="17375E"/>
                  </a:solidFill>
                  <a:latin typeface="Hobo" panose="020B0604020202020204" charset="0"/>
                  <a:cs typeface="Hobo" panose="020B0604020202020204" charset="0"/>
                </a:rPr>
                <a:t>Types of Writing Tools</a:t>
              </a:r>
              <a:endParaRPr lang="en-US" sz="3200" dirty="0">
                <a:solidFill>
                  <a:srgbClr val="17375E"/>
                </a:solidFill>
                <a:latin typeface="Hobo" panose="020B0604020202020204" charset="0"/>
                <a:ea typeface="Hobo"/>
                <a:cs typeface="Hobo" panose="020B0604020202020204" charset="0"/>
                <a:sym typeface="Hobo"/>
              </a:endParaRPr>
            </a:p>
          </p:txBody>
        </p:sp>
      </p:grpSp>
      <p:sp>
        <p:nvSpPr>
          <p:cNvPr id="54" name="TextBox 53"/>
          <p:cNvSpPr txBox="1"/>
          <p:nvPr/>
        </p:nvSpPr>
        <p:spPr>
          <a:xfrm>
            <a:off x="16687800" y="9268480"/>
            <a:ext cx="1295400" cy="523220"/>
          </a:xfrm>
          <a:prstGeom prst="rect">
            <a:avLst/>
          </a:prstGeom>
          <a:noFill/>
        </p:spPr>
        <p:txBody>
          <a:bodyPr wrap="square" rtlCol="0">
            <a:spAutoFit/>
          </a:bodyPr>
          <a:lstStyle/>
          <a:p>
            <a:r>
              <a:rPr lang="en-US" sz="2800" dirty="0" smtClean="0"/>
              <a:t>2</a:t>
            </a:r>
            <a:endParaRPr lang="en-US" sz="2800" dirty="0"/>
          </a:p>
        </p:txBody>
      </p:sp>
      <p:grpSp>
        <p:nvGrpSpPr>
          <p:cNvPr id="12" name="Group 11"/>
          <p:cNvGrpSpPr/>
          <p:nvPr/>
        </p:nvGrpSpPr>
        <p:grpSpPr>
          <a:xfrm>
            <a:off x="2557911" y="4132054"/>
            <a:ext cx="3304104" cy="1077856"/>
            <a:chOff x="6400799" y="3896167"/>
            <a:chExt cx="7239000" cy="2893353"/>
          </a:xfrm>
        </p:grpSpPr>
        <p:sp>
          <p:nvSpPr>
            <p:cNvPr id="13" name="Freeform 2"/>
            <p:cNvSpPr/>
            <p:nvPr/>
          </p:nvSpPr>
          <p:spPr>
            <a:xfrm>
              <a:off x="6400799" y="4046320"/>
              <a:ext cx="7239000" cy="2743200"/>
            </a:xfrm>
            <a:custGeom>
              <a:avLst/>
              <a:gdLst/>
              <a:ahLst/>
              <a:cxnLst/>
              <a:rect l="l" t="t" r="r" b="b"/>
              <a:pathLst>
                <a:path w="5934317" h="2028458">
                  <a:moveTo>
                    <a:pt x="0" y="0"/>
                  </a:moveTo>
                  <a:lnTo>
                    <a:pt x="5934318" y="0"/>
                  </a:lnTo>
                  <a:lnTo>
                    <a:pt x="5934318" y="2028458"/>
                  </a:lnTo>
                  <a:lnTo>
                    <a:pt x="0" y="2028458"/>
                  </a:lnTo>
                  <a:lnTo>
                    <a:pt x="0" y="0"/>
                  </a:lnTo>
                  <a:close/>
                </a:path>
              </a:pathLst>
            </a:custGeom>
            <a:blipFill>
              <a:blip r:embed="rId3">
                <a:extLst>
                  <a:ext uri="{BEBA8EAE-BF5A-486C-A8C5-ECC9F3942E4B}">
                    <a14:imgProps xmlns:a14="http://schemas.microsoft.com/office/drawing/2010/main">
                      <a14:imgLayer r:embed="rId4">
                        <a14:imgEffect>
                          <a14:artisticPlasticWrap/>
                        </a14:imgEffect>
                      </a14:imgLayer>
                    </a14:imgProps>
                  </a:ext>
                  <a:ext uri="{96DAC541-7B7A-43D3-8B79-37D633B846F1}">
                    <asvg:svgBlip xmlns:asvg="http://schemas.microsoft.com/office/drawing/2016/SVG/main" xmlns="" r:embed="rId5"/>
                  </a:ext>
                </a:extLst>
              </a:blip>
              <a:stretch>
                <a:fillRect/>
              </a:stretch>
            </a:blipFill>
          </p:spPr>
          <p:txBody>
            <a:bodyPr/>
            <a:lstStyle/>
            <a:p>
              <a:endParaRPr lang="en-US" dirty="0"/>
            </a:p>
          </p:txBody>
        </p:sp>
        <p:sp>
          <p:nvSpPr>
            <p:cNvPr id="14" name="TextBox 6"/>
            <p:cNvSpPr txBox="1"/>
            <p:nvPr/>
          </p:nvSpPr>
          <p:spPr>
            <a:xfrm>
              <a:off x="7020652" y="3896167"/>
              <a:ext cx="5934320" cy="2227991"/>
            </a:xfrm>
            <a:prstGeom prst="rect">
              <a:avLst/>
            </a:prstGeom>
          </p:spPr>
          <p:txBody>
            <a:bodyPr lIns="0" tIns="0" rIns="0" bIns="0" rtlCol="0" anchor="t">
              <a:spAutoFit/>
            </a:bodyPr>
            <a:lstStyle/>
            <a:p>
              <a:pPr algn="ctr">
                <a:lnSpc>
                  <a:spcPts val="7279"/>
                </a:lnSpc>
              </a:pPr>
              <a:r>
                <a:rPr lang="en-US" sz="3200" dirty="0" smtClean="0">
                  <a:solidFill>
                    <a:srgbClr val="022C5E"/>
                  </a:solidFill>
                  <a:latin typeface="Hobo"/>
                  <a:ea typeface="Hobo"/>
                  <a:cs typeface="Hobo"/>
                  <a:sym typeface="Hobo"/>
                </a:rPr>
                <a:t>Smolagents</a:t>
              </a:r>
              <a:endParaRPr lang="en-US" sz="3200" dirty="0">
                <a:solidFill>
                  <a:srgbClr val="022C5E"/>
                </a:solidFill>
                <a:latin typeface="Hobo"/>
                <a:ea typeface="Hobo"/>
                <a:cs typeface="Hobo"/>
                <a:sym typeface="Hobo"/>
              </a:endParaRPr>
            </a:p>
          </p:txBody>
        </p:sp>
      </p:grpSp>
      <p:grpSp>
        <p:nvGrpSpPr>
          <p:cNvPr id="15" name="Group 14"/>
          <p:cNvGrpSpPr/>
          <p:nvPr/>
        </p:nvGrpSpPr>
        <p:grpSpPr>
          <a:xfrm>
            <a:off x="1823542" y="3033886"/>
            <a:ext cx="4928367" cy="1021920"/>
            <a:chOff x="6400799" y="4046320"/>
            <a:chExt cx="7239000" cy="2743200"/>
          </a:xfrm>
        </p:grpSpPr>
        <p:sp>
          <p:nvSpPr>
            <p:cNvPr id="16" name="Freeform 2"/>
            <p:cNvSpPr/>
            <p:nvPr/>
          </p:nvSpPr>
          <p:spPr>
            <a:xfrm>
              <a:off x="6400799" y="4046320"/>
              <a:ext cx="7239000" cy="2743200"/>
            </a:xfrm>
            <a:custGeom>
              <a:avLst/>
              <a:gdLst/>
              <a:ahLst/>
              <a:cxnLst/>
              <a:rect l="l" t="t" r="r" b="b"/>
              <a:pathLst>
                <a:path w="5934317" h="2028458">
                  <a:moveTo>
                    <a:pt x="0" y="0"/>
                  </a:moveTo>
                  <a:lnTo>
                    <a:pt x="5934318" y="0"/>
                  </a:lnTo>
                  <a:lnTo>
                    <a:pt x="5934318" y="2028458"/>
                  </a:lnTo>
                  <a:lnTo>
                    <a:pt x="0" y="2028458"/>
                  </a:lnTo>
                  <a:lnTo>
                    <a:pt x="0" y="0"/>
                  </a:lnTo>
                  <a:close/>
                </a:path>
              </a:pathLst>
            </a:custGeom>
            <a:blipFill>
              <a:blip r:embed="rId3">
                <a:extLst>
                  <a:ext uri="{BEBA8EAE-BF5A-486C-A8C5-ECC9F3942E4B}">
                    <a14:imgProps xmlns:a14="http://schemas.microsoft.com/office/drawing/2010/main">
                      <a14:imgLayer r:embed="rId4">
                        <a14:imgEffect>
                          <a14:artisticPlasticWrap/>
                        </a14:imgEffect>
                      </a14:imgLayer>
                    </a14:imgProps>
                  </a:ext>
                  <a:ext uri="{96DAC541-7B7A-43D3-8B79-37D633B846F1}">
                    <asvg:svgBlip xmlns:asvg="http://schemas.microsoft.com/office/drawing/2016/SVG/main" xmlns="" r:embed="rId5"/>
                  </a:ext>
                </a:extLst>
              </a:blip>
              <a:stretch>
                <a:fillRect/>
              </a:stretch>
            </a:blipFill>
          </p:spPr>
          <p:txBody>
            <a:bodyPr/>
            <a:lstStyle/>
            <a:p>
              <a:endParaRPr lang="en-US" dirty="0"/>
            </a:p>
          </p:txBody>
        </p:sp>
        <p:sp>
          <p:nvSpPr>
            <p:cNvPr id="17" name="TextBox 6"/>
            <p:cNvSpPr txBox="1"/>
            <p:nvPr/>
          </p:nvSpPr>
          <p:spPr>
            <a:xfrm>
              <a:off x="7014906" y="4608229"/>
              <a:ext cx="5934320" cy="1321893"/>
            </a:xfrm>
            <a:prstGeom prst="rect">
              <a:avLst/>
            </a:prstGeom>
          </p:spPr>
          <p:txBody>
            <a:bodyPr lIns="0" tIns="0" rIns="0" bIns="0" rtlCol="0" anchor="t">
              <a:spAutoFit/>
            </a:bodyPr>
            <a:lstStyle/>
            <a:p>
              <a:r>
                <a:rPr lang="en-US" sz="3200" dirty="0">
                  <a:solidFill>
                    <a:srgbClr val="17375E"/>
                  </a:solidFill>
                  <a:latin typeface="Hobo" panose="020B0604020202020204" charset="0"/>
                  <a:cs typeface="Hobo" panose="020B0604020202020204" charset="0"/>
                </a:rPr>
                <a:t>Dummy Agent Library</a:t>
              </a:r>
            </a:p>
          </p:txBody>
        </p:sp>
      </p:grpSp>
      <p:grpSp>
        <p:nvGrpSpPr>
          <p:cNvPr id="20" name="Group 19"/>
          <p:cNvGrpSpPr/>
          <p:nvPr/>
        </p:nvGrpSpPr>
        <p:grpSpPr>
          <a:xfrm>
            <a:off x="2576961" y="5170839"/>
            <a:ext cx="3304104" cy="1077856"/>
            <a:chOff x="6400799" y="3896167"/>
            <a:chExt cx="7239000" cy="2893353"/>
          </a:xfrm>
        </p:grpSpPr>
        <p:sp>
          <p:nvSpPr>
            <p:cNvPr id="21" name="Freeform 2"/>
            <p:cNvSpPr/>
            <p:nvPr/>
          </p:nvSpPr>
          <p:spPr>
            <a:xfrm>
              <a:off x="6400799" y="4046320"/>
              <a:ext cx="7239000" cy="2743200"/>
            </a:xfrm>
            <a:custGeom>
              <a:avLst/>
              <a:gdLst/>
              <a:ahLst/>
              <a:cxnLst/>
              <a:rect l="l" t="t" r="r" b="b"/>
              <a:pathLst>
                <a:path w="5934317" h="2028458">
                  <a:moveTo>
                    <a:pt x="0" y="0"/>
                  </a:moveTo>
                  <a:lnTo>
                    <a:pt x="5934318" y="0"/>
                  </a:lnTo>
                  <a:lnTo>
                    <a:pt x="5934318" y="2028458"/>
                  </a:lnTo>
                  <a:lnTo>
                    <a:pt x="0" y="2028458"/>
                  </a:lnTo>
                  <a:lnTo>
                    <a:pt x="0" y="0"/>
                  </a:lnTo>
                  <a:close/>
                </a:path>
              </a:pathLst>
            </a:custGeom>
            <a:blipFill>
              <a:blip r:embed="rId3">
                <a:extLst>
                  <a:ext uri="{BEBA8EAE-BF5A-486C-A8C5-ECC9F3942E4B}">
                    <a14:imgProps xmlns:a14="http://schemas.microsoft.com/office/drawing/2010/main">
                      <a14:imgLayer r:embed="rId4">
                        <a14:imgEffect>
                          <a14:artisticPlasticWrap/>
                        </a14:imgEffect>
                      </a14:imgLayer>
                    </a14:imgProps>
                  </a:ext>
                  <a:ext uri="{96DAC541-7B7A-43D3-8B79-37D633B846F1}">
                    <asvg:svgBlip xmlns:asvg="http://schemas.microsoft.com/office/drawing/2016/SVG/main" xmlns="" r:embed="rId5"/>
                  </a:ext>
                </a:extLst>
              </a:blip>
              <a:stretch>
                <a:fillRect/>
              </a:stretch>
            </a:blipFill>
          </p:spPr>
          <p:txBody>
            <a:bodyPr/>
            <a:lstStyle/>
            <a:p>
              <a:endParaRPr lang="en-US" dirty="0"/>
            </a:p>
          </p:txBody>
        </p:sp>
        <p:sp>
          <p:nvSpPr>
            <p:cNvPr id="22" name="TextBox 6"/>
            <p:cNvSpPr txBox="1"/>
            <p:nvPr/>
          </p:nvSpPr>
          <p:spPr>
            <a:xfrm>
              <a:off x="7020652" y="3896167"/>
              <a:ext cx="5934321" cy="2139469"/>
            </a:xfrm>
            <a:prstGeom prst="rect">
              <a:avLst/>
            </a:prstGeom>
          </p:spPr>
          <p:txBody>
            <a:bodyPr lIns="0" tIns="0" rIns="0" bIns="0" rtlCol="0" anchor="t">
              <a:spAutoFit/>
            </a:bodyPr>
            <a:lstStyle/>
            <a:p>
              <a:pPr algn="ctr">
                <a:lnSpc>
                  <a:spcPts val="7279"/>
                </a:lnSpc>
              </a:pPr>
              <a:r>
                <a:rPr lang="en-US" sz="3200" dirty="0" smtClean="0">
                  <a:solidFill>
                    <a:srgbClr val="022C5E"/>
                  </a:solidFill>
                  <a:latin typeface="Hobo"/>
                  <a:ea typeface="Hobo"/>
                  <a:cs typeface="Hobo"/>
                  <a:sym typeface="Hobo"/>
                </a:rPr>
                <a:t>LlamaIndex</a:t>
              </a:r>
              <a:endParaRPr lang="en-US" sz="3200" dirty="0">
                <a:solidFill>
                  <a:srgbClr val="022C5E"/>
                </a:solidFill>
                <a:latin typeface="Hobo"/>
                <a:ea typeface="Hobo"/>
                <a:cs typeface="Hobo"/>
                <a:sym typeface="Hobo"/>
              </a:endParaRPr>
            </a:p>
          </p:txBody>
        </p:sp>
      </p:grpSp>
      <p:grpSp>
        <p:nvGrpSpPr>
          <p:cNvPr id="23" name="Group 22"/>
          <p:cNvGrpSpPr/>
          <p:nvPr/>
        </p:nvGrpSpPr>
        <p:grpSpPr>
          <a:xfrm>
            <a:off x="2635673" y="6363496"/>
            <a:ext cx="3304104" cy="1077856"/>
            <a:chOff x="6400799" y="3896167"/>
            <a:chExt cx="7239000" cy="2893353"/>
          </a:xfrm>
        </p:grpSpPr>
        <p:sp>
          <p:nvSpPr>
            <p:cNvPr id="27" name="Freeform 2"/>
            <p:cNvSpPr/>
            <p:nvPr/>
          </p:nvSpPr>
          <p:spPr>
            <a:xfrm>
              <a:off x="6400799" y="4046320"/>
              <a:ext cx="7239000" cy="2743200"/>
            </a:xfrm>
            <a:custGeom>
              <a:avLst/>
              <a:gdLst/>
              <a:ahLst/>
              <a:cxnLst/>
              <a:rect l="l" t="t" r="r" b="b"/>
              <a:pathLst>
                <a:path w="5934317" h="2028458">
                  <a:moveTo>
                    <a:pt x="0" y="0"/>
                  </a:moveTo>
                  <a:lnTo>
                    <a:pt x="5934318" y="0"/>
                  </a:lnTo>
                  <a:lnTo>
                    <a:pt x="5934318" y="2028458"/>
                  </a:lnTo>
                  <a:lnTo>
                    <a:pt x="0" y="2028458"/>
                  </a:lnTo>
                  <a:lnTo>
                    <a:pt x="0" y="0"/>
                  </a:lnTo>
                  <a:close/>
                </a:path>
              </a:pathLst>
            </a:custGeom>
            <a:blipFill>
              <a:blip r:embed="rId3">
                <a:extLst>
                  <a:ext uri="{BEBA8EAE-BF5A-486C-A8C5-ECC9F3942E4B}">
                    <a14:imgProps xmlns:a14="http://schemas.microsoft.com/office/drawing/2010/main">
                      <a14:imgLayer r:embed="rId4">
                        <a14:imgEffect>
                          <a14:artisticPlasticWrap/>
                        </a14:imgEffect>
                      </a14:imgLayer>
                    </a14:imgProps>
                  </a:ext>
                  <a:ext uri="{96DAC541-7B7A-43D3-8B79-37D633B846F1}">
                    <asvg:svgBlip xmlns:asvg="http://schemas.microsoft.com/office/drawing/2016/SVG/main" xmlns="" r:embed="rId5"/>
                  </a:ext>
                </a:extLst>
              </a:blip>
              <a:stretch>
                <a:fillRect/>
              </a:stretch>
            </a:blipFill>
          </p:spPr>
          <p:txBody>
            <a:bodyPr/>
            <a:lstStyle/>
            <a:p>
              <a:endParaRPr lang="en-US" dirty="0"/>
            </a:p>
          </p:txBody>
        </p:sp>
        <p:sp>
          <p:nvSpPr>
            <p:cNvPr id="28" name="TextBox 6"/>
            <p:cNvSpPr txBox="1"/>
            <p:nvPr/>
          </p:nvSpPr>
          <p:spPr>
            <a:xfrm>
              <a:off x="7020652" y="3896167"/>
              <a:ext cx="5934321" cy="2139469"/>
            </a:xfrm>
            <a:prstGeom prst="rect">
              <a:avLst/>
            </a:prstGeom>
          </p:spPr>
          <p:txBody>
            <a:bodyPr lIns="0" tIns="0" rIns="0" bIns="0" rtlCol="0" anchor="t">
              <a:spAutoFit/>
            </a:bodyPr>
            <a:lstStyle/>
            <a:p>
              <a:pPr algn="ctr">
                <a:lnSpc>
                  <a:spcPts val="7279"/>
                </a:lnSpc>
              </a:pPr>
              <a:r>
                <a:rPr lang="en-US" sz="3200" dirty="0" smtClean="0">
                  <a:solidFill>
                    <a:srgbClr val="022C5E"/>
                  </a:solidFill>
                  <a:latin typeface="Hobo"/>
                  <a:ea typeface="Hobo"/>
                  <a:cs typeface="Hobo"/>
                  <a:sym typeface="Hobo"/>
                </a:rPr>
                <a:t>LangGraph</a:t>
              </a:r>
              <a:endParaRPr lang="en-US" sz="3200" dirty="0">
                <a:solidFill>
                  <a:srgbClr val="022C5E"/>
                </a:solidFill>
                <a:latin typeface="Hobo"/>
                <a:ea typeface="Hobo"/>
                <a:cs typeface="Hobo"/>
                <a:sym typeface="Hobo"/>
              </a:endParaRPr>
            </a:p>
          </p:txBody>
        </p:sp>
      </p:gr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Effect transition="in" filter="fade">
                                      <p:cBhvr>
                                        <p:cTn id="9" dur="500"/>
                                        <p:tgtEl>
                                          <p:spTgt spid="2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50"/>
                                        </p:tgtEl>
                                        <p:attrNameLst>
                                          <p:attrName>style.visibility</p:attrName>
                                        </p:attrNameLst>
                                      </p:cBhvr>
                                      <p:to>
                                        <p:strVal val="visible"/>
                                      </p:to>
                                    </p:set>
                                    <p:anim calcmode="lin" valueType="num">
                                      <p:cBhvr>
                                        <p:cTn id="14" dur="500" fill="hold"/>
                                        <p:tgtEl>
                                          <p:spTgt spid="50"/>
                                        </p:tgtEl>
                                        <p:attrNameLst>
                                          <p:attrName>ppt_w</p:attrName>
                                        </p:attrNameLst>
                                      </p:cBhvr>
                                      <p:tavLst>
                                        <p:tav tm="0">
                                          <p:val>
                                            <p:fltVal val="0"/>
                                          </p:val>
                                        </p:tav>
                                        <p:tav tm="100000">
                                          <p:val>
                                            <p:strVal val="#ppt_w"/>
                                          </p:val>
                                        </p:tav>
                                      </p:tavLst>
                                    </p:anim>
                                    <p:anim calcmode="lin" valueType="num">
                                      <p:cBhvr>
                                        <p:cTn id="15" dur="500" fill="hold"/>
                                        <p:tgtEl>
                                          <p:spTgt spid="50"/>
                                        </p:tgtEl>
                                        <p:attrNameLst>
                                          <p:attrName>ppt_h</p:attrName>
                                        </p:attrNameLst>
                                      </p:cBhvr>
                                      <p:tavLst>
                                        <p:tav tm="0">
                                          <p:val>
                                            <p:fltVal val="0"/>
                                          </p:val>
                                        </p:tav>
                                        <p:tav tm="100000">
                                          <p:val>
                                            <p:strVal val="#ppt_h"/>
                                          </p:val>
                                        </p:tav>
                                      </p:tavLst>
                                    </p:anim>
                                    <p:animEffect transition="in" filter="fade">
                                      <p:cBhvr>
                                        <p:cTn id="16" dur="500"/>
                                        <p:tgtEl>
                                          <p:spTgt spid="50"/>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p:cTn id="21" dur="500" fill="hold"/>
                                        <p:tgtEl>
                                          <p:spTgt spid="15"/>
                                        </p:tgtEl>
                                        <p:attrNameLst>
                                          <p:attrName>ppt_w</p:attrName>
                                        </p:attrNameLst>
                                      </p:cBhvr>
                                      <p:tavLst>
                                        <p:tav tm="0">
                                          <p:val>
                                            <p:fltVal val="0"/>
                                          </p:val>
                                        </p:tav>
                                        <p:tav tm="100000">
                                          <p:val>
                                            <p:strVal val="#ppt_w"/>
                                          </p:val>
                                        </p:tav>
                                      </p:tavLst>
                                    </p:anim>
                                    <p:anim calcmode="lin" valueType="num">
                                      <p:cBhvr>
                                        <p:cTn id="22" dur="500" fill="hold"/>
                                        <p:tgtEl>
                                          <p:spTgt spid="15"/>
                                        </p:tgtEl>
                                        <p:attrNameLst>
                                          <p:attrName>ppt_h</p:attrName>
                                        </p:attrNameLst>
                                      </p:cBhvr>
                                      <p:tavLst>
                                        <p:tav tm="0">
                                          <p:val>
                                            <p:fltVal val="0"/>
                                          </p:val>
                                        </p:tav>
                                        <p:tav tm="100000">
                                          <p:val>
                                            <p:strVal val="#ppt_h"/>
                                          </p:val>
                                        </p:tav>
                                      </p:tavLst>
                                    </p:anim>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p:cTn id="28" dur="500" fill="hold"/>
                                        <p:tgtEl>
                                          <p:spTgt spid="12"/>
                                        </p:tgtEl>
                                        <p:attrNameLst>
                                          <p:attrName>ppt_w</p:attrName>
                                        </p:attrNameLst>
                                      </p:cBhvr>
                                      <p:tavLst>
                                        <p:tav tm="0">
                                          <p:val>
                                            <p:fltVal val="0"/>
                                          </p:val>
                                        </p:tav>
                                        <p:tav tm="100000">
                                          <p:val>
                                            <p:strVal val="#ppt_w"/>
                                          </p:val>
                                        </p:tav>
                                      </p:tavLst>
                                    </p:anim>
                                    <p:anim calcmode="lin" valueType="num">
                                      <p:cBhvr>
                                        <p:cTn id="29" dur="500" fill="hold"/>
                                        <p:tgtEl>
                                          <p:spTgt spid="12"/>
                                        </p:tgtEl>
                                        <p:attrNameLst>
                                          <p:attrName>ppt_h</p:attrName>
                                        </p:attrNameLst>
                                      </p:cBhvr>
                                      <p:tavLst>
                                        <p:tav tm="0">
                                          <p:val>
                                            <p:fltVal val="0"/>
                                          </p:val>
                                        </p:tav>
                                        <p:tav tm="100000">
                                          <p:val>
                                            <p:strVal val="#ppt_h"/>
                                          </p:val>
                                        </p:tav>
                                      </p:tavLst>
                                    </p:anim>
                                    <p:animEffect transition="in" filter="fade">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20"/>
                                        </p:tgtEl>
                                        <p:attrNameLst>
                                          <p:attrName>style.visibility</p:attrName>
                                        </p:attrNameLst>
                                      </p:cBhvr>
                                      <p:to>
                                        <p:strVal val="visible"/>
                                      </p:to>
                                    </p:set>
                                    <p:anim calcmode="lin" valueType="num">
                                      <p:cBhvr>
                                        <p:cTn id="35" dur="500" fill="hold"/>
                                        <p:tgtEl>
                                          <p:spTgt spid="20"/>
                                        </p:tgtEl>
                                        <p:attrNameLst>
                                          <p:attrName>ppt_w</p:attrName>
                                        </p:attrNameLst>
                                      </p:cBhvr>
                                      <p:tavLst>
                                        <p:tav tm="0">
                                          <p:val>
                                            <p:fltVal val="0"/>
                                          </p:val>
                                        </p:tav>
                                        <p:tav tm="100000">
                                          <p:val>
                                            <p:strVal val="#ppt_w"/>
                                          </p:val>
                                        </p:tav>
                                      </p:tavLst>
                                    </p:anim>
                                    <p:anim calcmode="lin" valueType="num">
                                      <p:cBhvr>
                                        <p:cTn id="36" dur="500" fill="hold"/>
                                        <p:tgtEl>
                                          <p:spTgt spid="20"/>
                                        </p:tgtEl>
                                        <p:attrNameLst>
                                          <p:attrName>ppt_h</p:attrName>
                                        </p:attrNameLst>
                                      </p:cBhvr>
                                      <p:tavLst>
                                        <p:tav tm="0">
                                          <p:val>
                                            <p:fltVal val="0"/>
                                          </p:val>
                                        </p:tav>
                                        <p:tav tm="100000">
                                          <p:val>
                                            <p:strVal val="#ppt_h"/>
                                          </p:val>
                                        </p:tav>
                                      </p:tavLst>
                                    </p:anim>
                                    <p:animEffect transition="in" filter="fade">
                                      <p:cBhvr>
                                        <p:cTn id="37" dur="5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23"/>
                                        </p:tgtEl>
                                        <p:attrNameLst>
                                          <p:attrName>style.visibility</p:attrName>
                                        </p:attrNameLst>
                                      </p:cBhvr>
                                      <p:to>
                                        <p:strVal val="visible"/>
                                      </p:to>
                                    </p:set>
                                    <p:anim calcmode="lin" valueType="num">
                                      <p:cBhvr>
                                        <p:cTn id="42" dur="500" fill="hold"/>
                                        <p:tgtEl>
                                          <p:spTgt spid="23"/>
                                        </p:tgtEl>
                                        <p:attrNameLst>
                                          <p:attrName>ppt_w</p:attrName>
                                        </p:attrNameLst>
                                      </p:cBhvr>
                                      <p:tavLst>
                                        <p:tav tm="0">
                                          <p:val>
                                            <p:fltVal val="0"/>
                                          </p:val>
                                        </p:tav>
                                        <p:tav tm="100000">
                                          <p:val>
                                            <p:strVal val="#ppt_w"/>
                                          </p:val>
                                        </p:tav>
                                      </p:tavLst>
                                    </p:anim>
                                    <p:anim calcmode="lin" valueType="num">
                                      <p:cBhvr>
                                        <p:cTn id="43" dur="500" fill="hold"/>
                                        <p:tgtEl>
                                          <p:spTgt spid="23"/>
                                        </p:tgtEl>
                                        <p:attrNameLst>
                                          <p:attrName>ppt_h</p:attrName>
                                        </p:attrNameLst>
                                      </p:cBhvr>
                                      <p:tavLst>
                                        <p:tav tm="0">
                                          <p:val>
                                            <p:fltVal val="0"/>
                                          </p:val>
                                        </p:tav>
                                        <p:tav tm="100000">
                                          <p:val>
                                            <p:strVal val="#ppt_h"/>
                                          </p:val>
                                        </p:tav>
                                      </p:tavLst>
                                    </p:anim>
                                    <p:animEffect transition="in" filter="fade">
                                      <p:cBhvr>
                                        <p:cTn id="4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67720" y="8031009"/>
            <a:ext cx="16805381" cy="9025890"/>
          </a:xfrm>
          <a:custGeom>
            <a:avLst/>
            <a:gdLst/>
            <a:ahLst/>
            <a:cxnLst/>
            <a:rect l="l" t="t" r="r" b="b"/>
            <a:pathLst>
              <a:path w="16805381" h="9025890">
                <a:moveTo>
                  <a:pt x="0" y="0"/>
                </a:moveTo>
                <a:lnTo>
                  <a:pt x="16805381" y="0"/>
                </a:lnTo>
                <a:lnTo>
                  <a:pt x="16805381" y="9025890"/>
                </a:lnTo>
                <a:lnTo>
                  <a:pt x="0" y="9025890"/>
                </a:lnTo>
                <a:lnTo>
                  <a:pt x="0" y="0"/>
                </a:lnTo>
                <a:close/>
              </a:path>
            </a:pathLst>
          </a:custGeom>
          <a:blipFill>
            <a:blip r:embed="rId2">
              <a:alphaModFix amt="85000"/>
            </a:blip>
            <a:stretch>
              <a:fillRect/>
            </a:stretch>
          </a:blipFill>
        </p:spPr>
      </p:sp>
      <p:sp>
        <p:nvSpPr>
          <p:cNvPr id="8" name="Freeform 8"/>
          <p:cNvSpPr/>
          <p:nvPr/>
        </p:nvSpPr>
        <p:spPr>
          <a:xfrm>
            <a:off x="10910287" y="-6589014"/>
            <a:ext cx="16805381" cy="9025890"/>
          </a:xfrm>
          <a:custGeom>
            <a:avLst/>
            <a:gdLst/>
            <a:ahLst/>
            <a:cxnLst/>
            <a:rect l="l" t="t" r="r" b="b"/>
            <a:pathLst>
              <a:path w="16805381" h="9025890">
                <a:moveTo>
                  <a:pt x="0" y="0"/>
                </a:moveTo>
                <a:lnTo>
                  <a:pt x="16805381" y="0"/>
                </a:lnTo>
                <a:lnTo>
                  <a:pt x="16805381" y="9025890"/>
                </a:lnTo>
                <a:lnTo>
                  <a:pt x="0" y="9025890"/>
                </a:lnTo>
                <a:lnTo>
                  <a:pt x="0" y="0"/>
                </a:lnTo>
                <a:close/>
              </a:path>
            </a:pathLst>
          </a:custGeom>
          <a:blipFill>
            <a:blip r:embed="rId2">
              <a:alphaModFix amt="85000"/>
            </a:blip>
            <a:stretch>
              <a:fillRect/>
            </a:stretch>
          </a:blipFill>
        </p:spPr>
      </p:sp>
      <p:sp>
        <p:nvSpPr>
          <p:cNvPr id="19" name="TextBox 19"/>
          <p:cNvSpPr txBox="1"/>
          <p:nvPr/>
        </p:nvSpPr>
        <p:spPr>
          <a:xfrm>
            <a:off x="6096000" y="4381500"/>
            <a:ext cx="9220200" cy="1243930"/>
          </a:xfrm>
          <a:prstGeom prst="rect">
            <a:avLst/>
          </a:prstGeom>
        </p:spPr>
        <p:txBody>
          <a:bodyPr wrap="square" lIns="0" tIns="0" rIns="0" bIns="0" rtlCol="0" anchor="t">
            <a:spAutoFit/>
          </a:bodyPr>
          <a:lstStyle/>
          <a:p>
            <a:pPr algn="ctr">
              <a:lnSpc>
                <a:spcPts val="9672"/>
              </a:lnSpc>
            </a:pPr>
            <a:r>
              <a:rPr lang="en-US" sz="9300" dirty="0" smtClean="0">
                <a:solidFill>
                  <a:srgbClr val="022C5E"/>
                </a:solidFill>
                <a:latin typeface="Sergio Trendy"/>
                <a:ea typeface="Sergio Trendy"/>
                <a:cs typeface="Sergio Trendy"/>
                <a:sym typeface="Sergio Trendy"/>
              </a:rPr>
              <a:t>Hugging Face</a:t>
            </a:r>
            <a:endParaRPr lang="en-US" sz="9300" dirty="0">
              <a:solidFill>
                <a:srgbClr val="022C5E"/>
              </a:solidFill>
              <a:latin typeface="Sergio Trendy"/>
              <a:ea typeface="Sergio Trendy"/>
              <a:cs typeface="Sergio Trendy"/>
              <a:sym typeface="Sergio Trendy"/>
            </a:endParaRPr>
          </a:p>
        </p:txBody>
      </p:sp>
      <p:sp>
        <p:nvSpPr>
          <p:cNvPr id="48" name="TextBox 47"/>
          <p:cNvSpPr txBox="1"/>
          <p:nvPr/>
        </p:nvSpPr>
        <p:spPr>
          <a:xfrm>
            <a:off x="16687800" y="9182100"/>
            <a:ext cx="1295400" cy="523220"/>
          </a:xfrm>
          <a:prstGeom prst="rect">
            <a:avLst/>
          </a:prstGeom>
          <a:noFill/>
        </p:spPr>
        <p:txBody>
          <a:bodyPr wrap="square" rtlCol="0">
            <a:spAutoFit/>
          </a:bodyPr>
          <a:lstStyle/>
          <a:p>
            <a:r>
              <a:rPr lang="en-US" sz="2800" dirty="0"/>
              <a:t>3</a:t>
            </a:r>
          </a:p>
        </p:txBody>
      </p:sp>
    </p:spTree>
    <p:extLst>
      <p:ext uri="{BB962C8B-B14F-4D97-AF65-F5344CB8AC3E}">
        <p14:creationId xmlns:p14="http://schemas.microsoft.com/office/powerpoint/2010/main" val="3198824700"/>
      </p:ext>
    </p:extLst>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76502" y="1309524"/>
            <a:ext cx="5934317" cy="2028458"/>
          </a:xfrm>
          <a:custGeom>
            <a:avLst/>
            <a:gdLst/>
            <a:ahLst/>
            <a:cxnLst/>
            <a:rect l="l" t="t" r="r" b="b"/>
            <a:pathLst>
              <a:path w="5934317" h="2028458">
                <a:moveTo>
                  <a:pt x="0" y="0"/>
                </a:moveTo>
                <a:lnTo>
                  <a:pt x="5934318" y="0"/>
                </a:lnTo>
                <a:lnTo>
                  <a:pt x="5934318" y="2028458"/>
                </a:lnTo>
                <a:lnTo>
                  <a:pt x="0" y="2028458"/>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3" name="Freeform 3"/>
          <p:cNvSpPr/>
          <p:nvPr/>
        </p:nvSpPr>
        <p:spPr>
          <a:xfrm>
            <a:off x="-3303104" y="8865103"/>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5">
              <a:alphaModFix amt="80000"/>
            </a:blip>
            <a:stretch>
              <a:fillRect/>
            </a:stretch>
          </a:blipFill>
        </p:spPr>
      </p:sp>
      <p:sp>
        <p:nvSpPr>
          <p:cNvPr id="4" name="Freeform 4"/>
          <p:cNvSpPr/>
          <p:nvPr/>
        </p:nvSpPr>
        <p:spPr>
          <a:xfrm>
            <a:off x="7721735" y="-6604364"/>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5">
              <a:alphaModFix amt="78000"/>
            </a:blip>
            <a:stretch>
              <a:fillRect/>
            </a:stretch>
          </a:blipFill>
        </p:spPr>
      </p:sp>
      <p:sp>
        <p:nvSpPr>
          <p:cNvPr id="5" name="TextBox 5"/>
          <p:cNvSpPr txBox="1"/>
          <p:nvPr/>
        </p:nvSpPr>
        <p:spPr>
          <a:xfrm>
            <a:off x="1676400" y="3848100"/>
            <a:ext cx="14326607" cy="2723053"/>
          </a:xfrm>
          <a:prstGeom prst="rect">
            <a:avLst/>
          </a:prstGeom>
        </p:spPr>
        <p:txBody>
          <a:bodyPr lIns="0" tIns="0" rIns="0" bIns="0" rtlCol="0" anchor="t">
            <a:spAutoFit/>
          </a:bodyPr>
          <a:lstStyle/>
          <a:p>
            <a:pPr>
              <a:lnSpc>
                <a:spcPts val="4311"/>
              </a:lnSpc>
            </a:pPr>
            <a:r>
              <a:rPr lang="en-US" sz="3080" dirty="0">
                <a:solidFill>
                  <a:schemeClr val="tx2">
                    <a:lumMod val="75000"/>
                  </a:schemeClr>
                </a:solidFill>
                <a:latin typeface="Open Sans" panose="020B0604020202020204" charset="0"/>
                <a:ea typeface="Open Sans" panose="020B0604020202020204" charset="0"/>
                <a:cs typeface="Open Sans" panose="020B0604020202020204" charset="0"/>
              </a:rPr>
              <a:t>Hugging Face is a platform and library for leveraging machine learning models for a wide range of tasks, including conversational AI, natural language processing, computer vision, and sentiment analysis and classification. By offering pre-trained models and an open-source library, Hugging Face makes it easier for you to integrate AI technologies into your </a:t>
            </a:r>
            <a:r>
              <a:rPr lang="en-US" sz="3080" dirty="0" smtClean="0">
                <a:solidFill>
                  <a:schemeClr val="tx2">
                    <a:lumMod val="75000"/>
                  </a:schemeClr>
                </a:solidFill>
                <a:latin typeface="Open Sans" panose="020B0604020202020204" charset="0"/>
                <a:ea typeface="Open Sans" panose="020B0604020202020204" charset="0"/>
                <a:cs typeface="Open Sans" panose="020B0604020202020204" charset="0"/>
              </a:rPr>
              <a:t>applications</a:t>
            </a:r>
            <a:r>
              <a:rPr lang="en-US" sz="3080" dirty="0">
                <a:solidFill>
                  <a:schemeClr val="tx2">
                    <a:lumMod val="75000"/>
                  </a:schemeClr>
                </a:solidFill>
                <a:latin typeface="Open Sans" panose="020B0604020202020204" charset="0"/>
                <a:ea typeface="Open Sans" panose="020B0604020202020204" charset="0"/>
                <a:cs typeface="Open Sans" panose="020B0604020202020204" charset="0"/>
              </a:rPr>
              <a:t> </a:t>
            </a:r>
            <a:r>
              <a:rPr lang="en-US" sz="3080" dirty="0" smtClean="0">
                <a:solidFill>
                  <a:schemeClr val="tx2">
                    <a:lumMod val="75000"/>
                  </a:schemeClr>
                </a:solidFill>
                <a:latin typeface="Open Sans" panose="020B0604020202020204" charset="0"/>
                <a:ea typeface="Open Sans" panose="020B0604020202020204" charset="0"/>
                <a:cs typeface="Open Sans" panose="020B0604020202020204" charset="0"/>
                <a:hlinkClick r:id="rId6" action="ppaction://hlinksldjump"/>
              </a:rPr>
              <a:t>[1]</a:t>
            </a:r>
            <a:r>
              <a:rPr lang="en-US" sz="3080" dirty="0" smtClean="0">
                <a:solidFill>
                  <a:schemeClr val="tx2">
                    <a:lumMod val="75000"/>
                  </a:schemeClr>
                </a:solidFill>
                <a:latin typeface="Open Sans" panose="020B0604020202020204" charset="0"/>
                <a:ea typeface="Open Sans" panose="020B0604020202020204" charset="0"/>
                <a:cs typeface="Open Sans" panose="020B0604020202020204" charset="0"/>
              </a:rPr>
              <a:t>.</a:t>
            </a:r>
            <a:endParaRPr lang="en-US" sz="3080" dirty="0">
              <a:solidFill>
                <a:schemeClr val="tx2">
                  <a:lumMod val="75000"/>
                </a:schemeClr>
              </a:solidFill>
              <a:latin typeface="Open Sans" panose="020B0604020202020204" charset="0"/>
              <a:ea typeface="Open Sans" panose="020B0604020202020204" charset="0"/>
              <a:cs typeface="Open Sans" panose="020B0604020202020204" charset="0"/>
              <a:sym typeface="Open Sans"/>
            </a:endParaRPr>
          </a:p>
        </p:txBody>
      </p:sp>
      <p:sp>
        <p:nvSpPr>
          <p:cNvPr id="6" name="TextBox 6"/>
          <p:cNvSpPr txBox="1"/>
          <p:nvPr/>
        </p:nvSpPr>
        <p:spPr>
          <a:xfrm>
            <a:off x="1176502" y="1810810"/>
            <a:ext cx="5934317" cy="887095"/>
          </a:xfrm>
          <a:prstGeom prst="rect">
            <a:avLst/>
          </a:prstGeom>
        </p:spPr>
        <p:txBody>
          <a:bodyPr lIns="0" tIns="0" rIns="0" bIns="0" rtlCol="0" anchor="t">
            <a:spAutoFit/>
          </a:bodyPr>
          <a:lstStyle/>
          <a:p>
            <a:pPr algn="ctr">
              <a:lnSpc>
                <a:spcPts val="7279"/>
              </a:lnSpc>
            </a:pPr>
            <a:r>
              <a:rPr lang="en-US" sz="5199" dirty="0">
                <a:solidFill>
                  <a:srgbClr val="022C5E"/>
                </a:solidFill>
                <a:latin typeface="Hobo"/>
                <a:ea typeface="Hobo"/>
                <a:cs typeface="Hobo"/>
                <a:sym typeface="Hobo"/>
              </a:rPr>
              <a:t>Introduction </a:t>
            </a:r>
          </a:p>
        </p:txBody>
      </p:sp>
      <p:sp>
        <p:nvSpPr>
          <p:cNvPr id="9" name="TextBox 8"/>
          <p:cNvSpPr txBox="1"/>
          <p:nvPr/>
        </p:nvSpPr>
        <p:spPr>
          <a:xfrm>
            <a:off x="16687800" y="9182100"/>
            <a:ext cx="1295400" cy="523220"/>
          </a:xfrm>
          <a:prstGeom prst="rect">
            <a:avLst/>
          </a:prstGeom>
          <a:noFill/>
        </p:spPr>
        <p:txBody>
          <a:bodyPr wrap="square" rtlCol="0">
            <a:spAutoFit/>
          </a:bodyPr>
          <a:lstStyle/>
          <a:p>
            <a:r>
              <a:rPr lang="en-US" sz="2800" dirty="0"/>
              <a:t>4</a:t>
            </a:r>
          </a:p>
        </p:txBody>
      </p:sp>
    </p:spTree>
    <p:extLst>
      <p:ext uri="{BB962C8B-B14F-4D97-AF65-F5344CB8AC3E}">
        <p14:creationId xmlns:p14="http://schemas.microsoft.com/office/powerpoint/2010/main" val="150539498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B0DBF8"/>
        </a:solidFill>
        <a:effectLst/>
      </p:bgPr>
    </p:bg>
    <p:spTree>
      <p:nvGrpSpPr>
        <p:cNvPr id="1" name=""/>
        <p:cNvGrpSpPr/>
        <p:nvPr/>
      </p:nvGrpSpPr>
      <p:grpSpPr>
        <a:xfrm>
          <a:off x="0" y="0"/>
          <a:ext cx="0" cy="0"/>
          <a:chOff x="0" y="0"/>
          <a:chExt cx="0" cy="0"/>
        </a:xfrm>
      </p:grpSpPr>
      <p:sp>
        <p:nvSpPr>
          <p:cNvPr id="6" name="Freeform 6"/>
          <p:cNvSpPr/>
          <p:nvPr/>
        </p:nvSpPr>
        <p:spPr>
          <a:xfrm>
            <a:off x="7542037" y="-6186671"/>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grpSp>
        <p:nvGrpSpPr>
          <p:cNvPr id="7" name="Group 6"/>
          <p:cNvGrpSpPr/>
          <p:nvPr/>
        </p:nvGrpSpPr>
        <p:grpSpPr>
          <a:xfrm>
            <a:off x="5791200" y="700370"/>
            <a:ext cx="5934317" cy="2028458"/>
            <a:chOff x="1028700" y="1028700"/>
            <a:chExt cx="5934317" cy="2028458"/>
          </a:xfrm>
        </p:grpSpPr>
        <p:sp>
          <p:nvSpPr>
            <p:cNvPr id="2" name="Freeform 2"/>
            <p:cNvSpPr/>
            <p:nvPr/>
          </p:nvSpPr>
          <p:spPr>
            <a:xfrm>
              <a:off x="1028700" y="1028700"/>
              <a:ext cx="5934317" cy="2028458"/>
            </a:xfrm>
            <a:custGeom>
              <a:avLst/>
              <a:gdLst/>
              <a:ahLst/>
              <a:cxnLst/>
              <a:rect l="l" t="t" r="r" b="b"/>
              <a:pathLst>
                <a:path w="5934317" h="2028458">
                  <a:moveTo>
                    <a:pt x="0" y="0"/>
                  </a:moveTo>
                  <a:lnTo>
                    <a:pt x="5934317" y="0"/>
                  </a:lnTo>
                  <a:lnTo>
                    <a:pt x="5934317" y="2028458"/>
                  </a:lnTo>
                  <a:lnTo>
                    <a:pt x="0" y="202845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TextBox 4"/>
            <p:cNvSpPr txBox="1"/>
            <p:nvPr/>
          </p:nvSpPr>
          <p:spPr>
            <a:xfrm>
              <a:off x="1028700" y="1529986"/>
              <a:ext cx="5934317" cy="887095"/>
            </a:xfrm>
            <a:prstGeom prst="rect">
              <a:avLst/>
            </a:prstGeom>
          </p:spPr>
          <p:txBody>
            <a:bodyPr lIns="0" tIns="0" rIns="0" bIns="0" rtlCol="0" anchor="t">
              <a:spAutoFit/>
            </a:bodyPr>
            <a:lstStyle/>
            <a:p>
              <a:pPr algn="ctr">
                <a:lnSpc>
                  <a:spcPts val="7279"/>
                </a:lnSpc>
              </a:pPr>
              <a:r>
                <a:rPr lang="en-US" sz="5199" dirty="0" smtClean="0">
                  <a:solidFill>
                    <a:srgbClr val="022C5E"/>
                  </a:solidFill>
                  <a:latin typeface="Hobo"/>
                  <a:ea typeface="Hobo"/>
                  <a:cs typeface="Hobo"/>
                  <a:sym typeface="Hobo"/>
                </a:rPr>
                <a:t>Components</a:t>
              </a:r>
              <a:endParaRPr lang="en-US" sz="5199" dirty="0">
                <a:solidFill>
                  <a:srgbClr val="022C5E"/>
                </a:solidFill>
                <a:latin typeface="Hobo"/>
                <a:ea typeface="Hobo"/>
                <a:cs typeface="Hobo"/>
                <a:sym typeface="Hobo"/>
              </a:endParaRPr>
            </a:p>
          </p:txBody>
        </p:sp>
      </p:grpSp>
      <p:sp>
        <p:nvSpPr>
          <p:cNvPr id="3" name="Freeform 3"/>
          <p:cNvSpPr/>
          <p:nvPr/>
        </p:nvSpPr>
        <p:spPr>
          <a:xfrm>
            <a:off x="8350352" y="8435717"/>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grpSp>
        <p:nvGrpSpPr>
          <p:cNvPr id="8" name="Group 7"/>
          <p:cNvGrpSpPr/>
          <p:nvPr/>
        </p:nvGrpSpPr>
        <p:grpSpPr>
          <a:xfrm>
            <a:off x="12365489" y="4756066"/>
            <a:ext cx="5934317" cy="2028458"/>
            <a:chOff x="1028700" y="1028700"/>
            <a:chExt cx="5934317" cy="2028458"/>
          </a:xfrm>
        </p:grpSpPr>
        <p:sp>
          <p:nvSpPr>
            <p:cNvPr id="9" name="Freeform 2"/>
            <p:cNvSpPr/>
            <p:nvPr/>
          </p:nvSpPr>
          <p:spPr>
            <a:xfrm>
              <a:off x="1028700" y="1028700"/>
              <a:ext cx="5934317" cy="2028458"/>
            </a:xfrm>
            <a:custGeom>
              <a:avLst/>
              <a:gdLst/>
              <a:ahLst/>
              <a:cxnLst/>
              <a:rect l="l" t="t" r="r" b="b"/>
              <a:pathLst>
                <a:path w="5934317" h="2028458">
                  <a:moveTo>
                    <a:pt x="0" y="0"/>
                  </a:moveTo>
                  <a:lnTo>
                    <a:pt x="5934317" y="0"/>
                  </a:lnTo>
                  <a:lnTo>
                    <a:pt x="5934317" y="2028458"/>
                  </a:lnTo>
                  <a:lnTo>
                    <a:pt x="0" y="202845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0" name="TextBox 4"/>
            <p:cNvSpPr txBox="1"/>
            <p:nvPr/>
          </p:nvSpPr>
          <p:spPr>
            <a:xfrm>
              <a:off x="1028700" y="1529986"/>
              <a:ext cx="5934317" cy="873509"/>
            </a:xfrm>
            <a:prstGeom prst="rect">
              <a:avLst/>
            </a:prstGeom>
          </p:spPr>
          <p:txBody>
            <a:bodyPr lIns="0" tIns="0" rIns="0" bIns="0" rtlCol="0" anchor="t">
              <a:spAutoFit/>
            </a:bodyPr>
            <a:lstStyle/>
            <a:p>
              <a:pPr algn="ctr">
                <a:lnSpc>
                  <a:spcPts val="7279"/>
                </a:lnSpc>
              </a:pPr>
              <a:r>
                <a:rPr lang="en-US" sz="5200" dirty="0">
                  <a:solidFill>
                    <a:schemeClr val="tx2">
                      <a:lumMod val="75000"/>
                    </a:schemeClr>
                  </a:solidFill>
                  <a:latin typeface="Hobo" panose="020B0604020202020204" charset="0"/>
                </a:rPr>
                <a:t>Model Hub</a:t>
              </a:r>
              <a:endParaRPr lang="en-US" sz="5200" dirty="0">
                <a:solidFill>
                  <a:schemeClr val="tx2">
                    <a:lumMod val="75000"/>
                  </a:schemeClr>
                </a:solidFill>
                <a:latin typeface="Hobo" panose="020B0604020202020204" charset="0"/>
                <a:ea typeface="Hobo"/>
                <a:cs typeface="Hobo"/>
                <a:sym typeface="Hobo"/>
              </a:endParaRPr>
            </a:p>
          </p:txBody>
        </p:sp>
      </p:grpSp>
      <p:grpSp>
        <p:nvGrpSpPr>
          <p:cNvPr id="11" name="Group 10"/>
          <p:cNvGrpSpPr/>
          <p:nvPr/>
        </p:nvGrpSpPr>
        <p:grpSpPr>
          <a:xfrm>
            <a:off x="0" y="4905294"/>
            <a:ext cx="5996143" cy="2028458"/>
            <a:chOff x="966874" y="1028700"/>
            <a:chExt cx="5996143" cy="2028458"/>
          </a:xfrm>
        </p:grpSpPr>
        <p:sp>
          <p:nvSpPr>
            <p:cNvPr id="12" name="Freeform 2"/>
            <p:cNvSpPr/>
            <p:nvPr/>
          </p:nvSpPr>
          <p:spPr>
            <a:xfrm>
              <a:off x="1028700" y="1028700"/>
              <a:ext cx="5934317" cy="2028458"/>
            </a:xfrm>
            <a:custGeom>
              <a:avLst/>
              <a:gdLst/>
              <a:ahLst/>
              <a:cxnLst/>
              <a:rect l="l" t="t" r="r" b="b"/>
              <a:pathLst>
                <a:path w="5934317" h="2028458">
                  <a:moveTo>
                    <a:pt x="0" y="0"/>
                  </a:moveTo>
                  <a:lnTo>
                    <a:pt x="5934317" y="0"/>
                  </a:lnTo>
                  <a:lnTo>
                    <a:pt x="5934317" y="2028458"/>
                  </a:lnTo>
                  <a:lnTo>
                    <a:pt x="0" y="202845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3" name="TextBox 4"/>
            <p:cNvSpPr txBox="1"/>
            <p:nvPr/>
          </p:nvSpPr>
          <p:spPr>
            <a:xfrm>
              <a:off x="966874" y="1184784"/>
              <a:ext cx="5934317" cy="1792542"/>
            </a:xfrm>
            <a:prstGeom prst="rect">
              <a:avLst/>
            </a:prstGeom>
          </p:spPr>
          <p:txBody>
            <a:bodyPr lIns="0" tIns="0" rIns="0" bIns="0" rtlCol="0" anchor="t">
              <a:spAutoFit/>
            </a:bodyPr>
            <a:lstStyle/>
            <a:p>
              <a:pPr algn="ctr">
                <a:lnSpc>
                  <a:spcPts val="7279"/>
                </a:lnSpc>
              </a:pPr>
              <a:r>
                <a:rPr lang="en-US" sz="5200" dirty="0">
                  <a:solidFill>
                    <a:schemeClr val="tx2">
                      <a:lumMod val="75000"/>
                    </a:schemeClr>
                  </a:solidFill>
                  <a:latin typeface="Hobo" panose="020B0604020202020204" charset="0"/>
                </a:rPr>
                <a:t>Transformers library</a:t>
              </a:r>
              <a:endParaRPr lang="en-US" sz="5200" dirty="0">
                <a:solidFill>
                  <a:schemeClr val="tx2">
                    <a:lumMod val="75000"/>
                  </a:schemeClr>
                </a:solidFill>
                <a:latin typeface="Hobo" panose="020B0604020202020204" charset="0"/>
                <a:ea typeface="Hobo"/>
                <a:cs typeface="Hobo"/>
                <a:sym typeface="Hobo"/>
              </a:endParaRPr>
            </a:p>
          </p:txBody>
        </p:sp>
      </p:grpSp>
      <p:grpSp>
        <p:nvGrpSpPr>
          <p:cNvPr id="14" name="Group 13"/>
          <p:cNvGrpSpPr/>
          <p:nvPr/>
        </p:nvGrpSpPr>
        <p:grpSpPr>
          <a:xfrm>
            <a:off x="6248400" y="4825462"/>
            <a:ext cx="5934317" cy="2028458"/>
            <a:chOff x="1028700" y="1028700"/>
            <a:chExt cx="5934317" cy="2028458"/>
          </a:xfrm>
        </p:grpSpPr>
        <p:sp>
          <p:nvSpPr>
            <p:cNvPr id="15" name="Freeform 2"/>
            <p:cNvSpPr/>
            <p:nvPr/>
          </p:nvSpPr>
          <p:spPr>
            <a:xfrm>
              <a:off x="1028700" y="1028700"/>
              <a:ext cx="5934317" cy="2028458"/>
            </a:xfrm>
            <a:custGeom>
              <a:avLst/>
              <a:gdLst/>
              <a:ahLst/>
              <a:cxnLst/>
              <a:rect l="l" t="t" r="r" b="b"/>
              <a:pathLst>
                <a:path w="5934317" h="2028458">
                  <a:moveTo>
                    <a:pt x="0" y="0"/>
                  </a:moveTo>
                  <a:lnTo>
                    <a:pt x="5934317" y="0"/>
                  </a:lnTo>
                  <a:lnTo>
                    <a:pt x="5934317" y="2028458"/>
                  </a:lnTo>
                  <a:lnTo>
                    <a:pt x="0" y="202845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6" name="TextBox 4"/>
            <p:cNvSpPr txBox="1"/>
            <p:nvPr/>
          </p:nvSpPr>
          <p:spPr>
            <a:xfrm>
              <a:off x="1028700" y="1529986"/>
              <a:ext cx="5934317" cy="873509"/>
            </a:xfrm>
            <a:prstGeom prst="rect">
              <a:avLst/>
            </a:prstGeom>
          </p:spPr>
          <p:txBody>
            <a:bodyPr lIns="0" tIns="0" rIns="0" bIns="0" rtlCol="0" anchor="t">
              <a:spAutoFit/>
            </a:bodyPr>
            <a:lstStyle/>
            <a:p>
              <a:pPr algn="ctr">
                <a:lnSpc>
                  <a:spcPts val="7279"/>
                </a:lnSpc>
              </a:pPr>
              <a:r>
                <a:rPr lang="en-US" sz="5200" dirty="0">
                  <a:solidFill>
                    <a:schemeClr val="tx2">
                      <a:lumMod val="75000"/>
                    </a:schemeClr>
                  </a:solidFill>
                  <a:latin typeface="Hobo" panose="020B0604020202020204" charset="0"/>
                </a:rPr>
                <a:t>Data sets</a:t>
              </a:r>
              <a:endParaRPr lang="en-US" sz="5200" dirty="0">
                <a:solidFill>
                  <a:schemeClr val="tx2">
                    <a:lumMod val="75000"/>
                  </a:schemeClr>
                </a:solidFill>
                <a:latin typeface="Hobo" panose="020B0604020202020204" charset="0"/>
                <a:ea typeface="Hobo"/>
                <a:cs typeface="Hobo"/>
                <a:sym typeface="Hobo"/>
              </a:endParaRPr>
            </a:p>
          </p:txBody>
        </p:sp>
      </p:grpSp>
      <p:cxnSp>
        <p:nvCxnSpPr>
          <p:cNvPr id="18" name="Straight Arrow Connector 17"/>
          <p:cNvCxnSpPr/>
          <p:nvPr/>
        </p:nvCxnSpPr>
        <p:spPr>
          <a:xfrm flipH="1">
            <a:off x="3093287" y="2247900"/>
            <a:ext cx="2841030" cy="26573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8758358" y="2699091"/>
            <a:ext cx="0" cy="2056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11887200" y="1714599"/>
            <a:ext cx="3316218" cy="3041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16687800" y="9182100"/>
            <a:ext cx="1295400" cy="523220"/>
          </a:xfrm>
          <a:prstGeom prst="rect">
            <a:avLst/>
          </a:prstGeom>
          <a:noFill/>
        </p:spPr>
        <p:txBody>
          <a:bodyPr wrap="square" rtlCol="0">
            <a:spAutoFit/>
          </a:bodyPr>
          <a:lstStyle/>
          <a:p>
            <a:r>
              <a:rPr lang="en-US" sz="2800" dirty="0"/>
              <a:t>5</a:t>
            </a: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p:cTn id="14" dur="500" fill="hold"/>
                                        <p:tgtEl>
                                          <p:spTgt spid="11"/>
                                        </p:tgtEl>
                                        <p:attrNameLst>
                                          <p:attrName>ppt_w</p:attrName>
                                        </p:attrNameLst>
                                      </p:cBhvr>
                                      <p:tavLst>
                                        <p:tav tm="0">
                                          <p:val>
                                            <p:fltVal val="0"/>
                                          </p:val>
                                        </p:tav>
                                        <p:tav tm="100000">
                                          <p:val>
                                            <p:strVal val="#ppt_w"/>
                                          </p:val>
                                        </p:tav>
                                      </p:tavLst>
                                    </p:anim>
                                    <p:anim calcmode="lin" valueType="num">
                                      <p:cBhvr>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17" presetID="53" presetClass="entr" presetSubtype="16"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p:cTn id="19" dur="500" fill="hold"/>
                                        <p:tgtEl>
                                          <p:spTgt spid="18"/>
                                        </p:tgtEl>
                                        <p:attrNameLst>
                                          <p:attrName>ppt_w</p:attrName>
                                        </p:attrNameLst>
                                      </p:cBhvr>
                                      <p:tavLst>
                                        <p:tav tm="0">
                                          <p:val>
                                            <p:fltVal val="0"/>
                                          </p:val>
                                        </p:tav>
                                        <p:tav tm="100000">
                                          <p:val>
                                            <p:strVal val="#ppt_w"/>
                                          </p:val>
                                        </p:tav>
                                      </p:tavLst>
                                    </p:anim>
                                    <p:anim calcmode="lin" valueType="num">
                                      <p:cBhvr>
                                        <p:cTn id="20" dur="500" fill="hold"/>
                                        <p:tgtEl>
                                          <p:spTgt spid="18"/>
                                        </p:tgtEl>
                                        <p:attrNameLst>
                                          <p:attrName>ppt_h</p:attrName>
                                        </p:attrNameLst>
                                      </p:cBhvr>
                                      <p:tavLst>
                                        <p:tav tm="0">
                                          <p:val>
                                            <p:fltVal val="0"/>
                                          </p:val>
                                        </p:tav>
                                        <p:tav tm="100000">
                                          <p:val>
                                            <p:strVal val="#ppt_h"/>
                                          </p:val>
                                        </p:tav>
                                      </p:tavLst>
                                    </p:anim>
                                    <p:animEffect transition="in" filter="fade">
                                      <p:cBhvr>
                                        <p:cTn id="21" dur="500"/>
                                        <p:tgtEl>
                                          <p:spTgt spid="18"/>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14"/>
                                        </p:tgtEl>
                                        <p:attrNameLst>
                                          <p:attrName>style.visibility</p:attrName>
                                        </p:attrNameLst>
                                      </p:cBhvr>
                                      <p:to>
                                        <p:strVal val="visible"/>
                                      </p:to>
                                    </p:set>
                                    <p:anim calcmode="lin" valueType="num">
                                      <p:cBhvr>
                                        <p:cTn id="26" dur="500" fill="hold"/>
                                        <p:tgtEl>
                                          <p:spTgt spid="14"/>
                                        </p:tgtEl>
                                        <p:attrNameLst>
                                          <p:attrName>ppt_w</p:attrName>
                                        </p:attrNameLst>
                                      </p:cBhvr>
                                      <p:tavLst>
                                        <p:tav tm="0">
                                          <p:val>
                                            <p:fltVal val="0"/>
                                          </p:val>
                                        </p:tav>
                                        <p:tav tm="100000">
                                          <p:val>
                                            <p:strVal val="#ppt_w"/>
                                          </p:val>
                                        </p:tav>
                                      </p:tavLst>
                                    </p:anim>
                                    <p:anim calcmode="lin" valueType="num">
                                      <p:cBhvr>
                                        <p:cTn id="27" dur="500" fill="hold"/>
                                        <p:tgtEl>
                                          <p:spTgt spid="14"/>
                                        </p:tgtEl>
                                        <p:attrNameLst>
                                          <p:attrName>ppt_h</p:attrName>
                                        </p:attrNameLst>
                                      </p:cBhvr>
                                      <p:tavLst>
                                        <p:tav tm="0">
                                          <p:val>
                                            <p:fltVal val="0"/>
                                          </p:val>
                                        </p:tav>
                                        <p:tav tm="100000">
                                          <p:val>
                                            <p:strVal val="#ppt_h"/>
                                          </p:val>
                                        </p:tav>
                                      </p:tavLst>
                                    </p:anim>
                                    <p:animEffect transition="in" filter="fade">
                                      <p:cBhvr>
                                        <p:cTn id="28" dur="500"/>
                                        <p:tgtEl>
                                          <p:spTgt spid="14"/>
                                        </p:tgtEl>
                                      </p:cBhvr>
                                    </p:animEffect>
                                  </p:childTnLst>
                                </p:cTn>
                              </p:par>
                              <p:par>
                                <p:cTn id="29" presetID="53" presetClass="entr" presetSubtype="16"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anim calcmode="lin" valueType="num">
                                      <p:cBhvr>
                                        <p:cTn id="31" dur="500" fill="hold"/>
                                        <p:tgtEl>
                                          <p:spTgt spid="20"/>
                                        </p:tgtEl>
                                        <p:attrNameLst>
                                          <p:attrName>ppt_w</p:attrName>
                                        </p:attrNameLst>
                                      </p:cBhvr>
                                      <p:tavLst>
                                        <p:tav tm="0">
                                          <p:val>
                                            <p:fltVal val="0"/>
                                          </p:val>
                                        </p:tav>
                                        <p:tav tm="100000">
                                          <p:val>
                                            <p:strVal val="#ppt_w"/>
                                          </p:val>
                                        </p:tav>
                                      </p:tavLst>
                                    </p:anim>
                                    <p:anim calcmode="lin" valueType="num">
                                      <p:cBhvr>
                                        <p:cTn id="32" dur="500" fill="hold"/>
                                        <p:tgtEl>
                                          <p:spTgt spid="20"/>
                                        </p:tgtEl>
                                        <p:attrNameLst>
                                          <p:attrName>ppt_h</p:attrName>
                                        </p:attrNameLst>
                                      </p:cBhvr>
                                      <p:tavLst>
                                        <p:tav tm="0">
                                          <p:val>
                                            <p:fltVal val="0"/>
                                          </p:val>
                                        </p:tav>
                                        <p:tav tm="100000">
                                          <p:val>
                                            <p:strVal val="#ppt_h"/>
                                          </p:val>
                                        </p:tav>
                                      </p:tavLst>
                                    </p:anim>
                                    <p:animEffect transition="in" filter="fade">
                                      <p:cBhvr>
                                        <p:cTn id="33" dur="500"/>
                                        <p:tgtEl>
                                          <p:spTgt spid="20"/>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nodeType="clickEffect">
                                  <p:stCondLst>
                                    <p:cond delay="0"/>
                                  </p:stCondLst>
                                  <p:childTnLst>
                                    <p:set>
                                      <p:cBhvr>
                                        <p:cTn id="37" dur="1" fill="hold">
                                          <p:stCondLst>
                                            <p:cond delay="0"/>
                                          </p:stCondLst>
                                        </p:cTn>
                                        <p:tgtEl>
                                          <p:spTgt spid="22"/>
                                        </p:tgtEl>
                                        <p:attrNameLst>
                                          <p:attrName>style.visibility</p:attrName>
                                        </p:attrNameLst>
                                      </p:cBhvr>
                                      <p:to>
                                        <p:strVal val="visible"/>
                                      </p:to>
                                    </p:set>
                                    <p:anim calcmode="lin" valueType="num">
                                      <p:cBhvr>
                                        <p:cTn id="38" dur="500" fill="hold"/>
                                        <p:tgtEl>
                                          <p:spTgt spid="22"/>
                                        </p:tgtEl>
                                        <p:attrNameLst>
                                          <p:attrName>ppt_w</p:attrName>
                                        </p:attrNameLst>
                                      </p:cBhvr>
                                      <p:tavLst>
                                        <p:tav tm="0">
                                          <p:val>
                                            <p:fltVal val="0"/>
                                          </p:val>
                                        </p:tav>
                                        <p:tav tm="100000">
                                          <p:val>
                                            <p:strVal val="#ppt_w"/>
                                          </p:val>
                                        </p:tav>
                                      </p:tavLst>
                                    </p:anim>
                                    <p:anim calcmode="lin" valueType="num">
                                      <p:cBhvr>
                                        <p:cTn id="39" dur="500" fill="hold"/>
                                        <p:tgtEl>
                                          <p:spTgt spid="22"/>
                                        </p:tgtEl>
                                        <p:attrNameLst>
                                          <p:attrName>ppt_h</p:attrName>
                                        </p:attrNameLst>
                                      </p:cBhvr>
                                      <p:tavLst>
                                        <p:tav tm="0">
                                          <p:val>
                                            <p:fltVal val="0"/>
                                          </p:val>
                                        </p:tav>
                                        <p:tav tm="100000">
                                          <p:val>
                                            <p:strVal val="#ppt_h"/>
                                          </p:val>
                                        </p:tav>
                                      </p:tavLst>
                                    </p:anim>
                                    <p:animEffect transition="in" filter="fade">
                                      <p:cBhvr>
                                        <p:cTn id="40" dur="500"/>
                                        <p:tgtEl>
                                          <p:spTgt spid="22"/>
                                        </p:tgtEl>
                                      </p:cBhvr>
                                    </p:animEffect>
                                  </p:childTnLst>
                                </p:cTn>
                              </p:par>
                              <p:par>
                                <p:cTn id="41" presetID="53" presetClass="entr" presetSubtype="16" fill="hold" nodeType="with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p:cTn id="43" dur="500" fill="hold"/>
                                        <p:tgtEl>
                                          <p:spTgt spid="8"/>
                                        </p:tgtEl>
                                        <p:attrNameLst>
                                          <p:attrName>ppt_w</p:attrName>
                                        </p:attrNameLst>
                                      </p:cBhvr>
                                      <p:tavLst>
                                        <p:tav tm="0">
                                          <p:val>
                                            <p:fltVal val="0"/>
                                          </p:val>
                                        </p:tav>
                                        <p:tav tm="100000">
                                          <p:val>
                                            <p:strVal val="#ppt_w"/>
                                          </p:val>
                                        </p:tav>
                                      </p:tavLst>
                                    </p:anim>
                                    <p:anim calcmode="lin" valueType="num">
                                      <p:cBhvr>
                                        <p:cTn id="44" dur="500" fill="hold"/>
                                        <p:tgtEl>
                                          <p:spTgt spid="8"/>
                                        </p:tgtEl>
                                        <p:attrNameLst>
                                          <p:attrName>ppt_h</p:attrName>
                                        </p:attrNameLst>
                                      </p:cBhvr>
                                      <p:tavLst>
                                        <p:tav tm="0">
                                          <p:val>
                                            <p:fltVal val="0"/>
                                          </p:val>
                                        </p:tav>
                                        <p:tav tm="100000">
                                          <p:val>
                                            <p:strVal val="#ppt_h"/>
                                          </p:val>
                                        </p:tav>
                                      </p:tavLst>
                                    </p:anim>
                                    <p:animEffect transition="in" filter="fade">
                                      <p:cBhvr>
                                        <p:cTn id="4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67720" y="8031009"/>
            <a:ext cx="16805381" cy="9025890"/>
          </a:xfrm>
          <a:custGeom>
            <a:avLst/>
            <a:gdLst/>
            <a:ahLst/>
            <a:cxnLst/>
            <a:rect l="l" t="t" r="r" b="b"/>
            <a:pathLst>
              <a:path w="16805381" h="9025890">
                <a:moveTo>
                  <a:pt x="0" y="0"/>
                </a:moveTo>
                <a:lnTo>
                  <a:pt x="16805381" y="0"/>
                </a:lnTo>
                <a:lnTo>
                  <a:pt x="16805381" y="9025890"/>
                </a:lnTo>
                <a:lnTo>
                  <a:pt x="0" y="9025890"/>
                </a:lnTo>
                <a:lnTo>
                  <a:pt x="0" y="0"/>
                </a:lnTo>
                <a:close/>
              </a:path>
            </a:pathLst>
          </a:custGeom>
          <a:blipFill>
            <a:blip r:embed="rId2">
              <a:alphaModFix amt="85000"/>
            </a:blip>
            <a:stretch>
              <a:fillRect/>
            </a:stretch>
          </a:blipFill>
        </p:spPr>
      </p:sp>
      <p:sp>
        <p:nvSpPr>
          <p:cNvPr id="8" name="Freeform 8"/>
          <p:cNvSpPr/>
          <p:nvPr/>
        </p:nvSpPr>
        <p:spPr>
          <a:xfrm>
            <a:off x="10910287" y="-6589014"/>
            <a:ext cx="16805381" cy="9025890"/>
          </a:xfrm>
          <a:custGeom>
            <a:avLst/>
            <a:gdLst/>
            <a:ahLst/>
            <a:cxnLst/>
            <a:rect l="l" t="t" r="r" b="b"/>
            <a:pathLst>
              <a:path w="16805381" h="9025890">
                <a:moveTo>
                  <a:pt x="0" y="0"/>
                </a:moveTo>
                <a:lnTo>
                  <a:pt x="16805381" y="0"/>
                </a:lnTo>
                <a:lnTo>
                  <a:pt x="16805381" y="9025890"/>
                </a:lnTo>
                <a:lnTo>
                  <a:pt x="0" y="9025890"/>
                </a:lnTo>
                <a:lnTo>
                  <a:pt x="0" y="0"/>
                </a:lnTo>
                <a:close/>
              </a:path>
            </a:pathLst>
          </a:custGeom>
          <a:blipFill>
            <a:blip r:embed="rId2">
              <a:alphaModFix amt="85000"/>
            </a:blip>
            <a:stretch>
              <a:fillRect/>
            </a:stretch>
          </a:blipFill>
        </p:spPr>
      </p:sp>
      <p:sp>
        <p:nvSpPr>
          <p:cNvPr id="19" name="TextBox 19"/>
          <p:cNvSpPr txBox="1"/>
          <p:nvPr/>
        </p:nvSpPr>
        <p:spPr>
          <a:xfrm>
            <a:off x="5334000" y="4381500"/>
            <a:ext cx="11353800" cy="1953099"/>
          </a:xfrm>
          <a:prstGeom prst="rect">
            <a:avLst/>
          </a:prstGeom>
        </p:spPr>
        <p:txBody>
          <a:bodyPr wrap="square" lIns="0" tIns="0" rIns="0" bIns="0" rtlCol="0" anchor="t">
            <a:spAutoFit/>
          </a:bodyPr>
          <a:lstStyle/>
          <a:p>
            <a:pPr algn="ctr">
              <a:lnSpc>
                <a:spcPts val="7279"/>
              </a:lnSpc>
            </a:pPr>
            <a:r>
              <a:rPr lang="en-US" sz="9600" dirty="0">
                <a:solidFill>
                  <a:srgbClr val="17375E"/>
                </a:solidFill>
                <a:latin typeface="Sergio Trendy" panose="020B0604020202020204" charset="0"/>
              </a:rPr>
              <a:t>Types of Writing Tools</a:t>
            </a:r>
            <a:endParaRPr lang="en-US" sz="9600" dirty="0">
              <a:solidFill>
                <a:srgbClr val="17375E"/>
              </a:solidFill>
              <a:latin typeface="Sergio Trendy" panose="020B0604020202020204" charset="0"/>
              <a:ea typeface="Hobo"/>
              <a:cs typeface="Hobo"/>
              <a:sym typeface="Hobo"/>
            </a:endParaRPr>
          </a:p>
        </p:txBody>
      </p:sp>
      <p:sp>
        <p:nvSpPr>
          <p:cNvPr id="6" name="TextBox 5"/>
          <p:cNvSpPr txBox="1"/>
          <p:nvPr/>
        </p:nvSpPr>
        <p:spPr>
          <a:xfrm>
            <a:off x="16687800" y="9182100"/>
            <a:ext cx="1295400" cy="523220"/>
          </a:xfrm>
          <a:prstGeom prst="rect">
            <a:avLst/>
          </a:prstGeom>
          <a:noFill/>
        </p:spPr>
        <p:txBody>
          <a:bodyPr wrap="square" rtlCol="0">
            <a:spAutoFit/>
          </a:bodyPr>
          <a:lstStyle/>
          <a:p>
            <a:r>
              <a:rPr lang="en-US" sz="2800" dirty="0"/>
              <a:t>6</a:t>
            </a:r>
          </a:p>
        </p:txBody>
      </p:sp>
    </p:spTree>
    <p:extLst>
      <p:ext uri="{BB962C8B-B14F-4D97-AF65-F5344CB8AC3E}">
        <p14:creationId xmlns:p14="http://schemas.microsoft.com/office/powerpoint/2010/main" val="23545867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336674" y="-6604364"/>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3" name="Freeform 3"/>
          <p:cNvSpPr/>
          <p:nvPr/>
        </p:nvSpPr>
        <p:spPr>
          <a:xfrm>
            <a:off x="4854009" y="3806417"/>
            <a:ext cx="8305800" cy="4559789"/>
          </a:xfrm>
          <a:custGeom>
            <a:avLst/>
            <a:gdLst/>
            <a:ahLst/>
            <a:cxnLst/>
            <a:rect l="l" t="t" r="r" b="b"/>
            <a:pathLst>
              <a:path w="5934317" h="2028458">
                <a:moveTo>
                  <a:pt x="0" y="0"/>
                </a:moveTo>
                <a:lnTo>
                  <a:pt x="5934317" y="0"/>
                </a:lnTo>
                <a:lnTo>
                  <a:pt x="5934317" y="2028458"/>
                </a:lnTo>
                <a:lnTo>
                  <a:pt x="0" y="202845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a:off x="6039751" y="8955191"/>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6" name="TextBox 6"/>
          <p:cNvSpPr txBox="1"/>
          <p:nvPr/>
        </p:nvSpPr>
        <p:spPr>
          <a:xfrm>
            <a:off x="6039751" y="1143708"/>
            <a:ext cx="5934317" cy="862287"/>
          </a:xfrm>
          <a:prstGeom prst="rect">
            <a:avLst/>
          </a:prstGeom>
        </p:spPr>
        <p:txBody>
          <a:bodyPr lIns="0" tIns="0" rIns="0" bIns="0" rtlCol="0" anchor="t">
            <a:spAutoFit/>
          </a:bodyPr>
          <a:lstStyle/>
          <a:p>
            <a:pPr algn="ctr">
              <a:lnSpc>
                <a:spcPts val="7279"/>
              </a:lnSpc>
            </a:pPr>
            <a:endParaRPr lang="en-US" sz="5400" dirty="0">
              <a:solidFill>
                <a:srgbClr val="022C5E"/>
              </a:solidFill>
              <a:latin typeface="Hobo"/>
              <a:ea typeface="Hobo"/>
              <a:cs typeface="Hobo"/>
              <a:sym typeface="Hobo"/>
            </a:endParaRPr>
          </a:p>
        </p:txBody>
      </p:sp>
      <p:sp>
        <p:nvSpPr>
          <p:cNvPr id="12" name="TextBox 11"/>
          <p:cNvSpPr txBox="1"/>
          <p:nvPr/>
        </p:nvSpPr>
        <p:spPr>
          <a:xfrm>
            <a:off x="2895600" y="1464360"/>
            <a:ext cx="12900591" cy="2554545"/>
          </a:xfrm>
          <a:prstGeom prst="rect">
            <a:avLst/>
          </a:prstGeom>
          <a:noFill/>
        </p:spPr>
        <p:txBody>
          <a:bodyPr wrap="square" rtlCol="0">
            <a:spAutoFit/>
          </a:bodyPr>
          <a:lstStyle/>
          <a:p>
            <a:r>
              <a:rPr lang="en-US" sz="4000" dirty="0">
                <a:solidFill>
                  <a:srgbClr val="17375E"/>
                </a:solidFill>
                <a:latin typeface="Open Sans" panose="020B0604020202020204" charset="0"/>
                <a:ea typeface="Open Sans" panose="020B0604020202020204" charset="0"/>
                <a:cs typeface="Open Sans" panose="020B0604020202020204" charset="0"/>
              </a:rPr>
              <a:t>Define a tool in an LLM model by providing a clear textual description, specifying its inputs and outputs, and linking it to a callable </a:t>
            </a:r>
            <a:r>
              <a:rPr lang="en-US" sz="4000" dirty="0" smtClean="0">
                <a:solidFill>
                  <a:srgbClr val="17375E"/>
                </a:solidFill>
                <a:latin typeface="Open Sans" panose="020B0604020202020204" charset="0"/>
                <a:ea typeface="Open Sans" panose="020B0604020202020204" charset="0"/>
                <a:cs typeface="Open Sans" panose="020B0604020202020204" charset="0"/>
              </a:rPr>
              <a:t>function </a:t>
            </a:r>
            <a:r>
              <a:rPr lang="en-US" sz="4000" dirty="0" smtClean="0">
                <a:solidFill>
                  <a:srgbClr val="17375E"/>
                </a:solidFill>
                <a:latin typeface="Open Sans" panose="020B0604020202020204" charset="0"/>
                <a:ea typeface="Open Sans" panose="020B0604020202020204" charset="0"/>
                <a:cs typeface="Open Sans" panose="020B0604020202020204" charset="0"/>
                <a:hlinkClick r:id="rId6" action="ppaction://hlinksldjump"/>
              </a:rPr>
              <a:t>[2]</a:t>
            </a:r>
            <a:r>
              <a:rPr lang="en-US" sz="4000" dirty="0" smtClean="0">
                <a:solidFill>
                  <a:srgbClr val="17375E"/>
                </a:solidFill>
                <a:latin typeface="Open Sans" panose="020B0604020202020204" charset="0"/>
                <a:ea typeface="Open Sans" panose="020B0604020202020204" charset="0"/>
                <a:cs typeface="Open Sans" panose="020B0604020202020204" charset="0"/>
              </a:rPr>
              <a:t>.</a:t>
            </a:r>
          </a:p>
          <a:p>
            <a:r>
              <a:rPr lang="en-US" sz="4000" dirty="0" smtClean="0">
                <a:solidFill>
                  <a:schemeClr val="tx2">
                    <a:lumMod val="75000"/>
                  </a:schemeClr>
                </a:solidFill>
                <a:latin typeface="Open Sans" panose="020B0604020202020204" charset="0"/>
                <a:ea typeface="Open Sans" panose="020B0604020202020204" charset="0"/>
                <a:cs typeface="Open Sans" panose="020B0604020202020204" charset="0"/>
              </a:rPr>
              <a:t>Example of format:</a:t>
            </a:r>
            <a:endParaRPr lang="en-US" sz="4000" dirty="0">
              <a:solidFill>
                <a:schemeClr val="tx2">
                  <a:lumMod val="75000"/>
                </a:schemeClr>
              </a:solidFill>
              <a:latin typeface="Open Sans" panose="020B0604020202020204" charset="0"/>
              <a:ea typeface="Open Sans" panose="020B0604020202020204" charset="0"/>
              <a:cs typeface="Open Sans" panose="020B0604020202020204" charset="0"/>
            </a:endParaRPr>
          </a:p>
        </p:txBody>
      </p:sp>
      <p:sp>
        <p:nvSpPr>
          <p:cNvPr id="17" name="TextBox 16"/>
          <p:cNvSpPr txBox="1"/>
          <p:nvPr/>
        </p:nvSpPr>
        <p:spPr>
          <a:xfrm>
            <a:off x="16687800" y="9182100"/>
            <a:ext cx="1295400" cy="523220"/>
          </a:xfrm>
          <a:prstGeom prst="rect">
            <a:avLst/>
          </a:prstGeom>
          <a:noFill/>
        </p:spPr>
        <p:txBody>
          <a:bodyPr wrap="square" rtlCol="0">
            <a:spAutoFit/>
          </a:bodyPr>
          <a:lstStyle/>
          <a:p>
            <a:r>
              <a:rPr lang="en-US" sz="2800" dirty="0"/>
              <a:t>7</a:t>
            </a:r>
          </a:p>
        </p:txBody>
      </p:sp>
      <p:sp>
        <p:nvSpPr>
          <p:cNvPr id="5" name="TextBox 4"/>
          <p:cNvSpPr txBox="1"/>
          <p:nvPr/>
        </p:nvSpPr>
        <p:spPr>
          <a:xfrm>
            <a:off x="5684382" y="5206800"/>
            <a:ext cx="8793618" cy="2308324"/>
          </a:xfrm>
          <a:prstGeom prst="rect">
            <a:avLst/>
          </a:prstGeom>
          <a:noFill/>
        </p:spPr>
        <p:txBody>
          <a:bodyPr wrap="square" rtlCol="0">
            <a:spAutoFit/>
          </a:bodyPr>
          <a:lstStyle/>
          <a:p>
            <a:r>
              <a:rPr lang="en-US" sz="3600" b="1" dirty="0">
                <a:solidFill>
                  <a:srgbClr val="17375E"/>
                </a:solidFill>
                <a:latin typeface="Hobo" panose="020B0604020202020204" charset="0"/>
                <a:cs typeface="Hobo" panose="020B0604020202020204" charset="0"/>
              </a:rPr>
              <a:t>Tool Name: </a:t>
            </a:r>
            <a:r>
              <a:rPr lang="en-US" sz="3600" dirty="0">
                <a:solidFill>
                  <a:srgbClr val="17375E"/>
                </a:solidFill>
              </a:rPr>
              <a:t>calculator, </a:t>
            </a:r>
            <a:endParaRPr lang="en-US" sz="3600" dirty="0" smtClean="0">
              <a:solidFill>
                <a:srgbClr val="17375E"/>
              </a:solidFill>
            </a:endParaRPr>
          </a:p>
          <a:p>
            <a:r>
              <a:rPr lang="en-US" sz="3600" b="1" dirty="0" smtClean="0">
                <a:solidFill>
                  <a:srgbClr val="17375E"/>
                </a:solidFill>
                <a:latin typeface="Hobo" panose="020B0604020202020204" charset="0"/>
                <a:cs typeface="Hobo" panose="020B0604020202020204" charset="0"/>
              </a:rPr>
              <a:t>Description</a:t>
            </a:r>
            <a:r>
              <a:rPr lang="en-US" sz="3600" b="1" dirty="0">
                <a:solidFill>
                  <a:srgbClr val="17375E"/>
                </a:solidFill>
                <a:latin typeface="Hobo" panose="020B0604020202020204" charset="0"/>
                <a:cs typeface="Hobo" panose="020B0604020202020204" charset="0"/>
              </a:rPr>
              <a:t>: </a:t>
            </a:r>
            <a:r>
              <a:rPr lang="en-US" sz="3600" dirty="0">
                <a:solidFill>
                  <a:srgbClr val="17375E"/>
                </a:solidFill>
              </a:rPr>
              <a:t>Multiply two integers</a:t>
            </a:r>
            <a:r>
              <a:rPr lang="en-US" sz="3600" dirty="0" smtClean="0">
                <a:solidFill>
                  <a:srgbClr val="17375E"/>
                </a:solidFill>
              </a:rPr>
              <a:t>.,</a:t>
            </a:r>
          </a:p>
          <a:p>
            <a:r>
              <a:rPr lang="en-US" sz="3600" b="1" dirty="0" smtClean="0">
                <a:solidFill>
                  <a:srgbClr val="17375E"/>
                </a:solidFill>
                <a:latin typeface="Hobo" panose="020B0604020202020204" charset="0"/>
                <a:cs typeface="Hobo" panose="020B0604020202020204" charset="0"/>
              </a:rPr>
              <a:t>Arguments</a:t>
            </a:r>
            <a:r>
              <a:rPr lang="en-US" sz="3600" b="1" dirty="0">
                <a:solidFill>
                  <a:srgbClr val="17375E"/>
                </a:solidFill>
                <a:latin typeface="Hobo" panose="020B0604020202020204" charset="0"/>
                <a:cs typeface="Hobo" panose="020B0604020202020204" charset="0"/>
              </a:rPr>
              <a:t>: </a:t>
            </a:r>
            <a:r>
              <a:rPr lang="en-US" sz="3600" dirty="0">
                <a:solidFill>
                  <a:srgbClr val="17375E"/>
                </a:solidFill>
              </a:rPr>
              <a:t>a: int, b: int</a:t>
            </a:r>
            <a:r>
              <a:rPr lang="en-US" sz="3600" dirty="0" smtClean="0">
                <a:solidFill>
                  <a:srgbClr val="17375E"/>
                </a:solidFill>
              </a:rPr>
              <a:t>,</a:t>
            </a:r>
          </a:p>
          <a:p>
            <a:r>
              <a:rPr lang="en-US" sz="3600" b="1" dirty="0" smtClean="0">
                <a:solidFill>
                  <a:srgbClr val="17375E"/>
                </a:solidFill>
                <a:latin typeface="Hobo" panose="020B0604020202020204" charset="0"/>
                <a:cs typeface="Hobo" panose="020B0604020202020204" charset="0"/>
              </a:rPr>
              <a:t>Outputs</a:t>
            </a:r>
            <a:r>
              <a:rPr lang="en-US" sz="3600" b="1" dirty="0">
                <a:solidFill>
                  <a:srgbClr val="17375E"/>
                </a:solidFill>
                <a:latin typeface="Hobo" panose="020B0604020202020204" charset="0"/>
                <a:cs typeface="Hobo" panose="020B0604020202020204" charset="0"/>
              </a:rPr>
              <a:t>: </a:t>
            </a:r>
            <a:r>
              <a:rPr lang="en-US" sz="3600" dirty="0">
                <a:solidFill>
                  <a:srgbClr val="17375E"/>
                </a:solidFill>
              </a:rPr>
              <a:t>int</a:t>
            </a:r>
          </a:p>
        </p:txBody>
      </p:sp>
      <p:sp>
        <p:nvSpPr>
          <p:cNvPr id="16" name="Freeform 12"/>
          <p:cNvSpPr/>
          <p:nvPr/>
        </p:nvSpPr>
        <p:spPr>
          <a:xfrm rot="-2050047">
            <a:off x="12803979" y="2043744"/>
            <a:ext cx="6652520" cy="4731686"/>
          </a:xfrm>
          <a:custGeom>
            <a:avLst/>
            <a:gdLst/>
            <a:ahLst/>
            <a:cxnLst/>
            <a:rect l="l" t="t" r="r" b="b"/>
            <a:pathLst>
              <a:path w="6652520" h="4731686">
                <a:moveTo>
                  <a:pt x="0" y="0"/>
                </a:moveTo>
                <a:lnTo>
                  <a:pt x="6652520" y="0"/>
                </a:lnTo>
                <a:lnTo>
                  <a:pt x="6652520" y="4731686"/>
                </a:lnTo>
                <a:lnTo>
                  <a:pt x="0" y="4731686"/>
                </a:lnTo>
                <a:lnTo>
                  <a:pt x="0" y="0"/>
                </a:lnTo>
                <a:close/>
              </a:path>
            </a:pathLst>
          </a:custGeom>
          <a:blipFill>
            <a:blip r:embed="rId7">
              <a:duotone>
                <a:schemeClr val="accent1">
                  <a:shade val="45000"/>
                  <a:satMod val="135000"/>
                </a:schemeClr>
                <a:prstClr val="white"/>
              </a:duotone>
            </a:blip>
            <a:stretch>
              <a:fillRect t="-809" b="-809"/>
            </a:stretch>
          </a:blipFill>
        </p:spPr>
      </p:sp>
    </p:spTree>
    <p:extLst>
      <p:ext uri="{BB962C8B-B14F-4D97-AF65-F5344CB8AC3E}">
        <p14:creationId xmlns:p14="http://schemas.microsoft.com/office/powerpoint/2010/main" val="2557043344"/>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1000"/>
                                        <p:tgtEl>
                                          <p:spTgt spid="12">
                                            <p:txEl>
                                              <p:pRg st="0" end="0"/>
                                            </p:txEl>
                                          </p:spTgt>
                                        </p:tgtEl>
                                      </p:cBhvr>
                                    </p:animEffect>
                                    <p:anim calcmode="lin" valueType="num">
                                      <p:cBhvr>
                                        <p:cTn id="8"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2">
                                            <p:txEl>
                                              <p:pRg st="1" end="1"/>
                                            </p:txEl>
                                          </p:spTgt>
                                        </p:tgtEl>
                                        <p:attrNameLst>
                                          <p:attrName>style.visibility</p:attrName>
                                        </p:attrNameLst>
                                      </p:cBhvr>
                                      <p:to>
                                        <p:strVal val="visible"/>
                                      </p:to>
                                    </p:set>
                                    <p:anim calcmode="lin" valueType="num">
                                      <p:cBhvr>
                                        <p:cTn id="14" dur="500" fill="hold"/>
                                        <p:tgtEl>
                                          <p:spTgt spid="12">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12">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12">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ppt_w</p:attrName>
                                        </p:attrNameLst>
                                      </p:cBhvr>
                                      <p:tavLst>
                                        <p:tav tm="0">
                                          <p:val>
                                            <p:fltVal val="0"/>
                                          </p:val>
                                        </p:tav>
                                        <p:tav tm="100000">
                                          <p:val>
                                            <p:strVal val="#ppt_w"/>
                                          </p:val>
                                        </p:tav>
                                      </p:tavLst>
                                    </p:anim>
                                    <p:anim calcmode="lin" valueType="num">
                                      <p:cBhvr>
                                        <p:cTn id="22" dur="500" fill="hold"/>
                                        <p:tgtEl>
                                          <p:spTgt spid="5"/>
                                        </p:tgtEl>
                                        <p:attrNameLst>
                                          <p:attrName>ppt_h</p:attrName>
                                        </p:attrNameLst>
                                      </p:cBhvr>
                                      <p:tavLst>
                                        <p:tav tm="0">
                                          <p:val>
                                            <p:fltVal val="0"/>
                                          </p:val>
                                        </p:tav>
                                        <p:tav tm="100000">
                                          <p:val>
                                            <p:strVal val="#ppt_h"/>
                                          </p:val>
                                        </p:tav>
                                      </p:tavLst>
                                    </p:anim>
                                    <p:animEffect transition="in" filter="fade">
                                      <p:cBhvr>
                                        <p:cTn id="23" dur="500"/>
                                        <p:tgtEl>
                                          <p:spTgt spid="5"/>
                                        </p:tgtEl>
                                      </p:cBhvr>
                                    </p:animEffect>
                                  </p:childTnLst>
                                </p:cTn>
                              </p:par>
                              <p:par>
                                <p:cTn id="24" presetID="53" presetClass="entr" presetSubtype="16" fill="hold" nodeType="with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p:cTn id="26" dur="500" fill="hold"/>
                                        <p:tgtEl>
                                          <p:spTgt spid="3"/>
                                        </p:tgtEl>
                                        <p:attrNameLst>
                                          <p:attrName>ppt_w</p:attrName>
                                        </p:attrNameLst>
                                      </p:cBhvr>
                                      <p:tavLst>
                                        <p:tav tm="0">
                                          <p:val>
                                            <p:fltVal val="0"/>
                                          </p:val>
                                        </p:tav>
                                        <p:tav tm="100000">
                                          <p:val>
                                            <p:strVal val="#ppt_w"/>
                                          </p:val>
                                        </p:tav>
                                      </p:tavLst>
                                    </p:anim>
                                    <p:anim calcmode="lin" valueType="num">
                                      <p:cBhvr>
                                        <p:cTn id="27" dur="500" fill="hold"/>
                                        <p:tgtEl>
                                          <p:spTgt spid="3"/>
                                        </p:tgtEl>
                                        <p:attrNameLst>
                                          <p:attrName>ppt_h</p:attrName>
                                        </p:attrNameLst>
                                      </p:cBhvr>
                                      <p:tavLst>
                                        <p:tav tm="0">
                                          <p:val>
                                            <p:fltVal val="0"/>
                                          </p:val>
                                        </p:tav>
                                        <p:tav tm="100000">
                                          <p:val>
                                            <p:strVal val="#ppt_h"/>
                                          </p:val>
                                        </p:tav>
                                      </p:tavLst>
                                    </p:anim>
                                    <p:animEffect transition="in" filter="fade">
                                      <p:cBhvr>
                                        <p:cTn id="2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1"/>
          <p:cNvSpPr>
            <a:spLocks noChangeArrowheads="1"/>
          </p:cNvSpPr>
          <p:nvPr/>
        </p:nvSpPr>
        <p:spPr bwMode="auto">
          <a:xfrm>
            <a:off x="10908463" y="4903302"/>
            <a:ext cx="6658208" cy="4856926"/>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vert="horz" wrap="square" lIns="0" tIns="271377" rIns="0" bIns="271377"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smtClean="0">
                <a:ln>
                  <a:noFill/>
                </a:ln>
                <a:solidFill>
                  <a:srgbClr val="A626A4"/>
                </a:solidFill>
                <a:effectLst/>
                <a:latin typeface="Hobo" panose="020B0604020202020204" charset="0"/>
                <a:cs typeface="Hobo" panose="020B0604020202020204" charset="0"/>
              </a:rPr>
              <a:t>from</a:t>
            </a:r>
            <a:r>
              <a:rPr kumimoji="0" lang="en-US" altLang="en-US" sz="2800" b="0" i="0" u="none" strike="noStrike" cap="none" normalizeH="0" baseline="0" dirty="0" smtClean="0">
                <a:ln>
                  <a:noFill/>
                </a:ln>
                <a:solidFill>
                  <a:srgbClr val="17375E"/>
                </a:solidFill>
                <a:effectLst/>
                <a:latin typeface="Hobo" panose="020B0604020202020204" charset="0"/>
                <a:cs typeface="Hobo" panose="020B0604020202020204" charset="0"/>
              </a:rPr>
              <a:t> typing </a:t>
            </a:r>
            <a:r>
              <a:rPr kumimoji="0" lang="en-US" altLang="en-US" sz="2800" b="0" i="0" u="none" strike="noStrike" cap="none" normalizeH="0" baseline="0" dirty="0" smtClean="0">
                <a:ln>
                  <a:noFill/>
                </a:ln>
                <a:solidFill>
                  <a:srgbClr val="A626A4"/>
                </a:solidFill>
                <a:effectLst/>
                <a:latin typeface="Hobo" panose="020B0604020202020204" charset="0"/>
                <a:cs typeface="Hobo" panose="020B0604020202020204" charset="0"/>
              </a:rPr>
              <a:t>import</a:t>
            </a:r>
            <a:r>
              <a:rPr kumimoji="0" lang="en-US" altLang="en-US" sz="2800" b="0" i="0" u="none" strike="noStrike" cap="none" normalizeH="0" baseline="0" dirty="0" smtClean="0">
                <a:ln>
                  <a:noFill/>
                </a:ln>
                <a:solidFill>
                  <a:srgbClr val="17375E"/>
                </a:solidFill>
                <a:effectLst/>
                <a:latin typeface="Hobo" panose="020B0604020202020204" charset="0"/>
                <a:cs typeface="Hobo" panose="020B0604020202020204" charset="0"/>
              </a:rPr>
              <a:t> Callable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smtClean="0">
                <a:ln>
                  <a:noFill/>
                </a:ln>
                <a:solidFill>
                  <a:srgbClr val="17375E"/>
                </a:solidFill>
                <a:effectLst/>
                <a:latin typeface="Hobo" panose="020B0604020202020204" charset="0"/>
                <a:cs typeface="Hobo" panose="020B0604020202020204" charset="0"/>
              </a:rPr>
              <a:t>class Tool</a:t>
            </a:r>
            <a:r>
              <a:rPr lang="en-US" altLang="en-US" sz="2800" dirty="0">
                <a:solidFill>
                  <a:srgbClr val="17375E"/>
                </a:solidFill>
                <a:latin typeface="Hobo" panose="020B0604020202020204" charset="0"/>
                <a:cs typeface="Hobo" panose="020B0604020202020204" charset="0"/>
              </a:rPr>
              <a:t> </a:t>
            </a:r>
            <a:endParaRPr lang="en-US" altLang="en-US" sz="2800" dirty="0" smtClean="0">
              <a:solidFill>
                <a:srgbClr val="17375E"/>
              </a:solidFill>
              <a:latin typeface="Hobo" panose="020B0604020202020204" charset="0"/>
              <a:cs typeface="Hobo" panose="020B060402020202020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smtClean="0">
                <a:ln>
                  <a:noFill/>
                </a:ln>
                <a:solidFill>
                  <a:srgbClr val="17375E"/>
                </a:solidFill>
                <a:effectLst/>
                <a:latin typeface="Hobo" panose="020B0604020202020204" charset="0"/>
                <a:cs typeface="Hobo" panose="020B0604020202020204" charset="0"/>
              </a:rPr>
              <a:t>def __init__(self, name: str, description: str, func: Callable, arguments: list, outputs: str):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smtClean="0">
                <a:ln>
                  <a:noFill/>
                </a:ln>
                <a:solidFill>
                  <a:srgbClr val="17375E"/>
                </a:solidFill>
                <a:effectLst/>
                <a:latin typeface="Hobo" panose="020B0604020202020204" charset="0"/>
                <a:cs typeface="Hobo" panose="020B0604020202020204" charset="0"/>
              </a:rPr>
              <a:t>self.name = name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smtClean="0">
                <a:ln>
                  <a:noFill/>
                </a:ln>
                <a:solidFill>
                  <a:srgbClr val="17375E"/>
                </a:solidFill>
                <a:effectLst/>
                <a:latin typeface="Hobo" panose="020B0604020202020204" charset="0"/>
                <a:cs typeface="Hobo" panose="020B0604020202020204" charset="0"/>
              </a:rPr>
              <a:t>self.description = description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smtClean="0">
                <a:ln>
                  <a:noFill/>
                </a:ln>
                <a:solidFill>
                  <a:srgbClr val="17375E"/>
                </a:solidFill>
                <a:effectLst/>
                <a:latin typeface="Hobo" panose="020B0604020202020204" charset="0"/>
                <a:cs typeface="Hobo" panose="020B0604020202020204" charset="0"/>
              </a:rPr>
              <a:t>self.func = func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smtClean="0">
                <a:ln>
                  <a:noFill/>
                </a:ln>
                <a:solidFill>
                  <a:srgbClr val="17375E"/>
                </a:solidFill>
                <a:effectLst/>
                <a:latin typeface="Hobo" panose="020B0604020202020204" charset="0"/>
                <a:cs typeface="Hobo" panose="020B0604020202020204" charset="0"/>
              </a:rPr>
              <a:t>self.arguments = arguments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smtClean="0">
                <a:ln>
                  <a:noFill/>
                </a:ln>
                <a:solidFill>
                  <a:srgbClr val="17375E"/>
                </a:solidFill>
                <a:effectLst/>
                <a:latin typeface="Hobo" panose="020B0604020202020204" charset="0"/>
                <a:cs typeface="Hobo" panose="020B0604020202020204" charset="0"/>
              </a:rPr>
              <a:t>self.outputs = outputs</a:t>
            </a:r>
          </a:p>
        </p:txBody>
      </p:sp>
      <p:sp>
        <p:nvSpPr>
          <p:cNvPr id="4" name="Freeform 4"/>
          <p:cNvSpPr/>
          <p:nvPr/>
        </p:nvSpPr>
        <p:spPr>
          <a:xfrm>
            <a:off x="6553200" y="8724900"/>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17" name="TextBox 16"/>
          <p:cNvSpPr txBox="1"/>
          <p:nvPr/>
        </p:nvSpPr>
        <p:spPr>
          <a:xfrm>
            <a:off x="16687800" y="9182100"/>
            <a:ext cx="1295400" cy="523220"/>
          </a:xfrm>
          <a:prstGeom prst="rect">
            <a:avLst/>
          </a:prstGeom>
          <a:noFill/>
        </p:spPr>
        <p:txBody>
          <a:bodyPr wrap="square" rtlCol="0">
            <a:spAutoFit/>
          </a:bodyPr>
          <a:lstStyle/>
          <a:p>
            <a:r>
              <a:rPr lang="en-US" sz="2800" dirty="0"/>
              <a:t>8</a:t>
            </a:r>
          </a:p>
        </p:txBody>
      </p:sp>
      <p:sp>
        <p:nvSpPr>
          <p:cNvPr id="20" name="Freeform 3"/>
          <p:cNvSpPr/>
          <p:nvPr/>
        </p:nvSpPr>
        <p:spPr>
          <a:xfrm>
            <a:off x="10852428" y="2536744"/>
            <a:ext cx="4800600" cy="2371895"/>
          </a:xfrm>
          <a:custGeom>
            <a:avLst/>
            <a:gdLst/>
            <a:ahLst/>
            <a:cxnLst/>
            <a:rect l="l" t="t" r="r" b="b"/>
            <a:pathLst>
              <a:path w="5934317" h="2028458">
                <a:moveTo>
                  <a:pt x="0" y="0"/>
                </a:moveTo>
                <a:lnTo>
                  <a:pt x="5934317" y="0"/>
                </a:lnTo>
                <a:lnTo>
                  <a:pt x="5934317" y="2028458"/>
                </a:lnTo>
                <a:lnTo>
                  <a:pt x="0" y="202845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2" name="Freeform 2"/>
          <p:cNvSpPr/>
          <p:nvPr/>
        </p:nvSpPr>
        <p:spPr>
          <a:xfrm>
            <a:off x="-2336674" y="-6604364"/>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3" name="Freeform 3"/>
          <p:cNvSpPr/>
          <p:nvPr/>
        </p:nvSpPr>
        <p:spPr>
          <a:xfrm>
            <a:off x="2166466" y="2718501"/>
            <a:ext cx="5334000" cy="2371895"/>
          </a:xfrm>
          <a:custGeom>
            <a:avLst/>
            <a:gdLst/>
            <a:ahLst/>
            <a:cxnLst/>
            <a:rect l="l" t="t" r="r" b="b"/>
            <a:pathLst>
              <a:path w="5934317" h="2028458">
                <a:moveTo>
                  <a:pt x="0" y="0"/>
                </a:moveTo>
                <a:lnTo>
                  <a:pt x="5934317" y="0"/>
                </a:lnTo>
                <a:lnTo>
                  <a:pt x="5934317" y="2028458"/>
                </a:lnTo>
                <a:lnTo>
                  <a:pt x="0" y="202845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6" name="TextBox 6"/>
          <p:cNvSpPr txBox="1"/>
          <p:nvPr/>
        </p:nvSpPr>
        <p:spPr>
          <a:xfrm>
            <a:off x="2187836" y="3036332"/>
            <a:ext cx="5029201" cy="1872307"/>
          </a:xfrm>
          <a:prstGeom prst="rect">
            <a:avLst/>
          </a:prstGeom>
        </p:spPr>
        <p:txBody>
          <a:bodyPr wrap="square" lIns="0" tIns="0" rIns="0" bIns="0" rtlCol="0" anchor="t">
            <a:spAutoFit/>
          </a:bodyPr>
          <a:lstStyle/>
          <a:p>
            <a:pPr algn="ctr">
              <a:lnSpc>
                <a:spcPts val="7279"/>
              </a:lnSpc>
            </a:pPr>
            <a:r>
              <a:rPr lang="en-US" sz="4400" dirty="0" smtClean="0">
                <a:solidFill>
                  <a:srgbClr val="022C5E"/>
                </a:solidFill>
                <a:latin typeface="Hobo"/>
                <a:ea typeface="Hobo"/>
                <a:cs typeface="Hobo"/>
                <a:sym typeface="Hobo"/>
              </a:rPr>
              <a:t>Auto Formatting </a:t>
            </a:r>
            <a:r>
              <a:rPr lang="en-US" sz="4400" dirty="0">
                <a:solidFill>
                  <a:srgbClr val="022C5E"/>
                </a:solidFill>
                <a:latin typeface="Hobo"/>
                <a:ea typeface="Hobo"/>
                <a:cs typeface="Hobo"/>
                <a:sym typeface="Hobo"/>
              </a:rPr>
              <a:t>Tool </a:t>
            </a:r>
            <a:r>
              <a:rPr lang="en-US" sz="4400" dirty="0" smtClean="0">
                <a:solidFill>
                  <a:srgbClr val="022C5E"/>
                </a:solidFill>
                <a:latin typeface="Hobo"/>
                <a:ea typeface="Hobo"/>
                <a:cs typeface="Hobo"/>
                <a:sym typeface="Hobo"/>
              </a:rPr>
              <a:t>Sections</a:t>
            </a:r>
            <a:endParaRPr lang="en-US" sz="4400" dirty="0">
              <a:solidFill>
                <a:srgbClr val="022C5E"/>
              </a:solidFill>
              <a:latin typeface="Hobo"/>
              <a:ea typeface="Hobo"/>
              <a:cs typeface="Hobo"/>
              <a:sym typeface="Hobo"/>
            </a:endParaRPr>
          </a:p>
        </p:txBody>
      </p:sp>
      <p:sp>
        <p:nvSpPr>
          <p:cNvPr id="16" name="Freeform 3"/>
          <p:cNvSpPr/>
          <p:nvPr/>
        </p:nvSpPr>
        <p:spPr>
          <a:xfrm>
            <a:off x="6400800" y="164403"/>
            <a:ext cx="6233197" cy="2504905"/>
          </a:xfrm>
          <a:custGeom>
            <a:avLst/>
            <a:gdLst/>
            <a:ahLst/>
            <a:cxnLst/>
            <a:rect l="l" t="t" r="r" b="b"/>
            <a:pathLst>
              <a:path w="5934317" h="2028458">
                <a:moveTo>
                  <a:pt x="0" y="0"/>
                </a:moveTo>
                <a:lnTo>
                  <a:pt x="5934317" y="0"/>
                </a:lnTo>
                <a:lnTo>
                  <a:pt x="5934317" y="2028458"/>
                </a:lnTo>
                <a:lnTo>
                  <a:pt x="0" y="202845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8" name="TextBox 6"/>
          <p:cNvSpPr txBox="1"/>
          <p:nvPr/>
        </p:nvSpPr>
        <p:spPr>
          <a:xfrm>
            <a:off x="6400800" y="469866"/>
            <a:ext cx="5934317" cy="1798441"/>
          </a:xfrm>
          <a:prstGeom prst="rect">
            <a:avLst/>
          </a:prstGeom>
        </p:spPr>
        <p:txBody>
          <a:bodyPr lIns="0" tIns="0" rIns="0" bIns="0" rtlCol="0" anchor="t">
            <a:spAutoFit/>
          </a:bodyPr>
          <a:lstStyle/>
          <a:p>
            <a:pPr algn="ctr">
              <a:lnSpc>
                <a:spcPts val="7279"/>
              </a:lnSpc>
            </a:pPr>
            <a:r>
              <a:rPr lang="en-US" sz="5400" dirty="0" smtClean="0">
                <a:solidFill>
                  <a:srgbClr val="022C5E"/>
                </a:solidFill>
                <a:latin typeface="Hobo"/>
                <a:ea typeface="Hobo"/>
                <a:cs typeface="Hobo"/>
                <a:sym typeface="Hobo"/>
              </a:rPr>
              <a:t>Two Types of Writings Tools</a:t>
            </a:r>
            <a:endParaRPr lang="en-US" sz="5400" dirty="0">
              <a:solidFill>
                <a:srgbClr val="022C5E"/>
              </a:solidFill>
              <a:latin typeface="Hobo"/>
              <a:ea typeface="Hobo"/>
              <a:cs typeface="Hobo"/>
              <a:sym typeface="Hobo"/>
            </a:endParaRPr>
          </a:p>
        </p:txBody>
      </p:sp>
      <p:sp>
        <p:nvSpPr>
          <p:cNvPr id="19" name="TextBox 6"/>
          <p:cNvSpPr txBox="1"/>
          <p:nvPr/>
        </p:nvSpPr>
        <p:spPr>
          <a:xfrm>
            <a:off x="10439400" y="2854590"/>
            <a:ext cx="5934317" cy="1798441"/>
          </a:xfrm>
          <a:prstGeom prst="rect">
            <a:avLst/>
          </a:prstGeom>
        </p:spPr>
        <p:txBody>
          <a:bodyPr lIns="0" tIns="0" rIns="0" bIns="0" rtlCol="0" anchor="t">
            <a:spAutoFit/>
          </a:bodyPr>
          <a:lstStyle/>
          <a:p>
            <a:pPr algn="ctr">
              <a:lnSpc>
                <a:spcPts val="7279"/>
              </a:lnSpc>
            </a:pPr>
            <a:r>
              <a:rPr lang="en-US" sz="4400" dirty="0" smtClean="0">
                <a:solidFill>
                  <a:srgbClr val="022C5E"/>
                </a:solidFill>
                <a:latin typeface="Hobo"/>
                <a:ea typeface="Hobo"/>
                <a:cs typeface="Hobo"/>
                <a:sym typeface="Hobo"/>
              </a:rPr>
              <a:t>Generic Tools Implementation</a:t>
            </a:r>
            <a:endParaRPr lang="en-US" sz="4400" dirty="0">
              <a:solidFill>
                <a:srgbClr val="022C5E"/>
              </a:solidFill>
              <a:latin typeface="Hobo"/>
              <a:ea typeface="Hobo"/>
              <a:cs typeface="Hobo"/>
              <a:sym typeface="Hobo"/>
            </a:endParaRPr>
          </a:p>
        </p:txBody>
      </p:sp>
      <p:sp>
        <p:nvSpPr>
          <p:cNvPr id="7" name="Rectangle 6"/>
          <p:cNvSpPr/>
          <p:nvPr/>
        </p:nvSpPr>
        <p:spPr>
          <a:xfrm>
            <a:off x="2440088" y="5489378"/>
            <a:ext cx="5769237" cy="2246769"/>
          </a:xfrm>
          <a:prstGeom prst="rect">
            <a:avLst/>
          </a:prstGeom>
        </p:spPr>
        <p:txBody>
          <a:bodyPr wrap="square">
            <a:spAutoFit/>
          </a:bodyPr>
          <a:lstStyle/>
          <a:p>
            <a:r>
              <a:rPr lang="en-US" sz="2800" dirty="0">
                <a:solidFill>
                  <a:srgbClr val="17375E"/>
                </a:solidFill>
                <a:latin typeface="Hobo" panose="020B0604020202020204" charset="0"/>
                <a:cs typeface="Hobo" panose="020B0604020202020204" charset="0"/>
              </a:rPr>
              <a:t>@tool</a:t>
            </a:r>
          </a:p>
          <a:p>
            <a:r>
              <a:rPr lang="en-US" sz="2800" dirty="0">
                <a:solidFill>
                  <a:srgbClr val="17375E"/>
                </a:solidFill>
                <a:latin typeface="Hobo" panose="020B0604020202020204" charset="0"/>
                <a:cs typeface="Hobo" panose="020B0604020202020204" charset="0"/>
              </a:rPr>
              <a:t>def calculator(a: int, b: int) -&gt; int:</a:t>
            </a:r>
          </a:p>
          <a:p>
            <a:r>
              <a:rPr lang="en-US" sz="2800" dirty="0" smtClean="0">
                <a:solidFill>
                  <a:srgbClr val="17375E"/>
                </a:solidFill>
                <a:latin typeface="Hobo" panose="020B0604020202020204" charset="0"/>
                <a:cs typeface="Hobo" panose="020B0604020202020204" charset="0"/>
              </a:rPr>
              <a:t>	return </a:t>
            </a:r>
            <a:r>
              <a:rPr lang="en-US" sz="2800" dirty="0">
                <a:solidFill>
                  <a:srgbClr val="17375E"/>
                </a:solidFill>
                <a:latin typeface="Hobo" panose="020B0604020202020204" charset="0"/>
                <a:cs typeface="Hobo" panose="020B0604020202020204" charset="0"/>
              </a:rPr>
              <a:t>a * b</a:t>
            </a:r>
          </a:p>
          <a:p>
            <a:endParaRPr lang="en-US" sz="2800" dirty="0">
              <a:solidFill>
                <a:srgbClr val="17375E"/>
              </a:solidFill>
              <a:latin typeface="Hobo" panose="020B0604020202020204" charset="0"/>
              <a:cs typeface="Hobo" panose="020B0604020202020204" charset="0"/>
            </a:endParaRPr>
          </a:p>
          <a:p>
            <a:r>
              <a:rPr lang="en-US" sz="2800" dirty="0" smtClean="0">
                <a:solidFill>
                  <a:srgbClr val="17375E"/>
                </a:solidFill>
                <a:latin typeface="Hobo" panose="020B0604020202020204" charset="0"/>
                <a:cs typeface="Hobo" panose="020B0604020202020204" charset="0"/>
              </a:rPr>
              <a:t>print(calculator.to string</a:t>
            </a:r>
            <a:r>
              <a:rPr lang="en-US" sz="2800" dirty="0">
                <a:solidFill>
                  <a:srgbClr val="17375E"/>
                </a:solidFill>
                <a:latin typeface="Hobo" panose="020B0604020202020204" charset="0"/>
                <a:cs typeface="Hobo" panose="020B0604020202020204" charset="0"/>
              </a:rPr>
              <a:t>())</a:t>
            </a:r>
          </a:p>
        </p:txBody>
      </p:sp>
    </p:spTree>
    <p:extLst>
      <p:ext uri="{BB962C8B-B14F-4D97-AF65-F5344CB8AC3E}">
        <p14:creationId xmlns:p14="http://schemas.microsoft.com/office/powerpoint/2010/main" val="2856863335"/>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additive="base">
                                        <p:cTn id="17" dur="500" fill="hold"/>
                                        <p:tgtEl>
                                          <p:spTgt spid="20"/>
                                        </p:tgtEl>
                                        <p:attrNameLst>
                                          <p:attrName>ppt_x</p:attrName>
                                        </p:attrNameLst>
                                      </p:cBhvr>
                                      <p:tavLst>
                                        <p:tav tm="0">
                                          <p:val>
                                            <p:strVal val="#ppt_x"/>
                                          </p:val>
                                        </p:tav>
                                        <p:tav tm="100000">
                                          <p:val>
                                            <p:strVal val="#ppt_x"/>
                                          </p:val>
                                        </p:tav>
                                      </p:tavLst>
                                    </p:anim>
                                    <p:anim calcmode="lin" valueType="num">
                                      <p:cBhvr additive="base">
                                        <p:cTn id="18" dur="500" fill="hold"/>
                                        <p:tgtEl>
                                          <p:spTgt spid="20"/>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anim calcmode="lin" valueType="num">
                                      <p:cBhvr additive="base">
                                        <p:cTn id="21" dur="500" fill="hold"/>
                                        <p:tgtEl>
                                          <p:spTgt spid="19"/>
                                        </p:tgtEl>
                                        <p:attrNameLst>
                                          <p:attrName>ppt_x</p:attrName>
                                        </p:attrNameLst>
                                      </p:cBhvr>
                                      <p:tavLst>
                                        <p:tav tm="0">
                                          <p:val>
                                            <p:strVal val="#ppt_x"/>
                                          </p:val>
                                        </p:tav>
                                        <p:tav tm="100000">
                                          <p:val>
                                            <p:strVal val="#ppt_x"/>
                                          </p:val>
                                        </p:tav>
                                      </p:tavLst>
                                    </p:anim>
                                    <p:anim calcmode="lin" valueType="num">
                                      <p:cBhvr additive="base">
                                        <p:cTn id="2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 calcmode="lin" valueType="num">
                                      <p:cBhvr>
                                        <p:cTn id="27" dur="500" fill="hold"/>
                                        <p:tgtEl>
                                          <p:spTgt spid="7">
                                            <p:txEl>
                                              <p:pRg st="0" end="0"/>
                                            </p:txEl>
                                          </p:spTgt>
                                        </p:tgtEl>
                                        <p:attrNameLst>
                                          <p:attrName>ppt_w</p:attrName>
                                        </p:attrNameLst>
                                      </p:cBhvr>
                                      <p:tavLst>
                                        <p:tav tm="0">
                                          <p:val>
                                            <p:fltVal val="0"/>
                                          </p:val>
                                        </p:tav>
                                        <p:tav tm="100000">
                                          <p:val>
                                            <p:strVal val="#ppt_w"/>
                                          </p:val>
                                        </p:tav>
                                      </p:tavLst>
                                    </p:anim>
                                    <p:anim calcmode="lin" valueType="num">
                                      <p:cBhvr>
                                        <p:cTn id="28" dur="500" fill="hold"/>
                                        <p:tgtEl>
                                          <p:spTgt spid="7">
                                            <p:txEl>
                                              <p:pRg st="0" end="0"/>
                                            </p:txEl>
                                          </p:spTgt>
                                        </p:tgtEl>
                                        <p:attrNameLst>
                                          <p:attrName>ppt_h</p:attrName>
                                        </p:attrNameLst>
                                      </p:cBhvr>
                                      <p:tavLst>
                                        <p:tav tm="0">
                                          <p:val>
                                            <p:fltVal val="0"/>
                                          </p:val>
                                        </p:tav>
                                        <p:tav tm="100000">
                                          <p:val>
                                            <p:strVal val="#ppt_h"/>
                                          </p:val>
                                        </p:tav>
                                      </p:tavLst>
                                    </p:anim>
                                    <p:animEffect transition="in" filter="fade">
                                      <p:cBhvr>
                                        <p:cTn id="29" dur="500"/>
                                        <p:tgtEl>
                                          <p:spTgt spid="7">
                                            <p:txEl>
                                              <p:pRg st="0" end="0"/>
                                            </p:txEl>
                                          </p:spTgt>
                                        </p:tgtEl>
                                      </p:cBhvr>
                                    </p:animEffect>
                                  </p:childTnLst>
                                </p:cTn>
                              </p:par>
                              <p:par>
                                <p:cTn id="30" presetID="53" presetClass="entr" presetSubtype="16" fill="hold" nodeType="withEffect">
                                  <p:stCondLst>
                                    <p:cond delay="0"/>
                                  </p:stCondLst>
                                  <p:childTnLst>
                                    <p:set>
                                      <p:cBhvr>
                                        <p:cTn id="31" dur="1" fill="hold">
                                          <p:stCondLst>
                                            <p:cond delay="0"/>
                                          </p:stCondLst>
                                        </p:cTn>
                                        <p:tgtEl>
                                          <p:spTgt spid="7">
                                            <p:txEl>
                                              <p:pRg st="1" end="1"/>
                                            </p:txEl>
                                          </p:spTgt>
                                        </p:tgtEl>
                                        <p:attrNameLst>
                                          <p:attrName>style.visibility</p:attrName>
                                        </p:attrNameLst>
                                      </p:cBhvr>
                                      <p:to>
                                        <p:strVal val="visible"/>
                                      </p:to>
                                    </p:set>
                                    <p:anim calcmode="lin" valueType="num">
                                      <p:cBhvr>
                                        <p:cTn id="32" dur="500" fill="hold"/>
                                        <p:tgtEl>
                                          <p:spTgt spid="7">
                                            <p:txEl>
                                              <p:pRg st="1" end="1"/>
                                            </p:txEl>
                                          </p:spTgt>
                                        </p:tgtEl>
                                        <p:attrNameLst>
                                          <p:attrName>ppt_w</p:attrName>
                                        </p:attrNameLst>
                                      </p:cBhvr>
                                      <p:tavLst>
                                        <p:tav tm="0">
                                          <p:val>
                                            <p:fltVal val="0"/>
                                          </p:val>
                                        </p:tav>
                                        <p:tav tm="100000">
                                          <p:val>
                                            <p:strVal val="#ppt_w"/>
                                          </p:val>
                                        </p:tav>
                                      </p:tavLst>
                                    </p:anim>
                                    <p:anim calcmode="lin" valueType="num">
                                      <p:cBhvr>
                                        <p:cTn id="33" dur="500" fill="hold"/>
                                        <p:tgtEl>
                                          <p:spTgt spid="7">
                                            <p:txEl>
                                              <p:pRg st="1" end="1"/>
                                            </p:txEl>
                                          </p:spTgt>
                                        </p:tgtEl>
                                        <p:attrNameLst>
                                          <p:attrName>ppt_h</p:attrName>
                                        </p:attrNameLst>
                                      </p:cBhvr>
                                      <p:tavLst>
                                        <p:tav tm="0">
                                          <p:val>
                                            <p:fltVal val="0"/>
                                          </p:val>
                                        </p:tav>
                                        <p:tav tm="100000">
                                          <p:val>
                                            <p:strVal val="#ppt_h"/>
                                          </p:val>
                                        </p:tav>
                                      </p:tavLst>
                                    </p:anim>
                                    <p:animEffect transition="in" filter="fade">
                                      <p:cBhvr>
                                        <p:cTn id="34" dur="500"/>
                                        <p:tgtEl>
                                          <p:spTgt spid="7">
                                            <p:txEl>
                                              <p:pRg st="1" end="1"/>
                                            </p:txEl>
                                          </p:spTgt>
                                        </p:tgtEl>
                                      </p:cBhvr>
                                    </p:animEffect>
                                  </p:childTnLst>
                                </p:cTn>
                              </p:par>
                              <p:par>
                                <p:cTn id="35" presetID="53" presetClass="entr" presetSubtype="16" fill="hold" nodeType="withEffect">
                                  <p:stCondLst>
                                    <p:cond delay="0"/>
                                  </p:stCondLst>
                                  <p:childTnLst>
                                    <p:set>
                                      <p:cBhvr>
                                        <p:cTn id="36" dur="1" fill="hold">
                                          <p:stCondLst>
                                            <p:cond delay="0"/>
                                          </p:stCondLst>
                                        </p:cTn>
                                        <p:tgtEl>
                                          <p:spTgt spid="7">
                                            <p:txEl>
                                              <p:pRg st="2" end="2"/>
                                            </p:txEl>
                                          </p:spTgt>
                                        </p:tgtEl>
                                        <p:attrNameLst>
                                          <p:attrName>style.visibility</p:attrName>
                                        </p:attrNameLst>
                                      </p:cBhvr>
                                      <p:to>
                                        <p:strVal val="visible"/>
                                      </p:to>
                                    </p:set>
                                    <p:anim calcmode="lin" valueType="num">
                                      <p:cBhvr>
                                        <p:cTn id="37" dur="500" fill="hold"/>
                                        <p:tgtEl>
                                          <p:spTgt spid="7">
                                            <p:txEl>
                                              <p:pRg st="2" end="2"/>
                                            </p:txEl>
                                          </p:spTgt>
                                        </p:tgtEl>
                                        <p:attrNameLst>
                                          <p:attrName>ppt_w</p:attrName>
                                        </p:attrNameLst>
                                      </p:cBhvr>
                                      <p:tavLst>
                                        <p:tav tm="0">
                                          <p:val>
                                            <p:fltVal val="0"/>
                                          </p:val>
                                        </p:tav>
                                        <p:tav tm="100000">
                                          <p:val>
                                            <p:strVal val="#ppt_w"/>
                                          </p:val>
                                        </p:tav>
                                      </p:tavLst>
                                    </p:anim>
                                    <p:anim calcmode="lin" valueType="num">
                                      <p:cBhvr>
                                        <p:cTn id="38" dur="500" fill="hold"/>
                                        <p:tgtEl>
                                          <p:spTgt spid="7">
                                            <p:txEl>
                                              <p:pRg st="2" end="2"/>
                                            </p:txEl>
                                          </p:spTgt>
                                        </p:tgtEl>
                                        <p:attrNameLst>
                                          <p:attrName>ppt_h</p:attrName>
                                        </p:attrNameLst>
                                      </p:cBhvr>
                                      <p:tavLst>
                                        <p:tav tm="0">
                                          <p:val>
                                            <p:fltVal val="0"/>
                                          </p:val>
                                        </p:tav>
                                        <p:tav tm="100000">
                                          <p:val>
                                            <p:strVal val="#ppt_h"/>
                                          </p:val>
                                        </p:tav>
                                      </p:tavLst>
                                    </p:anim>
                                    <p:animEffect transition="in" filter="fade">
                                      <p:cBhvr>
                                        <p:cTn id="39" dur="500"/>
                                        <p:tgtEl>
                                          <p:spTgt spid="7">
                                            <p:txEl>
                                              <p:pRg st="2" end="2"/>
                                            </p:txEl>
                                          </p:spTgt>
                                        </p:tgtEl>
                                      </p:cBhvr>
                                    </p:animEffect>
                                  </p:childTnLst>
                                </p:cTn>
                              </p:par>
                              <p:par>
                                <p:cTn id="40" presetID="53" presetClass="entr" presetSubtype="16" fill="hold" nodeType="with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 calcmode="lin" valueType="num">
                                      <p:cBhvr>
                                        <p:cTn id="42" dur="500" fill="hold"/>
                                        <p:tgtEl>
                                          <p:spTgt spid="7">
                                            <p:txEl>
                                              <p:pRg st="4" end="4"/>
                                            </p:txEl>
                                          </p:spTgt>
                                        </p:tgtEl>
                                        <p:attrNameLst>
                                          <p:attrName>ppt_w</p:attrName>
                                        </p:attrNameLst>
                                      </p:cBhvr>
                                      <p:tavLst>
                                        <p:tav tm="0">
                                          <p:val>
                                            <p:fltVal val="0"/>
                                          </p:val>
                                        </p:tav>
                                        <p:tav tm="100000">
                                          <p:val>
                                            <p:strVal val="#ppt_w"/>
                                          </p:val>
                                        </p:tav>
                                      </p:tavLst>
                                    </p:anim>
                                    <p:anim calcmode="lin" valueType="num">
                                      <p:cBhvr>
                                        <p:cTn id="43" dur="500" fill="hold"/>
                                        <p:tgtEl>
                                          <p:spTgt spid="7">
                                            <p:txEl>
                                              <p:pRg st="4" end="4"/>
                                            </p:txEl>
                                          </p:spTgt>
                                        </p:tgtEl>
                                        <p:attrNameLst>
                                          <p:attrName>ppt_h</p:attrName>
                                        </p:attrNameLst>
                                      </p:cBhvr>
                                      <p:tavLst>
                                        <p:tav tm="0">
                                          <p:val>
                                            <p:fltVal val="0"/>
                                          </p:val>
                                        </p:tav>
                                        <p:tav tm="100000">
                                          <p:val>
                                            <p:strVal val="#ppt_h"/>
                                          </p:val>
                                        </p:tav>
                                      </p:tavLst>
                                    </p:anim>
                                    <p:animEffect transition="in" filter="fade">
                                      <p:cBhvr>
                                        <p:cTn id="44" dur="500"/>
                                        <p:tgtEl>
                                          <p:spTgt spid="7">
                                            <p:txEl>
                                              <p:pRg st="4" end="4"/>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21">
                                            <p:txEl>
                                              <p:pRg st="0" end="0"/>
                                            </p:txEl>
                                          </p:spTgt>
                                        </p:tgtEl>
                                        <p:attrNameLst>
                                          <p:attrName>style.visibility</p:attrName>
                                        </p:attrNameLst>
                                      </p:cBhvr>
                                      <p:to>
                                        <p:strVal val="visible"/>
                                      </p:to>
                                    </p:set>
                                    <p:anim calcmode="lin" valueType="num">
                                      <p:cBhvr>
                                        <p:cTn id="49" dur="500" fill="hold"/>
                                        <p:tgtEl>
                                          <p:spTgt spid="21">
                                            <p:txEl>
                                              <p:pRg st="0" end="0"/>
                                            </p:txEl>
                                          </p:spTgt>
                                        </p:tgtEl>
                                        <p:attrNameLst>
                                          <p:attrName>ppt_w</p:attrName>
                                        </p:attrNameLst>
                                      </p:cBhvr>
                                      <p:tavLst>
                                        <p:tav tm="0">
                                          <p:val>
                                            <p:fltVal val="0"/>
                                          </p:val>
                                        </p:tav>
                                        <p:tav tm="100000">
                                          <p:val>
                                            <p:strVal val="#ppt_w"/>
                                          </p:val>
                                        </p:tav>
                                      </p:tavLst>
                                    </p:anim>
                                    <p:anim calcmode="lin" valueType="num">
                                      <p:cBhvr>
                                        <p:cTn id="50" dur="500" fill="hold"/>
                                        <p:tgtEl>
                                          <p:spTgt spid="21">
                                            <p:txEl>
                                              <p:pRg st="0" end="0"/>
                                            </p:txEl>
                                          </p:spTgt>
                                        </p:tgtEl>
                                        <p:attrNameLst>
                                          <p:attrName>ppt_h</p:attrName>
                                        </p:attrNameLst>
                                      </p:cBhvr>
                                      <p:tavLst>
                                        <p:tav tm="0">
                                          <p:val>
                                            <p:fltVal val="0"/>
                                          </p:val>
                                        </p:tav>
                                        <p:tav tm="100000">
                                          <p:val>
                                            <p:strVal val="#ppt_h"/>
                                          </p:val>
                                        </p:tav>
                                      </p:tavLst>
                                    </p:anim>
                                    <p:animEffect transition="in" filter="fade">
                                      <p:cBhvr>
                                        <p:cTn id="51" dur="500"/>
                                        <p:tgtEl>
                                          <p:spTgt spid="21">
                                            <p:txEl>
                                              <p:pRg st="0" end="0"/>
                                            </p:txEl>
                                          </p:spTgt>
                                        </p:tgtEl>
                                      </p:cBhvr>
                                    </p:animEffect>
                                  </p:childTnLst>
                                </p:cTn>
                              </p:par>
                              <p:par>
                                <p:cTn id="52" presetID="53" presetClass="entr" presetSubtype="16" fill="hold" nodeType="withEffect">
                                  <p:stCondLst>
                                    <p:cond delay="0"/>
                                  </p:stCondLst>
                                  <p:childTnLst>
                                    <p:set>
                                      <p:cBhvr>
                                        <p:cTn id="53" dur="1" fill="hold">
                                          <p:stCondLst>
                                            <p:cond delay="0"/>
                                          </p:stCondLst>
                                        </p:cTn>
                                        <p:tgtEl>
                                          <p:spTgt spid="21">
                                            <p:txEl>
                                              <p:pRg st="1" end="1"/>
                                            </p:txEl>
                                          </p:spTgt>
                                        </p:tgtEl>
                                        <p:attrNameLst>
                                          <p:attrName>style.visibility</p:attrName>
                                        </p:attrNameLst>
                                      </p:cBhvr>
                                      <p:to>
                                        <p:strVal val="visible"/>
                                      </p:to>
                                    </p:set>
                                    <p:anim calcmode="lin" valueType="num">
                                      <p:cBhvr>
                                        <p:cTn id="54" dur="500" fill="hold"/>
                                        <p:tgtEl>
                                          <p:spTgt spid="21">
                                            <p:txEl>
                                              <p:pRg st="1" end="1"/>
                                            </p:txEl>
                                          </p:spTgt>
                                        </p:tgtEl>
                                        <p:attrNameLst>
                                          <p:attrName>ppt_w</p:attrName>
                                        </p:attrNameLst>
                                      </p:cBhvr>
                                      <p:tavLst>
                                        <p:tav tm="0">
                                          <p:val>
                                            <p:fltVal val="0"/>
                                          </p:val>
                                        </p:tav>
                                        <p:tav tm="100000">
                                          <p:val>
                                            <p:strVal val="#ppt_w"/>
                                          </p:val>
                                        </p:tav>
                                      </p:tavLst>
                                    </p:anim>
                                    <p:anim calcmode="lin" valueType="num">
                                      <p:cBhvr>
                                        <p:cTn id="55" dur="500" fill="hold"/>
                                        <p:tgtEl>
                                          <p:spTgt spid="21">
                                            <p:txEl>
                                              <p:pRg st="1" end="1"/>
                                            </p:txEl>
                                          </p:spTgt>
                                        </p:tgtEl>
                                        <p:attrNameLst>
                                          <p:attrName>ppt_h</p:attrName>
                                        </p:attrNameLst>
                                      </p:cBhvr>
                                      <p:tavLst>
                                        <p:tav tm="0">
                                          <p:val>
                                            <p:fltVal val="0"/>
                                          </p:val>
                                        </p:tav>
                                        <p:tav tm="100000">
                                          <p:val>
                                            <p:strVal val="#ppt_h"/>
                                          </p:val>
                                        </p:tav>
                                      </p:tavLst>
                                    </p:anim>
                                    <p:animEffect transition="in" filter="fade">
                                      <p:cBhvr>
                                        <p:cTn id="56" dur="500"/>
                                        <p:tgtEl>
                                          <p:spTgt spid="21">
                                            <p:txEl>
                                              <p:pRg st="1" end="1"/>
                                            </p:txEl>
                                          </p:spTgt>
                                        </p:tgtEl>
                                      </p:cBhvr>
                                    </p:animEffect>
                                  </p:childTnLst>
                                </p:cTn>
                              </p:par>
                              <p:par>
                                <p:cTn id="57" presetID="53" presetClass="entr" presetSubtype="16" fill="hold" nodeType="withEffect">
                                  <p:stCondLst>
                                    <p:cond delay="0"/>
                                  </p:stCondLst>
                                  <p:childTnLst>
                                    <p:set>
                                      <p:cBhvr>
                                        <p:cTn id="58" dur="1" fill="hold">
                                          <p:stCondLst>
                                            <p:cond delay="0"/>
                                          </p:stCondLst>
                                        </p:cTn>
                                        <p:tgtEl>
                                          <p:spTgt spid="21">
                                            <p:txEl>
                                              <p:pRg st="2" end="2"/>
                                            </p:txEl>
                                          </p:spTgt>
                                        </p:tgtEl>
                                        <p:attrNameLst>
                                          <p:attrName>style.visibility</p:attrName>
                                        </p:attrNameLst>
                                      </p:cBhvr>
                                      <p:to>
                                        <p:strVal val="visible"/>
                                      </p:to>
                                    </p:set>
                                    <p:anim calcmode="lin" valueType="num">
                                      <p:cBhvr>
                                        <p:cTn id="59" dur="500" fill="hold"/>
                                        <p:tgtEl>
                                          <p:spTgt spid="21">
                                            <p:txEl>
                                              <p:pRg st="2" end="2"/>
                                            </p:txEl>
                                          </p:spTgt>
                                        </p:tgtEl>
                                        <p:attrNameLst>
                                          <p:attrName>ppt_w</p:attrName>
                                        </p:attrNameLst>
                                      </p:cBhvr>
                                      <p:tavLst>
                                        <p:tav tm="0">
                                          <p:val>
                                            <p:fltVal val="0"/>
                                          </p:val>
                                        </p:tav>
                                        <p:tav tm="100000">
                                          <p:val>
                                            <p:strVal val="#ppt_w"/>
                                          </p:val>
                                        </p:tav>
                                      </p:tavLst>
                                    </p:anim>
                                    <p:anim calcmode="lin" valueType="num">
                                      <p:cBhvr>
                                        <p:cTn id="60" dur="500" fill="hold"/>
                                        <p:tgtEl>
                                          <p:spTgt spid="21">
                                            <p:txEl>
                                              <p:pRg st="2" end="2"/>
                                            </p:txEl>
                                          </p:spTgt>
                                        </p:tgtEl>
                                        <p:attrNameLst>
                                          <p:attrName>ppt_h</p:attrName>
                                        </p:attrNameLst>
                                      </p:cBhvr>
                                      <p:tavLst>
                                        <p:tav tm="0">
                                          <p:val>
                                            <p:fltVal val="0"/>
                                          </p:val>
                                        </p:tav>
                                        <p:tav tm="100000">
                                          <p:val>
                                            <p:strVal val="#ppt_h"/>
                                          </p:val>
                                        </p:tav>
                                      </p:tavLst>
                                    </p:anim>
                                    <p:animEffect transition="in" filter="fade">
                                      <p:cBhvr>
                                        <p:cTn id="61" dur="500"/>
                                        <p:tgtEl>
                                          <p:spTgt spid="21">
                                            <p:txEl>
                                              <p:pRg st="2" end="2"/>
                                            </p:txEl>
                                          </p:spTgt>
                                        </p:tgtEl>
                                      </p:cBhvr>
                                    </p:animEffect>
                                  </p:childTnLst>
                                </p:cTn>
                              </p:par>
                              <p:par>
                                <p:cTn id="62" presetID="53" presetClass="entr" presetSubtype="16" fill="hold" nodeType="withEffect">
                                  <p:stCondLst>
                                    <p:cond delay="0"/>
                                  </p:stCondLst>
                                  <p:childTnLst>
                                    <p:set>
                                      <p:cBhvr>
                                        <p:cTn id="63" dur="1" fill="hold">
                                          <p:stCondLst>
                                            <p:cond delay="0"/>
                                          </p:stCondLst>
                                        </p:cTn>
                                        <p:tgtEl>
                                          <p:spTgt spid="21">
                                            <p:txEl>
                                              <p:pRg st="3" end="3"/>
                                            </p:txEl>
                                          </p:spTgt>
                                        </p:tgtEl>
                                        <p:attrNameLst>
                                          <p:attrName>style.visibility</p:attrName>
                                        </p:attrNameLst>
                                      </p:cBhvr>
                                      <p:to>
                                        <p:strVal val="visible"/>
                                      </p:to>
                                    </p:set>
                                    <p:anim calcmode="lin" valueType="num">
                                      <p:cBhvr>
                                        <p:cTn id="64" dur="500" fill="hold"/>
                                        <p:tgtEl>
                                          <p:spTgt spid="21">
                                            <p:txEl>
                                              <p:pRg st="3" end="3"/>
                                            </p:txEl>
                                          </p:spTgt>
                                        </p:tgtEl>
                                        <p:attrNameLst>
                                          <p:attrName>ppt_w</p:attrName>
                                        </p:attrNameLst>
                                      </p:cBhvr>
                                      <p:tavLst>
                                        <p:tav tm="0">
                                          <p:val>
                                            <p:fltVal val="0"/>
                                          </p:val>
                                        </p:tav>
                                        <p:tav tm="100000">
                                          <p:val>
                                            <p:strVal val="#ppt_w"/>
                                          </p:val>
                                        </p:tav>
                                      </p:tavLst>
                                    </p:anim>
                                    <p:anim calcmode="lin" valueType="num">
                                      <p:cBhvr>
                                        <p:cTn id="65" dur="500" fill="hold"/>
                                        <p:tgtEl>
                                          <p:spTgt spid="21">
                                            <p:txEl>
                                              <p:pRg st="3" end="3"/>
                                            </p:txEl>
                                          </p:spTgt>
                                        </p:tgtEl>
                                        <p:attrNameLst>
                                          <p:attrName>ppt_h</p:attrName>
                                        </p:attrNameLst>
                                      </p:cBhvr>
                                      <p:tavLst>
                                        <p:tav tm="0">
                                          <p:val>
                                            <p:fltVal val="0"/>
                                          </p:val>
                                        </p:tav>
                                        <p:tav tm="100000">
                                          <p:val>
                                            <p:strVal val="#ppt_h"/>
                                          </p:val>
                                        </p:tav>
                                      </p:tavLst>
                                    </p:anim>
                                    <p:animEffect transition="in" filter="fade">
                                      <p:cBhvr>
                                        <p:cTn id="66" dur="500"/>
                                        <p:tgtEl>
                                          <p:spTgt spid="21">
                                            <p:txEl>
                                              <p:pRg st="3" end="3"/>
                                            </p:txEl>
                                          </p:spTgt>
                                        </p:tgtEl>
                                      </p:cBhvr>
                                    </p:animEffect>
                                  </p:childTnLst>
                                </p:cTn>
                              </p:par>
                              <p:par>
                                <p:cTn id="67" presetID="53" presetClass="entr" presetSubtype="16" fill="hold" nodeType="withEffect">
                                  <p:stCondLst>
                                    <p:cond delay="0"/>
                                  </p:stCondLst>
                                  <p:childTnLst>
                                    <p:set>
                                      <p:cBhvr>
                                        <p:cTn id="68" dur="1" fill="hold">
                                          <p:stCondLst>
                                            <p:cond delay="0"/>
                                          </p:stCondLst>
                                        </p:cTn>
                                        <p:tgtEl>
                                          <p:spTgt spid="21">
                                            <p:txEl>
                                              <p:pRg st="4" end="4"/>
                                            </p:txEl>
                                          </p:spTgt>
                                        </p:tgtEl>
                                        <p:attrNameLst>
                                          <p:attrName>style.visibility</p:attrName>
                                        </p:attrNameLst>
                                      </p:cBhvr>
                                      <p:to>
                                        <p:strVal val="visible"/>
                                      </p:to>
                                    </p:set>
                                    <p:anim calcmode="lin" valueType="num">
                                      <p:cBhvr>
                                        <p:cTn id="69" dur="500" fill="hold"/>
                                        <p:tgtEl>
                                          <p:spTgt spid="21">
                                            <p:txEl>
                                              <p:pRg st="4" end="4"/>
                                            </p:txEl>
                                          </p:spTgt>
                                        </p:tgtEl>
                                        <p:attrNameLst>
                                          <p:attrName>ppt_w</p:attrName>
                                        </p:attrNameLst>
                                      </p:cBhvr>
                                      <p:tavLst>
                                        <p:tav tm="0">
                                          <p:val>
                                            <p:fltVal val="0"/>
                                          </p:val>
                                        </p:tav>
                                        <p:tav tm="100000">
                                          <p:val>
                                            <p:strVal val="#ppt_w"/>
                                          </p:val>
                                        </p:tav>
                                      </p:tavLst>
                                    </p:anim>
                                    <p:anim calcmode="lin" valueType="num">
                                      <p:cBhvr>
                                        <p:cTn id="70" dur="500" fill="hold"/>
                                        <p:tgtEl>
                                          <p:spTgt spid="21">
                                            <p:txEl>
                                              <p:pRg st="4" end="4"/>
                                            </p:txEl>
                                          </p:spTgt>
                                        </p:tgtEl>
                                        <p:attrNameLst>
                                          <p:attrName>ppt_h</p:attrName>
                                        </p:attrNameLst>
                                      </p:cBhvr>
                                      <p:tavLst>
                                        <p:tav tm="0">
                                          <p:val>
                                            <p:fltVal val="0"/>
                                          </p:val>
                                        </p:tav>
                                        <p:tav tm="100000">
                                          <p:val>
                                            <p:strVal val="#ppt_h"/>
                                          </p:val>
                                        </p:tav>
                                      </p:tavLst>
                                    </p:anim>
                                    <p:animEffect transition="in" filter="fade">
                                      <p:cBhvr>
                                        <p:cTn id="71" dur="500"/>
                                        <p:tgtEl>
                                          <p:spTgt spid="21">
                                            <p:txEl>
                                              <p:pRg st="4" end="4"/>
                                            </p:txEl>
                                          </p:spTgt>
                                        </p:tgtEl>
                                      </p:cBhvr>
                                    </p:animEffect>
                                  </p:childTnLst>
                                </p:cTn>
                              </p:par>
                              <p:par>
                                <p:cTn id="72" presetID="53" presetClass="entr" presetSubtype="16" fill="hold" nodeType="withEffect">
                                  <p:stCondLst>
                                    <p:cond delay="0"/>
                                  </p:stCondLst>
                                  <p:childTnLst>
                                    <p:set>
                                      <p:cBhvr>
                                        <p:cTn id="73" dur="1" fill="hold">
                                          <p:stCondLst>
                                            <p:cond delay="0"/>
                                          </p:stCondLst>
                                        </p:cTn>
                                        <p:tgtEl>
                                          <p:spTgt spid="21">
                                            <p:txEl>
                                              <p:pRg st="5" end="5"/>
                                            </p:txEl>
                                          </p:spTgt>
                                        </p:tgtEl>
                                        <p:attrNameLst>
                                          <p:attrName>style.visibility</p:attrName>
                                        </p:attrNameLst>
                                      </p:cBhvr>
                                      <p:to>
                                        <p:strVal val="visible"/>
                                      </p:to>
                                    </p:set>
                                    <p:anim calcmode="lin" valueType="num">
                                      <p:cBhvr>
                                        <p:cTn id="74" dur="500" fill="hold"/>
                                        <p:tgtEl>
                                          <p:spTgt spid="21">
                                            <p:txEl>
                                              <p:pRg st="5" end="5"/>
                                            </p:txEl>
                                          </p:spTgt>
                                        </p:tgtEl>
                                        <p:attrNameLst>
                                          <p:attrName>ppt_w</p:attrName>
                                        </p:attrNameLst>
                                      </p:cBhvr>
                                      <p:tavLst>
                                        <p:tav tm="0">
                                          <p:val>
                                            <p:fltVal val="0"/>
                                          </p:val>
                                        </p:tav>
                                        <p:tav tm="100000">
                                          <p:val>
                                            <p:strVal val="#ppt_w"/>
                                          </p:val>
                                        </p:tav>
                                      </p:tavLst>
                                    </p:anim>
                                    <p:anim calcmode="lin" valueType="num">
                                      <p:cBhvr>
                                        <p:cTn id="75" dur="500" fill="hold"/>
                                        <p:tgtEl>
                                          <p:spTgt spid="21">
                                            <p:txEl>
                                              <p:pRg st="5" end="5"/>
                                            </p:txEl>
                                          </p:spTgt>
                                        </p:tgtEl>
                                        <p:attrNameLst>
                                          <p:attrName>ppt_h</p:attrName>
                                        </p:attrNameLst>
                                      </p:cBhvr>
                                      <p:tavLst>
                                        <p:tav tm="0">
                                          <p:val>
                                            <p:fltVal val="0"/>
                                          </p:val>
                                        </p:tav>
                                        <p:tav tm="100000">
                                          <p:val>
                                            <p:strVal val="#ppt_h"/>
                                          </p:val>
                                        </p:tav>
                                      </p:tavLst>
                                    </p:anim>
                                    <p:animEffect transition="in" filter="fade">
                                      <p:cBhvr>
                                        <p:cTn id="76" dur="500"/>
                                        <p:tgtEl>
                                          <p:spTgt spid="21">
                                            <p:txEl>
                                              <p:pRg st="5" end="5"/>
                                            </p:txEl>
                                          </p:spTgt>
                                        </p:tgtEl>
                                      </p:cBhvr>
                                    </p:animEffect>
                                  </p:childTnLst>
                                </p:cTn>
                              </p:par>
                              <p:par>
                                <p:cTn id="77" presetID="53" presetClass="entr" presetSubtype="16" fill="hold" nodeType="withEffect">
                                  <p:stCondLst>
                                    <p:cond delay="0"/>
                                  </p:stCondLst>
                                  <p:childTnLst>
                                    <p:set>
                                      <p:cBhvr>
                                        <p:cTn id="78" dur="1" fill="hold">
                                          <p:stCondLst>
                                            <p:cond delay="0"/>
                                          </p:stCondLst>
                                        </p:cTn>
                                        <p:tgtEl>
                                          <p:spTgt spid="21">
                                            <p:txEl>
                                              <p:pRg st="6" end="6"/>
                                            </p:txEl>
                                          </p:spTgt>
                                        </p:tgtEl>
                                        <p:attrNameLst>
                                          <p:attrName>style.visibility</p:attrName>
                                        </p:attrNameLst>
                                      </p:cBhvr>
                                      <p:to>
                                        <p:strVal val="visible"/>
                                      </p:to>
                                    </p:set>
                                    <p:anim calcmode="lin" valueType="num">
                                      <p:cBhvr>
                                        <p:cTn id="79" dur="500" fill="hold"/>
                                        <p:tgtEl>
                                          <p:spTgt spid="21">
                                            <p:txEl>
                                              <p:pRg st="6" end="6"/>
                                            </p:txEl>
                                          </p:spTgt>
                                        </p:tgtEl>
                                        <p:attrNameLst>
                                          <p:attrName>ppt_w</p:attrName>
                                        </p:attrNameLst>
                                      </p:cBhvr>
                                      <p:tavLst>
                                        <p:tav tm="0">
                                          <p:val>
                                            <p:fltVal val="0"/>
                                          </p:val>
                                        </p:tav>
                                        <p:tav tm="100000">
                                          <p:val>
                                            <p:strVal val="#ppt_w"/>
                                          </p:val>
                                        </p:tav>
                                      </p:tavLst>
                                    </p:anim>
                                    <p:anim calcmode="lin" valueType="num">
                                      <p:cBhvr>
                                        <p:cTn id="80" dur="500" fill="hold"/>
                                        <p:tgtEl>
                                          <p:spTgt spid="21">
                                            <p:txEl>
                                              <p:pRg st="6" end="6"/>
                                            </p:txEl>
                                          </p:spTgt>
                                        </p:tgtEl>
                                        <p:attrNameLst>
                                          <p:attrName>ppt_h</p:attrName>
                                        </p:attrNameLst>
                                      </p:cBhvr>
                                      <p:tavLst>
                                        <p:tav tm="0">
                                          <p:val>
                                            <p:fltVal val="0"/>
                                          </p:val>
                                        </p:tav>
                                        <p:tav tm="100000">
                                          <p:val>
                                            <p:strVal val="#ppt_h"/>
                                          </p:val>
                                        </p:tav>
                                      </p:tavLst>
                                    </p:anim>
                                    <p:animEffect transition="in" filter="fade">
                                      <p:cBhvr>
                                        <p:cTn id="81" dur="500"/>
                                        <p:tgtEl>
                                          <p:spTgt spid="21">
                                            <p:txEl>
                                              <p:pRg st="6" end="6"/>
                                            </p:txEl>
                                          </p:spTgt>
                                        </p:tgtEl>
                                      </p:cBhvr>
                                    </p:animEffect>
                                  </p:childTnLst>
                                </p:cTn>
                              </p:par>
                              <p:par>
                                <p:cTn id="82" presetID="53" presetClass="entr" presetSubtype="16" fill="hold" nodeType="withEffect">
                                  <p:stCondLst>
                                    <p:cond delay="0"/>
                                  </p:stCondLst>
                                  <p:childTnLst>
                                    <p:set>
                                      <p:cBhvr>
                                        <p:cTn id="83" dur="1" fill="hold">
                                          <p:stCondLst>
                                            <p:cond delay="0"/>
                                          </p:stCondLst>
                                        </p:cTn>
                                        <p:tgtEl>
                                          <p:spTgt spid="21">
                                            <p:txEl>
                                              <p:pRg st="7" end="7"/>
                                            </p:txEl>
                                          </p:spTgt>
                                        </p:tgtEl>
                                        <p:attrNameLst>
                                          <p:attrName>style.visibility</p:attrName>
                                        </p:attrNameLst>
                                      </p:cBhvr>
                                      <p:to>
                                        <p:strVal val="visible"/>
                                      </p:to>
                                    </p:set>
                                    <p:anim calcmode="lin" valueType="num">
                                      <p:cBhvr>
                                        <p:cTn id="84" dur="500" fill="hold"/>
                                        <p:tgtEl>
                                          <p:spTgt spid="21">
                                            <p:txEl>
                                              <p:pRg st="7" end="7"/>
                                            </p:txEl>
                                          </p:spTgt>
                                        </p:tgtEl>
                                        <p:attrNameLst>
                                          <p:attrName>ppt_w</p:attrName>
                                        </p:attrNameLst>
                                      </p:cBhvr>
                                      <p:tavLst>
                                        <p:tav tm="0">
                                          <p:val>
                                            <p:fltVal val="0"/>
                                          </p:val>
                                        </p:tav>
                                        <p:tav tm="100000">
                                          <p:val>
                                            <p:strVal val="#ppt_w"/>
                                          </p:val>
                                        </p:tav>
                                      </p:tavLst>
                                    </p:anim>
                                    <p:anim calcmode="lin" valueType="num">
                                      <p:cBhvr>
                                        <p:cTn id="85" dur="500" fill="hold"/>
                                        <p:tgtEl>
                                          <p:spTgt spid="21">
                                            <p:txEl>
                                              <p:pRg st="7" end="7"/>
                                            </p:txEl>
                                          </p:spTgt>
                                        </p:tgtEl>
                                        <p:attrNameLst>
                                          <p:attrName>ppt_h</p:attrName>
                                        </p:attrNameLst>
                                      </p:cBhvr>
                                      <p:tavLst>
                                        <p:tav tm="0">
                                          <p:val>
                                            <p:fltVal val="0"/>
                                          </p:val>
                                        </p:tav>
                                        <p:tav tm="100000">
                                          <p:val>
                                            <p:strVal val="#ppt_h"/>
                                          </p:val>
                                        </p:tav>
                                      </p:tavLst>
                                    </p:anim>
                                    <p:animEffect transition="in" filter="fade">
                                      <p:cBhvr>
                                        <p:cTn id="86" dur="500"/>
                                        <p:tgtEl>
                                          <p:spTgt spid="2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67720" y="8031009"/>
            <a:ext cx="16805381" cy="9025890"/>
          </a:xfrm>
          <a:custGeom>
            <a:avLst/>
            <a:gdLst/>
            <a:ahLst/>
            <a:cxnLst/>
            <a:rect l="l" t="t" r="r" b="b"/>
            <a:pathLst>
              <a:path w="16805381" h="9025890">
                <a:moveTo>
                  <a:pt x="0" y="0"/>
                </a:moveTo>
                <a:lnTo>
                  <a:pt x="16805381" y="0"/>
                </a:lnTo>
                <a:lnTo>
                  <a:pt x="16805381" y="9025890"/>
                </a:lnTo>
                <a:lnTo>
                  <a:pt x="0" y="9025890"/>
                </a:lnTo>
                <a:lnTo>
                  <a:pt x="0" y="0"/>
                </a:lnTo>
                <a:close/>
              </a:path>
            </a:pathLst>
          </a:custGeom>
          <a:blipFill>
            <a:blip r:embed="rId2">
              <a:alphaModFix amt="85000"/>
            </a:blip>
            <a:stretch>
              <a:fillRect/>
            </a:stretch>
          </a:blipFill>
        </p:spPr>
      </p:sp>
      <p:sp>
        <p:nvSpPr>
          <p:cNvPr id="8" name="Freeform 8"/>
          <p:cNvSpPr/>
          <p:nvPr/>
        </p:nvSpPr>
        <p:spPr>
          <a:xfrm>
            <a:off x="10910287" y="-6589014"/>
            <a:ext cx="16805381" cy="9025890"/>
          </a:xfrm>
          <a:custGeom>
            <a:avLst/>
            <a:gdLst/>
            <a:ahLst/>
            <a:cxnLst/>
            <a:rect l="l" t="t" r="r" b="b"/>
            <a:pathLst>
              <a:path w="16805381" h="9025890">
                <a:moveTo>
                  <a:pt x="0" y="0"/>
                </a:moveTo>
                <a:lnTo>
                  <a:pt x="16805381" y="0"/>
                </a:lnTo>
                <a:lnTo>
                  <a:pt x="16805381" y="9025890"/>
                </a:lnTo>
                <a:lnTo>
                  <a:pt x="0" y="9025890"/>
                </a:lnTo>
                <a:lnTo>
                  <a:pt x="0" y="0"/>
                </a:lnTo>
                <a:close/>
              </a:path>
            </a:pathLst>
          </a:custGeom>
          <a:blipFill>
            <a:blip r:embed="rId2">
              <a:alphaModFix amt="85000"/>
            </a:blip>
            <a:stretch>
              <a:fillRect/>
            </a:stretch>
          </a:blipFill>
        </p:spPr>
      </p:sp>
      <p:sp>
        <p:nvSpPr>
          <p:cNvPr id="19" name="TextBox 19"/>
          <p:cNvSpPr txBox="1"/>
          <p:nvPr/>
        </p:nvSpPr>
        <p:spPr>
          <a:xfrm>
            <a:off x="5334000" y="4381500"/>
            <a:ext cx="11353800" cy="1953099"/>
          </a:xfrm>
          <a:prstGeom prst="rect">
            <a:avLst/>
          </a:prstGeom>
        </p:spPr>
        <p:txBody>
          <a:bodyPr wrap="square" lIns="0" tIns="0" rIns="0" bIns="0" rtlCol="0" anchor="t">
            <a:spAutoFit/>
          </a:bodyPr>
          <a:lstStyle/>
          <a:p>
            <a:pPr algn="ctr">
              <a:lnSpc>
                <a:spcPts val="7279"/>
              </a:lnSpc>
            </a:pPr>
            <a:r>
              <a:rPr lang="en-US" sz="9600" dirty="0" smtClean="0">
                <a:solidFill>
                  <a:srgbClr val="17375E"/>
                </a:solidFill>
                <a:latin typeface="Sergio Trendy" panose="020B0604020202020204" charset="0"/>
              </a:rPr>
              <a:t>Dummy Agent Library</a:t>
            </a:r>
            <a:endParaRPr lang="en-US" sz="9600" dirty="0">
              <a:solidFill>
                <a:srgbClr val="17375E"/>
              </a:solidFill>
              <a:latin typeface="Sergio Trendy" panose="020B0604020202020204" charset="0"/>
              <a:ea typeface="Hobo"/>
              <a:cs typeface="Hobo"/>
              <a:sym typeface="Hobo"/>
            </a:endParaRPr>
          </a:p>
        </p:txBody>
      </p:sp>
      <p:sp>
        <p:nvSpPr>
          <p:cNvPr id="6" name="TextBox 5"/>
          <p:cNvSpPr txBox="1"/>
          <p:nvPr/>
        </p:nvSpPr>
        <p:spPr>
          <a:xfrm>
            <a:off x="16687800" y="9182100"/>
            <a:ext cx="1295400" cy="523220"/>
          </a:xfrm>
          <a:prstGeom prst="rect">
            <a:avLst/>
          </a:prstGeom>
          <a:noFill/>
        </p:spPr>
        <p:txBody>
          <a:bodyPr wrap="square" rtlCol="0">
            <a:spAutoFit/>
          </a:bodyPr>
          <a:lstStyle/>
          <a:p>
            <a:r>
              <a:rPr lang="en-US" sz="2800" dirty="0"/>
              <a:t>9</a:t>
            </a:r>
          </a:p>
        </p:txBody>
      </p:sp>
    </p:spTree>
    <p:extLst>
      <p:ext uri="{BB962C8B-B14F-4D97-AF65-F5344CB8AC3E}">
        <p14:creationId xmlns:p14="http://schemas.microsoft.com/office/powerpoint/2010/main" val="25256609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336674" y="-6604364"/>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4" name="Freeform 4"/>
          <p:cNvSpPr/>
          <p:nvPr/>
        </p:nvSpPr>
        <p:spPr>
          <a:xfrm>
            <a:off x="6039751" y="8955191"/>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17" name="TextBox 16"/>
          <p:cNvSpPr txBox="1"/>
          <p:nvPr/>
        </p:nvSpPr>
        <p:spPr>
          <a:xfrm>
            <a:off x="16687800" y="9182100"/>
            <a:ext cx="1295400" cy="523220"/>
          </a:xfrm>
          <a:prstGeom prst="rect">
            <a:avLst/>
          </a:prstGeom>
          <a:noFill/>
        </p:spPr>
        <p:txBody>
          <a:bodyPr wrap="square" rtlCol="0">
            <a:spAutoFit/>
          </a:bodyPr>
          <a:lstStyle/>
          <a:p>
            <a:r>
              <a:rPr lang="en-US" sz="2800" dirty="0" smtClean="0"/>
              <a:t>10</a:t>
            </a:r>
            <a:endParaRPr lang="en-US" sz="2800" dirty="0"/>
          </a:p>
        </p:txBody>
      </p:sp>
      <p:pic>
        <p:nvPicPr>
          <p:cNvPr id="5" name="Picture 4"/>
          <p:cNvPicPr>
            <a:picLocks noChangeAspect="1"/>
          </p:cNvPicPr>
          <p:nvPr/>
        </p:nvPicPr>
        <p:blipFill>
          <a:blip r:embed="rId4"/>
          <a:stretch>
            <a:fillRect/>
          </a:stretch>
        </p:blipFill>
        <p:spPr>
          <a:xfrm>
            <a:off x="5715000" y="1663336"/>
            <a:ext cx="6853253" cy="6178660"/>
          </a:xfrm>
          <a:prstGeom prst="rect">
            <a:avLst/>
          </a:prstGeom>
        </p:spPr>
      </p:pic>
    </p:spTree>
    <p:extLst>
      <p:ext uri="{BB962C8B-B14F-4D97-AF65-F5344CB8AC3E}">
        <p14:creationId xmlns:p14="http://schemas.microsoft.com/office/powerpoint/2010/main" val="781543192"/>
      </p:ext>
    </p:extLst>
  </p:cSld>
  <p:clrMapOvr>
    <a:masterClrMapping/>
  </p:clrMapOvr>
  <p:transition spd="slow">
    <p:cove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reeform 2"/>
          <p:cNvSpPr/>
          <p:nvPr/>
        </p:nvSpPr>
        <p:spPr>
          <a:xfrm>
            <a:off x="-2336674" y="-6604364"/>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4" name="Freeform 4"/>
          <p:cNvSpPr/>
          <p:nvPr/>
        </p:nvSpPr>
        <p:spPr>
          <a:xfrm>
            <a:off x="6039751" y="8955191"/>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17" name="TextBox 16"/>
          <p:cNvSpPr txBox="1"/>
          <p:nvPr/>
        </p:nvSpPr>
        <p:spPr>
          <a:xfrm>
            <a:off x="16687800" y="9182100"/>
            <a:ext cx="1295400" cy="523220"/>
          </a:xfrm>
          <a:prstGeom prst="rect">
            <a:avLst/>
          </a:prstGeom>
          <a:noFill/>
        </p:spPr>
        <p:txBody>
          <a:bodyPr wrap="square" rtlCol="0">
            <a:spAutoFit/>
          </a:bodyPr>
          <a:lstStyle/>
          <a:p>
            <a:r>
              <a:rPr lang="en-US" sz="2800" dirty="0" smtClean="0"/>
              <a:t>11</a:t>
            </a:r>
            <a:endParaRPr lang="en-US" sz="2800" dirty="0"/>
          </a:p>
        </p:txBody>
      </p:sp>
      <p:sp>
        <p:nvSpPr>
          <p:cNvPr id="3" name="Flowchart: Magnetic Disk 2"/>
          <p:cNvSpPr/>
          <p:nvPr/>
        </p:nvSpPr>
        <p:spPr>
          <a:xfrm>
            <a:off x="968544" y="183968"/>
            <a:ext cx="6248400" cy="3505200"/>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1"/>
          <p:cNvSpPr>
            <a:spLocks noChangeArrowheads="1"/>
          </p:cNvSpPr>
          <p:nvPr/>
        </p:nvSpPr>
        <p:spPr bwMode="auto">
          <a:xfrm>
            <a:off x="1172596" y="167184"/>
            <a:ext cx="5867400" cy="4980037"/>
          </a:xfrm>
          <a:prstGeom prst="rect">
            <a:avLst/>
          </a:prstGeom>
          <a:solidFill>
            <a:srgbClr val="F9FAFB">
              <a:alpha val="0"/>
            </a:srgbClr>
          </a:solidFill>
          <a:ln>
            <a:noFill/>
          </a:ln>
          <a:effectLst/>
        </p:spPr>
        <p:txBody>
          <a:bodyPr vert="horz" wrap="square" lIns="0" tIns="271377" rIns="0" bIns="271377"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i="0" u="none" strike="noStrike" cap="none" normalizeH="0" baseline="0" dirty="0" smtClean="0">
                <a:ln>
                  <a:noFill/>
                </a:ln>
                <a:solidFill>
                  <a:schemeClr val="bg1"/>
                </a:solidFill>
                <a:effectLst/>
                <a:latin typeface="Open Sans" panose="020B0604020202020204" charset="0"/>
                <a:ea typeface="Open Sans" panose="020B0604020202020204" charset="0"/>
                <a:cs typeface="Open Sans" panose="020B0604020202020204" charset="0"/>
              </a:rPr>
              <a:t>client.chat.completions.create(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i="0" u="none" strike="noStrike" cap="none" normalizeH="0" baseline="0" dirty="0" smtClean="0">
              <a:ln>
                <a:noFill/>
              </a:ln>
              <a:solidFill>
                <a:schemeClr val="bg1"/>
              </a:solidFill>
              <a:effectLst/>
              <a:latin typeface="Open Sans" panose="020B0604020202020204" charset="0"/>
              <a:ea typeface="Open Sans" panose="020B0604020202020204" charset="0"/>
              <a:cs typeface="Open Sans" panose="020B0604020202020204" charset="0"/>
            </a:endParaRPr>
          </a:p>
          <a:p>
            <a:pPr eaLnBrk="0" fontAlgn="base" hangingPunct="0">
              <a:spcBef>
                <a:spcPct val="0"/>
              </a:spcBef>
              <a:spcAft>
                <a:spcPct val="0"/>
              </a:spcAft>
            </a:pPr>
            <a:r>
              <a:rPr lang="en-US" altLang="en-US" sz="3200" dirty="0">
                <a:solidFill>
                  <a:schemeClr val="bg1"/>
                </a:solidFill>
                <a:latin typeface="Open Sans" panose="020B0604020202020204" charset="0"/>
                <a:ea typeface="Open Sans" panose="020B0604020202020204" charset="0"/>
                <a:cs typeface="Open Sans" panose="020B0604020202020204" charset="0"/>
              </a:rPr>
              <a:t>messages=messages, stream=False, max_tokens=200, </a:t>
            </a:r>
            <a:endParaRPr lang="en-US" altLang="en-US" sz="3200" dirty="0" smtClean="0">
              <a:solidFill>
                <a:schemeClr val="bg1"/>
              </a:solidFill>
              <a:latin typeface="Open Sans" panose="020B0604020202020204" charset="0"/>
              <a:ea typeface="Open Sans" panose="020B0604020202020204" charset="0"/>
              <a:cs typeface="Open Sans" panose="020B0604020202020204" charset="0"/>
            </a:endParaRPr>
          </a:p>
          <a:p>
            <a:pPr eaLnBrk="0" fontAlgn="base" hangingPunct="0">
              <a:spcBef>
                <a:spcPct val="0"/>
              </a:spcBef>
              <a:spcAft>
                <a:spcPct val="0"/>
              </a:spcAft>
            </a:pPr>
            <a:r>
              <a:rPr lang="en-US" altLang="en-US" sz="3200" dirty="0" smtClean="0">
                <a:solidFill>
                  <a:schemeClr val="bg1"/>
                </a:solidFill>
                <a:latin typeface="Open Sans" panose="020B0604020202020204" charset="0"/>
                <a:ea typeface="Open Sans" panose="020B0604020202020204" charset="0"/>
                <a:cs typeface="Open Sans" panose="020B0604020202020204" charset="0"/>
              </a:rPr>
              <a:t>) </a:t>
            </a:r>
            <a:endParaRPr lang="en-US" altLang="en-US" sz="3200" dirty="0">
              <a:solidFill>
                <a:schemeClr val="bg1"/>
              </a:solidFill>
              <a:latin typeface="Open Sans" panose="020B0604020202020204" charset="0"/>
              <a:ea typeface="Open Sans" panose="020B0604020202020204" charset="0"/>
              <a:cs typeface="Open Sans" panose="020B060402020202020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i="0" u="none" strike="noStrike" cap="none" normalizeH="0" baseline="0" dirty="0" smtClean="0">
              <a:ln>
                <a:noFill/>
              </a:ln>
              <a:solidFill>
                <a:schemeClr val="bg1"/>
              </a:solidFill>
              <a:effectLst/>
              <a:latin typeface="Open Sans" panose="020B0604020202020204" charset="0"/>
              <a:ea typeface="Open Sans" panose="020B0604020202020204" charset="0"/>
              <a:cs typeface="Open Sans" panose="020B060402020202020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3200" dirty="0">
              <a:solidFill>
                <a:schemeClr val="bg1"/>
              </a:solidFill>
              <a:latin typeface="Open Sans" panose="020B0604020202020204" charset="0"/>
              <a:ea typeface="Open Sans" panose="020B0604020202020204" charset="0"/>
              <a:cs typeface="Open Sans" panose="020B060402020202020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i="0" u="none" strike="noStrike" cap="none" normalizeH="0" baseline="0" dirty="0" smtClean="0">
                <a:ln>
                  <a:noFill/>
                </a:ln>
                <a:solidFill>
                  <a:schemeClr val="bg1"/>
                </a:solidFill>
                <a:effectLst/>
                <a:latin typeface="Open Sans" panose="020B0604020202020204" charset="0"/>
                <a:ea typeface="Open Sans" panose="020B0604020202020204" charset="0"/>
                <a:cs typeface="Open Sans" panose="020B0604020202020204" charset="0"/>
              </a:rPr>
              <a:t> </a:t>
            </a:r>
          </a:p>
        </p:txBody>
      </p:sp>
      <p:cxnSp>
        <p:nvCxnSpPr>
          <p:cNvPr id="10" name="Straight Arrow Connector 9"/>
          <p:cNvCxnSpPr/>
          <p:nvPr/>
        </p:nvCxnSpPr>
        <p:spPr>
          <a:xfrm flipV="1">
            <a:off x="5331508" y="1249048"/>
            <a:ext cx="2199768" cy="3929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Vertical Scroll 11"/>
          <p:cNvSpPr/>
          <p:nvPr/>
        </p:nvSpPr>
        <p:spPr>
          <a:xfrm>
            <a:off x="7420996" y="445711"/>
            <a:ext cx="10867004" cy="2640389"/>
          </a:xfrm>
          <a:prstGeom prst="verticalScroll">
            <a:avLst/>
          </a:prstGeom>
          <a:solidFill>
            <a:schemeClr val="accent1">
              <a:alpha val="63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3" name="Rectangle 3"/>
          <p:cNvSpPr>
            <a:spLocks noChangeArrowheads="1"/>
          </p:cNvSpPr>
          <p:nvPr/>
        </p:nvSpPr>
        <p:spPr bwMode="auto">
          <a:xfrm>
            <a:off x="7912276" y="452001"/>
            <a:ext cx="9994724" cy="2271603"/>
          </a:xfrm>
          <a:prstGeom prst="rect">
            <a:avLst/>
          </a:prstGeom>
          <a:solidFill>
            <a:srgbClr val="F9FAFB">
              <a:alpha val="0"/>
            </a:srgbClr>
          </a:solidFill>
          <a:ln>
            <a:noFill/>
          </a:ln>
          <a:effectLst/>
        </p:spPr>
        <p:txBody>
          <a:bodyPr vert="horz" wrap="none" lIns="0" tIns="271377" rIns="0" bIns="271377"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smtClean="0">
                <a:ln>
                  <a:noFill/>
                </a:ln>
                <a:solidFill>
                  <a:schemeClr val="bg1"/>
                </a:solidFill>
                <a:effectLst/>
                <a:latin typeface="Open Sans" panose="020B0604020202020204" charset="0"/>
                <a:ea typeface="Open Sans" panose="020B0604020202020204" charset="0"/>
                <a:cs typeface="Open Sans" panose="020B0604020202020204" charset="0"/>
              </a:rPr>
              <a:t>messages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dirty="0">
                <a:solidFill>
                  <a:schemeClr val="bg1"/>
                </a:solidFill>
                <a:latin typeface="Open Sans" panose="020B0604020202020204" charset="0"/>
                <a:ea typeface="Open Sans" panose="020B0604020202020204" charset="0"/>
                <a:cs typeface="Open Sans" panose="020B0604020202020204" charset="0"/>
              </a:rPr>
              <a:t>	</a:t>
            </a:r>
            <a:r>
              <a:rPr lang="en-US" altLang="en-US" sz="2800" dirty="0" smtClean="0">
                <a:solidFill>
                  <a:schemeClr val="bg1"/>
                </a:solidFill>
                <a:latin typeface="Open Sans" panose="020B0604020202020204" charset="0"/>
                <a:ea typeface="Open Sans" panose="020B0604020202020204" charset="0"/>
                <a:cs typeface="Open Sans" panose="020B0604020202020204" charset="0"/>
              </a:rPr>
              <a:t>	</a:t>
            </a:r>
            <a:r>
              <a:rPr kumimoji="0" lang="en-US" altLang="en-US" sz="2800" b="0" i="0" u="none" strike="noStrike" cap="none" normalizeH="0" baseline="0" dirty="0" smtClean="0">
                <a:ln>
                  <a:noFill/>
                </a:ln>
                <a:solidFill>
                  <a:schemeClr val="bg1"/>
                </a:solidFill>
                <a:effectLst/>
                <a:latin typeface="Open Sans" panose="020B0604020202020204" charset="0"/>
                <a:ea typeface="Open Sans" panose="020B0604020202020204" charset="0"/>
                <a:cs typeface="Open Sans" panose="020B0604020202020204" charset="0"/>
              </a:rPr>
              <a:t> [ {"role": "system", "content": SYSTEM_PROMPT},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dirty="0">
                <a:solidFill>
                  <a:schemeClr val="bg1"/>
                </a:solidFill>
                <a:latin typeface="Open Sans" panose="020B0604020202020204" charset="0"/>
                <a:ea typeface="Open Sans" panose="020B0604020202020204" charset="0"/>
                <a:cs typeface="Open Sans" panose="020B0604020202020204" charset="0"/>
              </a:rPr>
              <a:t>	</a:t>
            </a:r>
            <a:r>
              <a:rPr lang="en-US" altLang="en-US" sz="2800" dirty="0" smtClean="0">
                <a:solidFill>
                  <a:schemeClr val="bg1"/>
                </a:solidFill>
                <a:latin typeface="Open Sans" panose="020B0604020202020204" charset="0"/>
                <a:ea typeface="Open Sans" panose="020B0604020202020204" charset="0"/>
                <a:cs typeface="Open Sans" panose="020B0604020202020204" charset="0"/>
              </a:rPr>
              <a:t>	</a:t>
            </a:r>
            <a:r>
              <a:rPr kumimoji="0" lang="en-US" altLang="en-US" sz="2800" b="0" i="0" u="none" strike="noStrike" cap="none" normalizeH="0" baseline="0" dirty="0" smtClean="0">
                <a:ln>
                  <a:noFill/>
                </a:ln>
                <a:solidFill>
                  <a:schemeClr val="bg1"/>
                </a:solidFill>
                <a:effectLst/>
                <a:latin typeface="Open Sans" panose="020B0604020202020204" charset="0"/>
                <a:ea typeface="Open Sans" panose="020B0604020202020204" charset="0"/>
                <a:cs typeface="Open Sans" panose="020B0604020202020204" charset="0"/>
              </a:rPr>
              <a:t> {"role": "user", "content": ""}, </a:t>
            </a:r>
          </a:p>
          <a:p>
            <a:pPr lvl="0" eaLnBrk="0" fontAlgn="base" hangingPunct="0">
              <a:spcBef>
                <a:spcPct val="0"/>
              </a:spcBef>
              <a:spcAft>
                <a:spcPct val="0"/>
              </a:spcAft>
            </a:pPr>
            <a:r>
              <a:rPr lang="en-US" altLang="en-US" sz="2800" dirty="0">
                <a:solidFill>
                  <a:schemeClr val="bg1"/>
                </a:solidFill>
                <a:latin typeface="Open Sans" panose="020B0604020202020204" charset="0"/>
                <a:ea typeface="Open Sans" panose="020B0604020202020204" charset="0"/>
                <a:cs typeface="Open Sans" panose="020B0604020202020204" charset="0"/>
              </a:rPr>
              <a:t>	</a:t>
            </a:r>
            <a:r>
              <a:rPr lang="en-US" altLang="en-US" sz="2800" dirty="0" smtClean="0">
                <a:solidFill>
                  <a:schemeClr val="bg1"/>
                </a:solidFill>
                <a:latin typeface="Open Sans" panose="020B0604020202020204" charset="0"/>
                <a:ea typeface="Open Sans" panose="020B0604020202020204" charset="0"/>
                <a:cs typeface="Open Sans" panose="020B0604020202020204" charset="0"/>
              </a:rPr>
              <a:t>	</a:t>
            </a:r>
            <a:r>
              <a:rPr lang="en-US" altLang="en-US" sz="2800" dirty="0">
                <a:solidFill>
                  <a:schemeClr val="bg1"/>
                </a:solidFill>
                <a:latin typeface="Open Sans" panose="020B0604020202020204" charset="0"/>
                <a:ea typeface="Open Sans" panose="020B0604020202020204" charset="0"/>
                <a:cs typeface="Open Sans" panose="020B0604020202020204" charset="0"/>
              </a:rPr>
              <a:t> {"role": </a:t>
            </a:r>
            <a:r>
              <a:rPr lang="en-US" altLang="en-US" sz="2800" dirty="0" smtClean="0">
                <a:solidFill>
                  <a:schemeClr val="bg1"/>
                </a:solidFill>
                <a:latin typeface="Open Sans" panose="020B0604020202020204" charset="0"/>
                <a:ea typeface="Open Sans" panose="020B0604020202020204" charset="0"/>
                <a:cs typeface="Open Sans" panose="020B0604020202020204" charset="0"/>
              </a:rPr>
              <a:t>“assistant", </a:t>
            </a:r>
            <a:r>
              <a:rPr lang="en-US" altLang="en-US" sz="2800" dirty="0">
                <a:solidFill>
                  <a:schemeClr val="bg1"/>
                </a:solidFill>
                <a:latin typeface="Open Sans" panose="020B0604020202020204" charset="0"/>
                <a:ea typeface="Open Sans" panose="020B0604020202020204" charset="0"/>
                <a:cs typeface="Open Sans" panose="020B0604020202020204" charset="0"/>
              </a:rPr>
              <a:t>"content": </a:t>
            </a:r>
            <a:r>
              <a:rPr lang="en-US" altLang="en-US" sz="2800" dirty="0" smtClean="0">
                <a:solidFill>
                  <a:schemeClr val="bg1"/>
                </a:solidFill>
                <a:latin typeface="Open Sans" panose="020B0604020202020204" charset="0"/>
                <a:ea typeface="Open Sans" panose="020B0604020202020204" charset="0"/>
                <a:cs typeface="Open Sans" panose="020B0604020202020204" charset="0"/>
              </a:rPr>
              <a:t>""}</a:t>
            </a:r>
            <a:r>
              <a:rPr kumimoji="0" lang="en-US" altLang="en-US" sz="2800" b="0" u="none" strike="noStrike" cap="none" normalizeH="0" baseline="0" dirty="0" smtClean="0">
                <a:ln>
                  <a:noFill/>
                </a:ln>
                <a:solidFill>
                  <a:schemeClr val="bg1"/>
                </a:solidFill>
                <a:effectLst/>
                <a:latin typeface="Open Sans" panose="020B0604020202020204" charset="0"/>
                <a:ea typeface="Open Sans" panose="020B0604020202020204" charset="0"/>
                <a:cs typeface="Open Sans" panose="020B0604020202020204" charset="0"/>
              </a:rPr>
              <a:t>] </a:t>
            </a:r>
          </a:p>
        </p:txBody>
      </p:sp>
      <p:cxnSp>
        <p:nvCxnSpPr>
          <p:cNvPr id="15" name="Straight Arrow Connector 14"/>
          <p:cNvCxnSpPr/>
          <p:nvPr/>
        </p:nvCxnSpPr>
        <p:spPr>
          <a:xfrm>
            <a:off x="3810000" y="3467100"/>
            <a:ext cx="0" cy="126909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Flowchart: Alternate Process 15"/>
          <p:cNvSpPr/>
          <p:nvPr/>
        </p:nvSpPr>
        <p:spPr>
          <a:xfrm>
            <a:off x="708370" y="4736197"/>
            <a:ext cx="7203906" cy="1619795"/>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4"/>
          <p:cNvSpPr>
            <a:spLocks noChangeArrowheads="1"/>
          </p:cNvSpPr>
          <p:nvPr/>
        </p:nvSpPr>
        <p:spPr bwMode="auto">
          <a:xfrm>
            <a:off x="968544" y="4980148"/>
            <a:ext cx="6804748" cy="1040497"/>
          </a:xfrm>
          <a:prstGeom prst="rect">
            <a:avLst/>
          </a:prstGeom>
          <a:solidFill>
            <a:srgbClr val="F9FAFB">
              <a:alpha val="0"/>
            </a:srgbClr>
          </a:solidFill>
          <a:ln>
            <a:noFill/>
          </a:ln>
          <a:effectLst/>
        </p:spPr>
        <p:txBody>
          <a:bodyPr vert="horz" wrap="none" lIns="0" tIns="271377" rIns="0" bIns="271377"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smtClean="0">
                <a:ln>
                  <a:noFill/>
                </a:ln>
                <a:solidFill>
                  <a:schemeClr val="bg1"/>
                </a:solidFill>
                <a:effectLst/>
                <a:latin typeface="Open Sans" panose="020B0604020202020204" charset="0"/>
                <a:ea typeface="Open Sans" panose="020B0604020202020204" charset="0"/>
                <a:cs typeface="Open Sans" panose="020B0604020202020204" charset="0"/>
              </a:rPr>
              <a:t>output.choices[0].message.content </a:t>
            </a:r>
          </a:p>
        </p:txBody>
      </p:sp>
      <p:cxnSp>
        <p:nvCxnSpPr>
          <p:cNvPr id="9" name="Straight Arrow Connector 8"/>
          <p:cNvCxnSpPr/>
          <p:nvPr/>
        </p:nvCxnSpPr>
        <p:spPr>
          <a:xfrm>
            <a:off x="16535400" y="1642020"/>
            <a:ext cx="0" cy="204714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0972800" y="3827918"/>
            <a:ext cx="7162800" cy="2400657"/>
          </a:xfrm>
          <a:prstGeom prst="rect">
            <a:avLst/>
          </a:prstGeom>
          <a:noFill/>
        </p:spPr>
        <p:txBody>
          <a:bodyPr wrap="square" rtlCol="0">
            <a:spAutoFit/>
          </a:bodyPr>
          <a:lstStyle/>
          <a:p>
            <a:r>
              <a:rPr lang="en-US" sz="3000" dirty="0" smtClean="0">
                <a:solidFill>
                  <a:srgbClr val="17375E"/>
                </a:solidFill>
                <a:latin typeface="Open Sans" panose="020B0604020202020204" charset="0"/>
                <a:ea typeface="Open Sans" panose="020B0604020202020204" charset="0"/>
                <a:cs typeface="Open Sans" panose="020B0604020202020204" charset="0"/>
              </a:rPr>
              <a:t>System Prompt (Prompt engineering)</a:t>
            </a:r>
            <a:r>
              <a:rPr lang="en-US" sz="3000" dirty="0">
                <a:solidFill>
                  <a:srgbClr val="17375E"/>
                </a:solidFill>
                <a:latin typeface="Open Sans" panose="020B0604020202020204" charset="0"/>
                <a:ea typeface="Open Sans" panose="020B0604020202020204" charset="0"/>
                <a:cs typeface="Open Sans" panose="020B0604020202020204" charset="0"/>
              </a:rPr>
              <a:t> is the process of writing effective instructions for a model, such that it consistently generates content that meets your </a:t>
            </a:r>
            <a:r>
              <a:rPr lang="en-US" sz="3000" dirty="0" smtClean="0">
                <a:solidFill>
                  <a:srgbClr val="17375E"/>
                </a:solidFill>
                <a:latin typeface="Open Sans" panose="020B0604020202020204" charset="0"/>
                <a:ea typeface="Open Sans" panose="020B0604020202020204" charset="0"/>
                <a:cs typeface="Open Sans" panose="020B0604020202020204" charset="0"/>
              </a:rPr>
              <a:t>requirements </a:t>
            </a:r>
            <a:r>
              <a:rPr lang="en-US" sz="3000" dirty="0" smtClean="0">
                <a:solidFill>
                  <a:srgbClr val="17375E"/>
                </a:solidFill>
                <a:latin typeface="Open Sans" panose="020B0604020202020204" charset="0"/>
                <a:ea typeface="Open Sans" panose="020B0604020202020204" charset="0"/>
                <a:cs typeface="Open Sans" panose="020B0604020202020204" charset="0"/>
                <a:hlinkClick r:id="rId4" action="ppaction://hlinksldjump"/>
              </a:rPr>
              <a:t>[4]</a:t>
            </a:r>
            <a:r>
              <a:rPr lang="en-US" sz="3000" dirty="0" smtClean="0">
                <a:solidFill>
                  <a:srgbClr val="17375E"/>
                </a:solidFill>
                <a:latin typeface="Open Sans" panose="020B0604020202020204" charset="0"/>
                <a:ea typeface="Open Sans" panose="020B0604020202020204" charset="0"/>
                <a:cs typeface="Open Sans" panose="020B0604020202020204" charset="0"/>
              </a:rPr>
              <a:t>.</a:t>
            </a:r>
            <a:endParaRPr lang="en-US" sz="3000" dirty="0">
              <a:solidFill>
                <a:srgbClr val="17375E"/>
              </a:solidFill>
              <a:latin typeface="Open Sans" panose="020B0604020202020204" charset="0"/>
              <a:ea typeface="Open Sans" panose="020B0604020202020204" charset="0"/>
              <a:cs typeface="Open Sans" panose="020B0604020202020204" charset="0"/>
            </a:endParaRPr>
          </a:p>
        </p:txBody>
      </p:sp>
    </p:spTree>
    <p:extLst>
      <p:ext uri="{BB962C8B-B14F-4D97-AF65-F5344CB8AC3E}">
        <p14:creationId xmlns:p14="http://schemas.microsoft.com/office/powerpoint/2010/main" val="1964265130"/>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1000" fill="hold"/>
                                        <p:tgtEl>
                                          <p:spTgt spid="10"/>
                                        </p:tgtEl>
                                        <p:attrNameLst>
                                          <p:attrName>ppt_w</p:attrName>
                                        </p:attrNameLst>
                                      </p:cBhvr>
                                      <p:tavLst>
                                        <p:tav tm="0">
                                          <p:val>
                                            <p:fltVal val="0"/>
                                          </p:val>
                                        </p:tav>
                                        <p:tav tm="100000">
                                          <p:val>
                                            <p:strVal val="#ppt_w"/>
                                          </p:val>
                                        </p:tav>
                                      </p:tavLst>
                                    </p:anim>
                                    <p:anim calcmode="lin" valueType="num">
                                      <p:cBhvr>
                                        <p:cTn id="20" dur="1000" fill="hold"/>
                                        <p:tgtEl>
                                          <p:spTgt spid="10"/>
                                        </p:tgtEl>
                                        <p:attrNameLst>
                                          <p:attrName>ppt_h</p:attrName>
                                        </p:attrNameLst>
                                      </p:cBhvr>
                                      <p:tavLst>
                                        <p:tav tm="0">
                                          <p:val>
                                            <p:fltVal val="0"/>
                                          </p:val>
                                        </p:tav>
                                        <p:tav tm="100000">
                                          <p:val>
                                            <p:strVal val="#ppt_h"/>
                                          </p:val>
                                        </p:tav>
                                      </p:tavLst>
                                    </p:anim>
                                    <p:anim calcmode="lin" valueType="num">
                                      <p:cBhvr>
                                        <p:cTn id="21" dur="1000" fill="hold"/>
                                        <p:tgtEl>
                                          <p:spTgt spid="10"/>
                                        </p:tgtEl>
                                        <p:attrNameLst>
                                          <p:attrName>style.rotation</p:attrName>
                                        </p:attrNameLst>
                                      </p:cBhvr>
                                      <p:tavLst>
                                        <p:tav tm="0">
                                          <p:val>
                                            <p:fltVal val="90"/>
                                          </p:val>
                                        </p:tav>
                                        <p:tav tm="100000">
                                          <p:val>
                                            <p:fltVal val="0"/>
                                          </p:val>
                                        </p:tav>
                                      </p:tavLst>
                                    </p:anim>
                                    <p:animEffect transition="in" filter="fade">
                                      <p:cBhvr>
                                        <p:cTn id="22" dur="10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3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p:cTn id="27" dur="1000" fill="hold"/>
                                        <p:tgtEl>
                                          <p:spTgt spid="12"/>
                                        </p:tgtEl>
                                        <p:attrNameLst>
                                          <p:attrName>ppt_w</p:attrName>
                                        </p:attrNameLst>
                                      </p:cBhvr>
                                      <p:tavLst>
                                        <p:tav tm="0">
                                          <p:val>
                                            <p:fltVal val="0"/>
                                          </p:val>
                                        </p:tav>
                                        <p:tav tm="100000">
                                          <p:val>
                                            <p:strVal val="#ppt_w"/>
                                          </p:val>
                                        </p:tav>
                                      </p:tavLst>
                                    </p:anim>
                                    <p:anim calcmode="lin" valueType="num">
                                      <p:cBhvr>
                                        <p:cTn id="28" dur="1000" fill="hold"/>
                                        <p:tgtEl>
                                          <p:spTgt spid="12"/>
                                        </p:tgtEl>
                                        <p:attrNameLst>
                                          <p:attrName>ppt_h</p:attrName>
                                        </p:attrNameLst>
                                      </p:cBhvr>
                                      <p:tavLst>
                                        <p:tav tm="0">
                                          <p:val>
                                            <p:fltVal val="0"/>
                                          </p:val>
                                        </p:tav>
                                        <p:tav tm="100000">
                                          <p:val>
                                            <p:strVal val="#ppt_h"/>
                                          </p:val>
                                        </p:tav>
                                      </p:tavLst>
                                    </p:anim>
                                    <p:anim calcmode="lin" valueType="num">
                                      <p:cBhvr>
                                        <p:cTn id="29" dur="1000" fill="hold"/>
                                        <p:tgtEl>
                                          <p:spTgt spid="12"/>
                                        </p:tgtEl>
                                        <p:attrNameLst>
                                          <p:attrName>style.rotation</p:attrName>
                                        </p:attrNameLst>
                                      </p:cBhvr>
                                      <p:tavLst>
                                        <p:tav tm="0">
                                          <p:val>
                                            <p:fltVal val="90"/>
                                          </p:val>
                                        </p:tav>
                                        <p:tav tm="100000">
                                          <p:val>
                                            <p:fltVal val="0"/>
                                          </p:val>
                                        </p:tav>
                                      </p:tavLst>
                                    </p:anim>
                                    <p:animEffect transition="in" filter="fade">
                                      <p:cBhvr>
                                        <p:cTn id="30" dur="1000"/>
                                        <p:tgtEl>
                                          <p:spTgt spid="12"/>
                                        </p:tgtEl>
                                      </p:cBhvr>
                                    </p:animEffect>
                                  </p:childTnLst>
                                </p:cTn>
                              </p:par>
                              <p:par>
                                <p:cTn id="31" presetID="3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p:cTn id="33" dur="1000" fill="hold"/>
                                        <p:tgtEl>
                                          <p:spTgt spid="13"/>
                                        </p:tgtEl>
                                        <p:attrNameLst>
                                          <p:attrName>ppt_w</p:attrName>
                                        </p:attrNameLst>
                                      </p:cBhvr>
                                      <p:tavLst>
                                        <p:tav tm="0">
                                          <p:val>
                                            <p:fltVal val="0"/>
                                          </p:val>
                                        </p:tav>
                                        <p:tav tm="100000">
                                          <p:val>
                                            <p:strVal val="#ppt_w"/>
                                          </p:val>
                                        </p:tav>
                                      </p:tavLst>
                                    </p:anim>
                                    <p:anim calcmode="lin" valueType="num">
                                      <p:cBhvr>
                                        <p:cTn id="34" dur="1000" fill="hold"/>
                                        <p:tgtEl>
                                          <p:spTgt spid="13"/>
                                        </p:tgtEl>
                                        <p:attrNameLst>
                                          <p:attrName>ppt_h</p:attrName>
                                        </p:attrNameLst>
                                      </p:cBhvr>
                                      <p:tavLst>
                                        <p:tav tm="0">
                                          <p:val>
                                            <p:fltVal val="0"/>
                                          </p:val>
                                        </p:tav>
                                        <p:tav tm="100000">
                                          <p:val>
                                            <p:strVal val="#ppt_h"/>
                                          </p:val>
                                        </p:tav>
                                      </p:tavLst>
                                    </p:anim>
                                    <p:anim calcmode="lin" valueType="num">
                                      <p:cBhvr>
                                        <p:cTn id="35" dur="1000" fill="hold"/>
                                        <p:tgtEl>
                                          <p:spTgt spid="13"/>
                                        </p:tgtEl>
                                        <p:attrNameLst>
                                          <p:attrName>style.rotation</p:attrName>
                                        </p:attrNameLst>
                                      </p:cBhvr>
                                      <p:tavLst>
                                        <p:tav tm="0">
                                          <p:val>
                                            <p:fltVal val="90"/>
                                          </p:val>
                                        </p:tav>
                                        <p:tav tm="100000">
                                          <p:val>
                                            <p:fltVal val="0"/>
                                          </p:val>
                                        </p:tav>
                                      </p:tavLst>
                                    </p:anim>
                                    <p:animEffect transition="in" filter="fade">
                                      <p:cBhvr>
                                        <p:cTn id="36" dur="10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31" presetClass="entr" presetSubtype="0" fill="hold" nodeType="clickEffect">
                                  <p:stCondLst>
                                    <p:cond delay="0"/>
                                  </p:stCondLst>
                                  <p:childTnLst>
                                    <p:set>
                                      <p:cBhvr>
                                        <p:cTn id="40" dur="1" fill="hold">
                                          <p:stCondLst>
                                            <p:cond delay="0"/>
                                          </p:stCondLst>
                                        </p:cTn>
                                        <p:tgtEl>
                                          <p:spTgt spid="9"/>
                                        </p:tgtEl>
                                        <p:attrNameLst>
                                          <p:attrName>style.visibility</p:attrName>
                                        </p:attrNameLst>
                                      </p:cBhvr>
                                      <p:to>
                                        <p:strVal val="visible"/>
                                      </p:to>
                                    </p:set>
                                    <p:anim calcmode="lin" valueType="num">
                                      <p:cBhvr>
                                        <p:cTn id="41" dur="1000" fill="hold"/>
                                        <p:tgtEl>
                                          <p:spTgt spid="9"/>
                                        </p:tgtEl>
                                        <p:attrNameLst>
                                          <p:attrName>ppt_w</p:attrName>
                                        </p:attrNameLst>
                                      </p:cBhvr>
                                      <p:tavLst>
                                        <p:tav tm="0">
                                          <p:val>
                                            <p:fltVal val="0"/>
                                          </p:val>
                                        </p:tav>
                                        <p:tav tm="100000">
                                          <p:val>
                                            <p:strVal val="#ppt_w"/>
                                          </p:val>
                                        </p:tav>
                                      </p:tavLst>
                                    </p:anim>
                                    <p:anim calcmode="lin" valueType="num">
                                      <p:cBhvr>
                                        <p:cTn id="42" dur="1000" fill="hold"/>
                                        <p:tgtEl>
                                          <p:spTgt spid="9"/>
                                        </p:tgtEl>
                                        <p:attrNameLst>
                                          <p:attrName>ppt_h</p:attrName>
                                        </p:attrNameLst>
                                      </p:cBhvr>
                                      <p:tavLst>
                                        <p:tav tm="0">
                                          <p:val>
                                            <p:fltVal val="0"/>
                                          </p:val>
                                        </p:tav>
                                        <p:tav tm="100000">
                                          <p:val>
                                            <p:strVal val="#ppt_h"/>
                                          </p:val>
                                        </p:tav>
                                      </p:tavLst>
                                    </p:anim>
                                    <p:anim calcmode="lin" valueType="num">
                                      <p:cBhvr>
                                        <p:cTn id="43" dur="1000" fill="hold"/>
                                        <p:tgtEl>
                                          <p:spTgt spid="9"/>
                                        </p:tgtEl>
                                        <p:attrNameLst>
                                          <p:attrName>style.rotation</p:attrName>
                                        </p:attrNameLst>
                                      </p:cBhvr>
                                      <p:tavLst>
                                        <p:tav tm="0">
                                          <p:val>
                                            <p:fltVal val="90"/>
                                          </p:val>
                                        </p:tav>
                                        <p:tav tm="100000">
                                          <p:val>
                                            <p:fltVal val="0"/>
                                          </p:val>
                                        </p:tav>
                                      </p:tavLst>
                                    </p:anim>
                                    <p:animEffect transition="in" filter="fade">
                                      <p:cBhvr>
                                        <p:cTn id="44" dur="1000"/>
                                        <p:tgtEl>
                                          <p:spTgt spid="9"/>
                                        </p:tgtEl>
                                      </p:cBhvr>
                                    </p:animEffect>
                                  </p:childTnLst>
                                </p:cTn>
                              </p:par>
                              <p:par>
                                <p:cTn id="45" presetID="31" presetClass="entr" presetSubtype="0"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anim calcmode="lin" valueType="num">
                                      <p:cBhvr>
                                        <p:cTn id="47" dur="1000" fill="hold"/>
                                        <p:tgtEl>
                                          <p:spTgt spid="11"/>
                                        </p:tgtEl>
                                        <p:attrNameLst>
                                          <p:attrName>ppt_w</p:attrName>
                                        </p:attrNameLst>
                                      </p:cBhvr>
                                      <p:tavLst>
                                        <p:tav tm="0">
                                          <p:val>
                                            <p:fltVal val="0"/>
                                          </p:val>
                                        </p:tav>
                                        <p:tav tm="100000">
                                          <p:val>
                                            <p:strVal val="#ppt_w"/>
                                          </p:val>
                                        </p:tav>
                                      </p:tavLst>
                                    </p:anim>
                                    <p:anim calcmode="lin" valueType="num">
                                      <p:cBhvr>
                                        <p:cTn id="48" dur="1000" fill="hold"/>
                                        <p:tgtEl>
                                          <p:spTgt spid="11"/>
                                        </p:tgtEl>
                                        <p:attrNameLst>
                                          <p:attrName>ppt_h</p:attrName>
                                        </p:attrNameLst>
                                      </p:cBhvr>
                                      <p:tavLst>
                                        <p:tav tm="0">
                                          <p:val>
                                            <p:fltVal val="0"/>
                                          </p:val>
                                        </p:tav>
                                        <p:tav tm="100000">
                                          <p:val>
                                            <p:strVal val="#ppt_h"/>
                                          </p:val>
                                        </p:tav>
                                      </p:tavLst>
                                    </p:anim>
                                    <p:anim calcmode="lin" valueType="num">
                                      <p:cBhvr>
                                        <p:cTn id="49" dur="1000" fill="hold"/>
                                        <p:tgtEl>
                                          <p:spTgt spid="11"/>
                                        </p:tgtEl>
                                        <p:attrNameLst>
                                          <p:attrName>style.rotation</p:attrName>
                                        </p:attrNameLst>
                                      </p:cBhvr>
                                      <p:tavLst>
                                        <p:tav tm="0">
                                          <p:val>
                                            <p:fltVal val="90"/>
                                          </p:val>
                                        </p:tav>
                                        <p:tav tm="100000">
                                          <p:val>
                                            <p:fltVal val="0"/>
                                          </p:val>
                                        </p:tav>
                                      </p:tavLst>
                                    </p:anim>
                                    <p:animEffect transition="in" filter="fade">
                                      <p:cBhvr>
                                        <p:cTn id="50" dur="1000"/>
                                        <p:tgtEl>
                                          <p:spTgt spid="11"/>
                                        </p:tgtEl>
                                      </p:cBhvr>
                                    </p:animEffect>
                                  </p:childTnLst>
                                </p:cTn>
                              </p:par>
                            </p:childTnLst>
                          </p:cTn>
                        </p:par>
                      </p:childTnLst>
                    </p:cTn>
                  </p:par>
                  <p:par>
                    <p:cTn id="51" fill="hold">
                      <p:stCondLst>
                        <p:cond delay="indefinite"/>
                      </p:stCondLst>
                      <p:childTnLst>
                        <p:par>
                          <p:cTn id="52" fill="hold">
                            <p:stCondLst>
                              <p:cond delay="0"/>
                            </p:stCondLst>
                            <p:childTnLst>
                              <p:par>
                                <p:cTn id="53" presetID="31" presetClass="entr" presetSubtype="0" fill="hold" nodeType="clickEffect">
                                  <p:stCondLst>
                                    <p:cond delay="0"/>
                                  </p:stCondLst>
                                  <p:childTnLst>
                                    <p:set>
                                      <p:cBhvr>
                                        <p:cTn id="54" dur="1" fill="hold">
                                          <p:stCondLst>
                                            <p:cond delay="0"/>
                                          </p:stCondLst>
                                        </p:cTn>
                                        <p:tgtEl>
                                          <p:spTgt spid="15"/>
                                        </p:tgtEl>
                                        <p:attrNameLst>
                                          <p:attrName>style.visibility</p:attrName>
                                        </p:attrNameLst>
                                      </p:cBhvr>
                                      <p:to>
                                        <p:strVal val="visible"/>
                                      </p:to>
                                    </p:set>
                                    <p:anim calcmode="lin" valueType="num">
                                      <p:cBhvr>
                                        <p:cTn id="55" dur="1000" fill="hold"/>
                                        <p:tgtEl>
                                          <p:spTgt spid="15"/>
                                        </p:tgtEl>
                                        <p:attrNameLst>
                                          <p:attrName>ppt_w</p:attrName>
                                        </p:attrNameLst>
                                      </p:cBhvr>
                                      <p:tavLst>
                                        <p:tav tm="0">
                                          <p:val>
                                            <p:fltVal val="0"/>
                                          </p:val>
                                        </p:tav>
                                        <p:tav tm="100000">
                                          <p:val>
                                            <p:strVal val="#ppt_w"/>
                                          </p:val>
                                        </p:tav>
                                      </p:tavLst>
                                    </p:anim>
                                    <p:anim calcmode="lin" valueType="num">
                                      <p:cBhvr>
                                        <p:cTn id="56" dur="1000" fill="hold"/>
                                        <p:tgtEl>
                                          <p:spTgt spid="15"/>
                                        </p:tgtEl>
                                        <p:attrNameLst>
                                          <p:attrName>ppt_h</p:attrName>
                                        </p:attrNameLst>
                                      </p:cBhvr>
                                      <p:tavLst>
                                        <p:tav tm="0">
                                          <p:val>
                                            <p:fltVal val="0"/>
                                          </p:val>
                                        </p:tav>
                                        <p:tav tm="100000">
                                          <p:val>
                                            <p:strVal val="#ppt_h"/>
                                          </p:val>
                                        </p:tav>
                                      </p:tavLst>
                                    </p:anim>
                                    <p:anim calcmode="lin" valueType="num">
                                      <p:cBhvr>
                                        <p:cTn id="57" dur="1000" fill="hold"/>
                                        <p:tgtEl>
                                          <p:spTgt spid="15"/>
                                        </p:tgtEl>
                                        <p:attrNameLst>
                                          <p:attrName>style.rotation</p:attrName>
                                        </p:attrNameLst>
                                      </p:cBhvr>
                                      <p:tavLst>
                                        <p:tav tm="0">
                                          <p:val>
                                            <p:fltVal val="90"/>
                                          </p:val>
                                        </p:tav>
                                        <p:tav tm="100000">
                                          <p:val>
                                            <p:fltVal val="0"/>
                                          </p:val>
                                        </p:tav>
                                      </p:tavLst>
                                    </p:anim>
                                    <p:animEffect transition="in" filter="fade">
                                      <p:cBhvr>
                                        <p:cTn id="58" dur="1000"/>
                                        <p:tgtEl>
                                          <p:spTgt spid="15"/>
                                        </p:tgtEl>
                                      </p:cBhvr>
                                    </p:animEffect>
                                  </p:childTnLst>
                                </p:cTn>
                              </p:par>
                              <p:par>
                                <p:cTn id="59" presetID="31" presetClass="entr" presetSubtype="0"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anim calcmode="lin" valueType="num">
                                      <p:cBhvr>
                                        <p:cTn id="61" dur="1000" fill="hold"/>
                                        <p:tgtEl>
                                          <p:spTgt spid="16"/>
                                        </p:tgtEl>
                                        <p:attrNameLst>
                                          <p:attrName>ppt_w</p:attrName>
                                        </p:attrNameLst>
                                      </p:cBhvr>
                                      <p:tavLst>
                                        <p:tav tm="0">
                                          <p:val>
                                            <p:fltVal val="0"/>
                                          </p:val>
                                        </p:tav>
                                        <p:tav tm="100000">
                                          <p:val>
                                            <p:strVal val="#ppt_w"/>
                                          </p:val>
                                        </p:tav>
                                      </p:tavLst>
                                    </p:anim>
                                    <p:anim calcmode="lin" valueType="num">
                                      <p:cBhvr>
                                        <p:cTn id="62" dur="1000" fill="hold"/>
                                        <p:tgtEl>
                                          <p:spTgt spid="16"/>
                                        </p:tgtEl>
                                        <p:attrNameLst>
                                          <p:attrName>ppt_h</p:attrName>
                                        </p:attrNameLst>
                                      </p:cBhvr>
                                      <p:tavLst>
                                        <p:tav tm="0">
                                          <p:val>
                                            <p:fltVal val="0"/>
                                          </p:val>
                                        </p:tav>
                                        <p:tav tm="100000">
                                          <p:val>
                                            <p:strVal val="#ppt_h"/>
                                          </p:val>
                                        </p:tav>
                                      </p:tavLst>
                                    </p:anim>
                                    <p:anim calcmode="lin" valueType="num">
                                      <p:cBhvr>
                                        <p:cTn id="63" dur="1000" fill="hold"/>
                                        <p:tgtEl>
                                          <p:spTgt spid="16"/>
                                        </p:tgtEl>
                                        <p:attrNameLst>
                                          <p:attrName>style.rotation</p:attrName>
                                        </p:attrNameLst>
                                      </p:cBhvr>
                                      <p:tavLst>
                                        <p:tav tm="0">
                                          <p:val>
                                            <p:fltVal val="90"/>
                                          </p:val>
                                        </p:tav>
                                        <p:tav tm="100000">
                                          <p:val>
                                            <p:fltVal val="0"/>
                                          </p:val>
                                        </p:tav>
                                      </p:tavLst>
                                    </p:anim>
                                    <p:animEffect transition="in" filter="fade">
                                      <p:cBhvr>
                                        <p:cTn id="64" dur="1000"/>
                                        <p:tgtEl>
                                          <p:spTgt spid="16"/>
                                        </p:tgtEl>
                                      </p:cBhvr>
                                    </p:animEffect>
                                  </p:childTnLst>
                                </p:cTn>
                              </p:par>
                              <p:par>
                                <p:cTn id="65" presetID="31" presetClass="entr" presetSubtype="0"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 calcmode="lin" valueType="num">
                                      <p:cBhvr>
                                        <p:cTn id="67" dur="1000" fill="hold"/>
                                        <p:tgtEl>
                                          <p:spTgt spid="18"/>
                                        </p:tgtEl>
                                        <p:attrNameLst>
                                          <p:attrName>ppt_w</p:attrName>
                                        </p:attrNameLst>
                                      </p:cBhvr>
                                      <p:tavLst>
                                        <p:tav tm="0">
                                          <p:val>
                                            <p:fltVal val="0"/>
                                          </p:val>
                                        </p:tav>
                                        <p:tav tm="100000">
                                          <p:val>
                                            <p:strVal val="#ppt_w"/>
                                          </p:val>
                                        </p:tav>
                                      </p:tavLst>
                                    </p:anim>
                                    <p:anim calcmode="lin" valueType="num">
                                      <p:cBhvr>
                                        <p:cTn id="68" dur="1000" fill="hold"/>
                                        <p:tgtEl>
                                          <p:spTgt spid="18"/>
                                        </p:tgtEl>
                                        <p:attrNameLst>
                                          <p:attrName>ppt_h</p:attrName>
                                        </p:attrNameLst>
                                      </p:cBhvr>
                                      <p:tavLst>
                                        <p:tav tm="0">
                                          <p:val>
                                            <p:fltVal val="0"/>
                                          </p:val>
                                        </p:tav>
                                        <p:tav tm="100000">
                                          <p:val>
                                            <p:strVal val="#ppt_h"/>
                                          </p:val>
                                        </p:tav>
                                      </p:tavLst>
                                    </p:anim>
                                    <p:anim calcmode="lin" valueType="num">
                                      <p:cBhvr>
                                        <p:cTn id="69" dur="1000" fill="hold"/>
                                        <p:tgtEl>
                                          <p:spTgt spid="18"/>
                                        </p:tgtEl>
                                        <p:attrNameLst>
                                          <p:attrName>style.rotation</p:attrName>
                                        </p:attrNameLst>
                                      </p:cBhvr>
                                      <p:tavLst>
                                        <p:tav tm="0">
                                          <p:val>
                                            <p:fltVal val="90"/>
                                          </p:val>
                                        </p:tav>
                                        <p:tav tm="100000">
                                          <p:val>
                                            <p:fltVal val="0"/>
                                          </p:val>
                                        </p:tav>
                                      </p:tavLst>
                                    </p:anim>
                                    <p:animEffect transition="in" filter="fade">
                                      <p:cBhvr>
                                        <p:cTn id="70"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12" grpId="0" animBg="1"/>
      <p:bldP spid="13" grpId="0" animBg="1"/>
      <p:bldP spid="16" grpId="0" animBg="1"/>
      <p:bldP spid="18" grpId="0" animBg="1"/>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67720" y="8031009"/>
            <a:ext cx="16805381" cy="9025890"/>
          </a:xfrm>
          <a:custGeom>
            <a:avLst/>
            <a:gdLst/>
            <a:ahLst/>
            <a:cxnLst/>
            <a:rect l="l" t="t" r="r" b="b"/>
            <a:pathLst>
              <a:path w="16805381" h="9025890">
                <a:moveTo>
                  <a:pt x="0" y="0"/>
                </a:moveTo>
                <a:lnTo>
                  <a:pt x="16805381" y="0"/>
                </a:lnTo>
                <a:lnTo>
                  <a:pt x="16805381" y="9025890"/>
                </a:lnTo>
                <a:lnTo>
                  <a:pt x="0" y="9025890"/>
                </a:lnTo>
                <a:lnTo>
                  <a:pt x="0" y="0"/>
                </a:lnTo>
                <a:close/>
              </a:path>
            </a:pathLst>
          </a:custGeom>
          <a:blipFill>
            <a:blip r:embed="rId2">
              <a:alphaModFix amt="85000"/>
            </a:blip>
            <a:stretch>
              <a:fillRect/>
            </a:stretch>
          </a:blipFill>
        </p:spPr>
      </p:sp>
      <p:sp>
        <p:nvSpPr>
          <p:cNvPr id="8" name="Freeform 8"/>
          <p:cNvSpPr/>
          <p:nvPr/>
        </p:nvSpPr>
        <p:spPr>
          <a:xfrm>
            <a:off x="10910287" y="-6589014"/>
            <a:ext cx="16805381" cy="9025890"/>
          </a:xfrm>
          <a:custGeom>
            <a:avLst/>
            <a:gdLst/>
            <a:ahLst/>
            <a:cxnLst/>
            <a:rect l="l" t="t" r="r" b="b"/>
            <a:pathLst>
              <a:path w="16805381" h="9025890">
                <a:moveTo>
                  <a:pt x="0" y="0"/>
                </a:moveTo>
                <a:lnTo>
                  <a:pt x="16805381" y="0"/>
                </a:lnTo>
                <a:lnTo>
                  <a:pt x="16805381" y="9025890"/>
                </a:lnTo>
                <a:lnTo>
                  <a:pt x="0" y="9025890"/>
                </a:lnTo>
                <a:lnTo>
                  <a:pt x="0" y="0"/>
                </a:lnTo>
                <a:close/>
              </a:path>
            </a:pathLst>
          </a:custGeom>
          <a:blipFill>
            <a:blip r:embed="rId2">
              <a:alphaModFix amt="85000"/>
            </a:blip>
            <a:stretch>
              <a:fillRect/>
            </a:stretch>
          </a:blipFill>
        </p:spPr>
      </p:sp>
      <p:sp>
        <p:nvSpPr>
          <p:cNvPr id="19" name="TextBox 19"/>
          <p:cNvSpPr txBox="1"/>
          <p:nvPr/>
        </p:nvSpPr>
        <p:spPr>
          <a:xfrm>
            <a:off x="6096000" y="4381500"/>
            <a:ext cx="9220200" cy="1243930"/>
          </a:xfrm>
          <a:prstGeom prst="rect">
            <a:avLst/>
          </a:prstGeom>
        </p:spPr>
        <p:txBody>
          <a:bodyPr wrap="square" lIns="0" tIns="0" rIns="0" bIns="0" rtlCol="0" anchor="t">
            <a:spAutoFit/>
          </a:bodyPr>
          <a:lstStyle/>
          <a:p>
            <a:pPr algn="ctr">
              <a:lnSpc>
                <a:spcPts val="9672"/>
              </a:lnSpc>
            </a:pPr>
            <a:r>
              <a:rPr lang="en-US" sz="9300" dirty="0" smtClean="0">
                <a:solidFill>
                  <a:srgbClr val="022C5E"/>
                </a:solidFill>
                <a:latin typeface="Sergio Trendy"/>
                <a:ea typeface="Sergio Trendy"/>
                <a:cs typeface="Sergio Trendy"/>
                <a:sym typeface="Sergio Trendy"/>
              </a:rPr>
              <a:t>Smolagents</a:t>
            </a:r>
            <a:endParaRPr lang="en-US" sz="9300" dirty="0">
              <a:solidFill>
                <a:srgbClr val="022C5E"/>
              </a:solidFill>
              <a:latin typeface="Sergio Trendy"/>
              <a:ea typeface="Sergio Trendy"/>
              <a:cs typeface="Sergio Trendy"/>
              <a:sym typeface="Sergio Trendy"/>
            </a:endParaRPr>
          </a:p>
        </p:txBody>
      </p:sp>
      <p:sp>
        <p:nvSpPr>
          <p:cNvPr id="6" name="TextBox 5"/>
          <p:cNvSpPr txBox="1"/>
          <p:nvPr/>
        </p:nvSpPr>
        <p:spPr>
          <a:xfrm>
            <a:off x="16687800" y="9182100"/>
            <a:ext cx="1295400" cy="523220"/>
          </a:xfrm>
          <a:prstGeom prst="rect">
            <a:avLst/>
          </a:prstGeom>
          <a:noFill/>
        </p:spPr>
        <p:txBody>
          <a:bodyPr wrap="square" rtlCol="0">
            <a:spAutoFit/>
          </a:bodyPr>
          <a:lstStyle/>
          <a:p>
            <a:r>
              <a:rPr lang="en-US" sz="2800" dirty="0" smtClean="0"/>
              <a:t>12</a:t>
            </a:r>
            <a:endParaRPr lang="en-US" sz="2800" dirty="0"/>
          </a:p>
        </p:txBody>
      </p:sp>
    </p:spTree>
    <p:extLst>
      <p:ext uri="{BB962C8B-B14F-4D97-AF65-F5344CB8AC3E}">
        <p14:creationId xmlns:p14="http://schemas.microsoft.com/office/powerpoint/2010/main" val="21829898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21911" y="1251769"/>
            <a:ext cx="6443498" cy="2005176"/>
          </a:xfrm>
          <a:custGeom>
            <a:avLst/>
            <a:gdLst/>
            <a:ahLst/>
            <a:cxnLst/>
            <a:rect l="l" t="t" r="r" b="b"/>
            <a:pathLst>
              <a:path w="5934317" h="2028458">
                <a:moveTo>
                  <a:pt x="0" y="0"/>
                </a:moveTo>
                <a:lnTo>
                  <a:pt x="5934318" y="0"/>
                </a:lnTo>
                <a:lnTo>
                  <a:pt x="5934318" y="2028458"/>
                </a:lnTo>
                <a:lnTo>
                  <a:pt x="0" y="2028458"/>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3" name="Freeform 3"/>
          <p:cNvSpPr/>
          <p:nvPr/>
        </p:nvSpPr>
        <p:spPr>
          <a:xfrm>
            <a:off x="-3303104" y="8865103"/>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5">
              <a:alphaModFix amt="80000"/>
            </a:blip>
            <a:stretch>
              <a:fillRect/>
            </a:stretch>
          </a:blipFill>
        </p:spPr>
      </p:sp>
      <p:sp>
        <p:nvSpPr>
          <p:cNvPr id="4" name="Freeform 4"/>
          <p:cNvSpPr/>
          <p:nvPr/>
        </p:nvSpPr>
        <p:spPr>
          <a:xfrm>
            <a:off x="7721735" y="-6604364"/>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5">
              <a:alphaModFix amt="78000"/>
            </a:blip>
            <a:stretch>
              <a:fillRect/>
            </a:stretch>
          </a:blipFill>
        </p:spPr>
      </p:sp>
      <p:sp>
        <p:nvSpPr>
          <p:cNvPr id="5" name="TextBox 5"/>
          <p:cNvSpPr txBox="1"/>
          <p:nvPr/>
        </p:nvSpPr>
        <p:spPr>
          <a:xfrm>
            <a:off x="1600200" y="3883643"/>
            <a:ext cx="14326607" cy="2205732"/>
          </a:xfrm>
          <a:prstGeom prst="rect">
            <a:avLst/>
          </a:prstGeom>
        </p:spPr>
        <p:txBody>
          <a:bodyPr lIns="0" tIns="0" rIns="0" bIns="0" rtlCol="0" anchor="t">
            <a:spAutoFit/>
          </a:bodyPr>
          <a:lstStyle/>
          <a:p>
            <a:pPr>
              <a:lnSpc>
                <a:spcPts val="4311"/>
              </a:lnSpc>
            </a:pPr>
            <a:r>
              <a:rPr lang="en-US" sz="3000" dirty="0" smtClean="0">
                <a:solidFill>
                  <a:schemeClr val="tx2">
                    <a:lumMod val="75000"/>
                  </a:schemeClr>
                </a:solidFill>
                <a:latin typeface="Hobo" panose="020B0604020202020204" charset="0"/>
              </a:rPr>
              <a:t>Smolagents is a </a:t>
            </a:r>
            <a:r>
              <a:rPr lang="en-US" sz="3000" dirty="0">
                <a:solidFill>
                  <a:schemeClr val="tx2">
                    <a:lumMod val="75000"/>
                  </a:schemeClr>
                </a:solidFill>
                <a:latin typeface="Hobo" panose="020B0604020202020204" charset="0"/>
              </a:rPr>
              <a:t>library that provides a framework for developing your </a:t>
            </a:r>
            <a:r>
              <a:rPr lang="en-US" sz="3000" dirty="0" smtClean="0">
                <a:solidFill>
                  <a:schemeClr val="tx2">
                    <a:lumMod val="75000"/>
                  </a:schemeClr>
                </a:solidFill>
                <a:latin typeface="Hobo" panose="020B0604020202020204" charset="0"/>
              </a:rPr>
              <a:t>agents.</a:t>
            </a:r>
          </a:p>
          <a:p>
            <a:pPr>
              <a:lnSpc>
                <a:spcPts val="4311"/>
              </a:lnSpc>
            </a:pPr>
            <a:r>
              <a:rPr lang="en-US" sz="3000" dirty="0">
                <a:solidFill>
                  <a:schemeClr val="tx2">
                    <a:lumMod val="75000"/>
                  </a:schemeClr>
                </a:solidFill>
                <a:latin typeface="Hobo" panose="020B0604020202020204" charset="0"/>
              </a:rPr>
              <a:t>This lightweight library is designed for simplicity, but it abstracts away much of the complexity of building an Agent, allowing you to focus on designing your agent’s behavior</a:t>
            </a:r>
            <a:r>
              <a:rPr lang="en-US" sz="3000" dirty="0" smtClean="0">
                <a:solidFill>
                  <a:schemeClr val="tx2">
                    <a:lumMod val="75000"/>
                  </a:schemeClr>
                </a:solidFill>
                <a:latin typeface="Hobo" panose="020B0604020202020204" charset="0"/>
              </a:rPr>
              <a:t>.</a:t>
            </a:r>
            <a:r>
              <a:rPr lang="en-US" sz="3000" dirty="0" smtClean="0">
                <a:solidFill>
                  <a:schemeClr val="tx2">
                    <a:lumMod val="75000"/>
                  </a:schemeClr>
                </a:solidFill>
                <a:latin typeface="Hobo" panose="020B0604020202020204" charset="0"/>
                <a:ea typeface="Open Sans" panose="020B0604020202020204" charset="0"/>
                <a:cs typeface="Open Sans" panose="020B0604020202020204" charset="0"/>
                <a:hlinkClick r:id="rId6" action="ppaction://hlinksldjump"/>
              </a:rPr>
              <a:t>[2]</a:t>
            </a:r>
            <a:r>
              <a:rPr lang="en-US" sz="3000" dirty="0" smtClean="0">
                <a:solidFill>
                  <a:schemeClr val="tx2">
                    <a:lumMod val="75000"/>
                  </a:schemeClr>
                </a:solidFill>
                <a:latin typeface="Hobo" panose="020B0604020202020204" charset="0"/>
                <a:ea typeface="Open Sans" panose="020B0604020202020204" charset="0"/>
                <a:cs typeface="Open Sans" panose="020B0604020202020204" charset="0"/>
              </a:rPr>
              <a:t>.</a:t>
            </a:r>
            <a:endParaRPr lang="en-US" sz="3000" dirty="0">
              <a:solidFill>
                <a:schemeClr val="tx2">
                  <a:lumMod val="75000"/>
                </a:schemeClr>
              </a:solidFill>
              <a:latin typeface="Hobo" panose="020B0604020202020204" charset="0"/>
              <a:ea typeface="Open Sans" panose="020B0604020202020204" charset="0"/>
              <a:cs typeface="Open Sans" panose="020B0604020202020204" charset="0"/>
              <a:sym typeface="Open Sans"/>
            </a:endParaRPr>
          </a:p>
        </p:txBody>
      </p:sp>
      <p:sp>
        <p:nvSpPr>
          <p:cNvPr id="6" name="TextBox 6"/>
          <p:cNvSpPr txBox="1"/>
          <p:nvPr/>
        </p:nvSpPr>
        <p:spPr>
          <a:xfrm>
            <a:off x="1176502" y="1810810"/>
            <a:ext cx="5934317" cy="887095"/>
          </a:xfrm>
          <a:prstGeom prst="rect">
            <a:avLst/>
          </a:prstGeom>
        </p:spPr>
        <p:txBody>
          <a:bodyPr lIns="0" tIns="0" rIns="0" bIns="0" rtlCol="0" anchor="t">
            <a:spAutoFit/>
          </a:bodyPr>
          <a:lstStyle/>
          <a:p>
            <a:pPr algn="ctr">
              <a:lnSpc>
                <a:spcPts val="7279"/>
              </a:lnSpc>
            </a:pPr>
            <a:r>
              <a:rPr lang="en-US" sz="5199" dirty="0" smtClean="0">
                <a:solidFill>
                  <a:srgbClr val="022C5E"/>
                </a:solidFill>
                <a:latin typeface="Hobo"/>
                <a:ea typeface="Hobo"/>
                <a:cs typeface="Hobo"/>
                <a:sym typeface="Hobo"/>
              </a:rPr>
              <a:t>What is Smolagents? </a:t>
            </a:r>
            <a:endParaRPr lang="en-US" sz="5199" dirty="0">
              <a:solidFill>
                <a:srgbClr val="022C5E"/>
              </a:solidFill>
              <a:latin typeface="Hobo"/>
              <a:ea typeface="Hobo"/>
              <a:cs typeface="Hobo"/>
              <a:sym typeface="Hobo"/>
            </a:endParaRPr>
          </a:p>
        </p:txBody>
      </p:sp>
      <p:sp>
        <p:nvSpPr>
          <p:cNvPr id="8" name="TextBox 7"/>
          <p:cNvSpPr txBox="1"/>
          <p:nvPr/>
        </p:nvSpPr>
        <p:spPr>
          <a:xfrm>
            <a:off x="16687800" y="9182100"/>
            <a:ext cx="1295400" cy="523220"/>
          </a:xfrm>
          <a:prstGeom prst="rect">
            <a:avLst/>
          </a:prstGeom>
          <a:noFill/>
        </p:spPr>
        <p:txBody>
          <a:bodyPr wrap="square" rtlCol="0">
            <a:spAutoFit/>
          </a:bodyPr>
          <a:lstStyle/>
          <a:p>
            <a:r>
              <a:rPr lang="en-US" sz="2800" dirty="0" smtClean="0"/>
              <a:t>13</a:t>
            </a:r>
            <a:endParaRPr lang="en-US" sz="2800" dirty="0"/>
          </a:p>
        </p:txBody>
      </p:sp>
    </p:spTree>
    <p:extLst>
      <p:ext uri="{BB962C8B-B14F-4D97-AF65-F5344CB8AC3E}">
        <p14:creationId xmlns:p14="http://schemas.microsoft.com/office/powerpoint/2010/main" val="319989896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B0DBF8"/>
        </a:solidFill>
        <a:effectLst/>
      </p:bgPr>
    </p:bg>
    <p:spTree>
      <p:nvGrpSpPr>
        <p:cNvPr id="1" name=""/>
        <p:cNvGrpSpPr/>
        <p:nvPr/>
      </p:nvGrpSpPr>
      <p:grpSpPr>
        <a:xfrm>
          <a:off x="0" y="0"/>
          <a:ext cx="0" cy="0"/>
          <a:chOff x="0" y="0"/>
          <a:chExt cx="0" cy="0"/>
        </a:xfrm>
      </p:grpSpPr>
      <p:sp>
        <p:nvSpPr>
          <p:cNvPr id="2" name="Freeform 2"/>
          <p:cNvSpPr/>
          <p:nvPr/>
        </p:nvSpPr>
        <p:spPr>
          <a:xfrm>
            <a:off x="-2336674" y="-6604364"/>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3" name="Freeform 3"/>
          <p:cNvSpPr/>
          <p:nvPr/>
        </p:nvSpPr>
        <p:spPr>
          <a:xfrm>
            <a:off x="6039751" y="1028700"/>
            <a:ext cx="5934317" cy="2028458"/>
          </a:xfrm>
          <a:custGeom>
            <a:avLst/>
            <a:gdLst/>
            <a:ahLst/>
            <a:cxnLst/>
            <a:rect l="l" t="t" r="r" b="b"/>
            <a:pathLst>
              <a:path w="5934317" h="2028458">
                <a:moveTo>
                  <a:pt x="0" y="0"/>
                </a:moveTo>
                <a:lnTo>
                  <a:pt x="5934317" y="0"/>
                </a:lnTo>
                <a:lnTo>
                  <a:pt x="5934317" y="2028458"/>
                </a:lnTo>
                <a:lnTo>
                  <a:pt x="0" y="202845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a:off x="6039751" y="8955191"/>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6" name="TextBox 6"/>
          <p:cNvSpPr txBox="1"/>
          <p:nvPr/>
        </p:nvSpPr>
        <p:spPr>
          <a:xfrm>
            <a:off x="6039751" y="1143708"/>
            <a:ext cx="5934317" cy="1798441"/>
          </a:xfrm>
          <a:prstGeom prst="rect">
            <a:avLst/>
          </a:prstGeom>
        </p:spPr>
        <p:txBody>
          <a:bodyPr lIns="0" tIns="0" rIns="0" bIns="0" rtlCol="0" anchor="t">
            <a:spAutoFit/>
          </a:bodyPr>
          <a:lstStyle/>
          <a:p>
            <a:pPr algn="ctr">
              <a:lnSpc>
                <a:spcPts val="7279"/>
              </a:lnSpc>
            </a:pPr>
            <a:r>
              <a:rPr lang="en-US" sz="5400" dirty="0">
                <a:solidFill>
                  <a:srgbClr val="022C5E"/>
                </a:solidFill>
                <a:latin typeface="Hobo"/>
                <a:ea typeface="Hobo"/>
                <a:cs typeface="Hobo"/>
                <a:sym typeface="Hobo"/>
              </a:rPr>
              <a:t>Advantage of Smolagent</a:t>
            </a:r>
          </a:p>
        </p:txBody>
      </p:sp>
      <p:sp>
        <p:nvSpPr>
          <p:cNvPr id="8" name="Freeform 3"/>
          <p:cNvSpPr/>
          <p:nvPr/>
        </p:nvSpPr>
        <p:spPr>
          <a:xfrm>
            <a:off x="3090746" y="7128501"/>
            <a:ext cx="4419600" cy="1683156"/>
          </a:xfrm>
          <a:custGeom>
            <a:avLst/>
            <a:gdLst/>
            <a:ahLst/>
            <a:cxnLst/>
            <a:rect l="l" t="t" r="r" b="b"/>
            <a:pathLst>
              <a:path w="5934317" h="2028458">
                <a:moveTo>
                  <a:pt x="0" y="0"/>
                </a:moveTo>
                <a:lnTo>
                  <a:pt x="5934317" y="0"/>
                </a:lnTo>
                <a:lnTo>
                  <a:pt x="5934317" y="2028458"/>
                </a:lnTo>
                <a:lnTo>
                  <a:pt x="0" y="202845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9" name="Freeform 3"/>
          <p:cNvSpPr/>
          <p:nvPr/>
        </p:nvSpPr>
        <p:spPr>
          <a:xfrm>
            <a:off x="10721420" y="4417581"/>
            <a:ext cx="4200293" cy="1680058"/>
          </a:xfrm>
          <a:custGeom>
            <a:avLst/>
            <a:gdLst/>
            <a:ahLst/>
            <a:cxnLst/>
            <a:rect l="l" t="t" r="r" b="b"/>
            <a:pathLst>
              <a:path w="5934317" h="2028458">
                <a:moveTo>
                  <a:pt x="0" y="0"/>
                </a:moveTo>
                <a:lnTo>
                  <a:pt x="5934317" y="0"/>
                </a:lnTo>
                <a:lnTo>
                  <a:pt x="5934317" y="2028458"/>
                </a:lnTo>
                <a:lnTo>
                  <a:pt x="0" y="202845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0" name="Freeform 3"/>
          <p:cNvSpPr/>
          <p:nvPr/>
        </p:nvSpPr>
        <p:spPr>
          <a:xfrm>
            <a:off x="3090746" y="4417581"/>
            <a:ext cx="4343400" cy="1618274"/>
          </a:xfrm>
          <a:custGeom>
            <a:avLst/>
            <a:gdLst/>
            <a:ahLst/>
            <a:cxnLst/>
            <a:rect l="l" t="t" r="r" b="b"/>
            <a:pathLst>
              <a:path w="5934317" h="2028458">
                <a:moveTo>
                  <a:pt x="0" y="0"/>
                </a:moveTo>
                <a:lnTo>
                  <a:pt x="5934317" y="0"/>
                </a:lnTo>
                <a:lnTo>
                  <a:pt x="5934317" y="2028458"/>
                </a:lnTo>
                <a:lnTo>
                  <a:pt x="0" y="202845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1" name="Freeform 3"/>
          <p:cNvSpPr/>
          <p:nvPr/>
        </p:nvSpPr>
        <p:spPr>
          <a:xfrm>
            <a:off x="10758983" y="7197700"/>
            <a:ext cx="4454210" cy="1561920"/>
          </a:xfrm>
          <a:custGeom>
            <a:avLst/>
            <a:gdLst/>
            <a:ahLst/>
            <a:cxnLst/>
            <a:rect l="l" t="t" r="r" b="b"/>
            <a:pathLst>
              <a:path w="5934317" h="2028458">
                <a:moveTo>
                  <a:pt x="0" y="0"/>
                </a:moveTo>
                <a:lnTo>
                  <a:pt x="5934317" y="0"/>
                </a:lnTo>
                <a:lnTo>
                  <a:pt x="5934317" y="2028458"/>
                </a:lnTo>
                <a:lnTo>
                  <a:pt x="0" y="202845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2" name="TextBox 11"/>
          <p:cNvSpPr txBox="1"/>
          <p:nvPr/>
        </p:nvSpPr>
        <p:spPr>
          <a:xfrm>
            <a:off x="3962400" y="4821345"/>
            <a:ext cx="4724400" cy="707886"/>
          </a:xfrm>
          <a:prstGeom prst="rect">
            <a:avLst/>
          </a:prstGeom>
          <a:noFill/>
        </p:spPr>
        <p:txBody>
          <a:bodyPr wrap="square" rtlCol="0">
            <a:spAutoFit/>
          </a:bodyPr>
          <a:lstStyle/>
          <a:p>
            <a:r>
              <a:rPr lang="en-US" sz="4000" dirty="0">
                <a:solidFill>
                  <a:schemeClr val="tx2">
                    <a:lumMod val="75000"/>
                  </a:schemeClr>
                </a:solidFill>
                <a:latin typeface="Hobo" panose="020B0604020202020204" charset="0"/>
              </a:rPr>
              <a:t>Simplicity</a:t>
            </a:r>
          </a:p>
        </p:txBody>
      </p:sp>
      <p:sp>
        <p:nvSpPr>
          <p:cNvPr id="13" name="TextBox 12"/>
          <p:cNvSpPr txBox="1"/>
          <p:nvPr/>
        </p:nvSpPr>
        <p:spPr>
          <a:xfrm>
            <a:off x="11160294" y="4603270"/>
            <a:ext cx="3581400" cy="1323439"/>
          </a:xfrm>
          <a:prstGeom prst="rect">
            <a:avLst/>
          </a:prstGeom>
          <a:noFill/>
        </p:spPr>
        <p:txBody>
          <a:bodyPr wrap="square" rtlCol="0">
            <a:spAutoFit/>
          </a:bodyPr>
          <a:lstStyle/>
          <a:p>
            <a:r>
              <a:rPr lang="en-US" sz="4000" dirty="0">
                <a:solidFill>
                  <a:schemeClr val="tx2">
                    <a:lumMod val="75000"/>
                  </a:schemeClr>
                </a:solidFill>
                <a:latin typeface="Hobo" panose="020B0604020202020204" charset="0"/>
              </a:rPr>
              <a:t>Flexible LLM Support</a:t>
            </a:r>
          </a:p>
        </p:txBody>
      </p:sp>
      <p:sp>
        <p:nvSpPr>
          <p:cNvPr id="14" name="TextBox 13"/>
          <p:cNvSpPr txBox="1"/>
          <p:nvPr/>
        </p:nvSpPr>
        <p:spPr>
          <a:xfrm>
            <a:off x="3884686" y="7344684"/>
            <a:ext cx="3286827" cy="1323439"/>
          </a:xfrm>
          <a:prstGeom prst="rect">
            <a:avLst/>
          </a:prstGeom>
          <a:noFill/>
        </p:spPr>
        <p:txBody>
          <a:bodyPr wrap="square" rtlCol="0">
            <a:spAutoFit/>
          </a:bodyPr>
          <a:lstStyle/>
          <a:p>
            <a:r>
              <a:rPr lang="en-US" sz="4000" dirty="0">
                <a:solidFill>
                  <a:schemeClr val="tx2">
                    <a:lumMod val="75000"/>
                  </a:schemeClr>
                </a:solidFill>
                <a:latin typeface="Hobo" panose="020B0604020202020204" charset="0"/>
              </a:rPr>
              <a:t>Code-First Approach</a:t>
            </a:r>
          </a:p>
        </p:txBody>
      </p:sp>
      <p:sp>
        <p:nvSpPr>
          <p:cNvPr id="15" name="TextBox 14"/>
          <p:cNvSpPr txBox="1"/>
          <p:nvPr/>
        </p:nvSpPr>
        <p:spPr>
          <a:xfrm>
            <a:off x="11353800" y="7344684"/>
            <a:ext cx="3194388" cy="1323439"/>
          </a:xfrm>
          <a:prstGeom prst="rect">
            <a:avLst/>
          </a:prstGeom>
          <a:noFill/>
        </p:spPr>
        <p:txBody>
          <a:bodyPr wrap="square" rtlCol="0">
            <a:spAutoFit/>
          </a:bodyPr>
          <a:lstStyle/>
          <a:p>
            <a:r>
              <a:rPr lang="en-US" sz="4000" dirty="0">
                <a:solidFill>
                  <a:schemeClr val="tx2">
                    <a:lumMod val="75000"/>
                  </a:schemeClr>
                </a:solidFill>
                <a:latin typeface="Hobo" panose="020B0604020202020204" charset="0"/>
              </a:rPr>
              <a:t>HF Hub Integration</a:t>
            </a:r>
          </a:p>
        </p:txBody>
      </p:sp>
      <p:sp>
        <p:nvSpPr>
          <p:cNvPr id="17" name="TextBox 16"/>
          <p:cNvSpPr txBox="1"/>
          <p:nvPr/>
        </p:nvSpPr>
        <p:spPr>
          <a:xfrm>
            <a:off x="16687800" y="9182100"/>
            <a:ext cx="1295400" cy="523220"/>
          </a:xfrm>
          <a:prstGeom prst="rect">
            <a:avLst/>
          </a:prstGeom>
          <a:noFill/>
        </p:spPr>
        <p:txBody>
          <a:bodyPr wrap="square" rtlCol="0">
            <a:spAutoFit/>
          </a:bodyPr>
          <a:lstStyle/>
          <a:p>
            <a:r>
              <a:rPr lang="en-US" sz="2800" dirty="0" smtClean="0"/>
              <a:t>14</a:t>
            </a:r>
            <a:endParaRPr lang="en-US" sz="2800" dirty="0"/>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par>
                                <p:cTn id="10" presetID="53" presetClass="entr" presetSubtype="16"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p:cTn id="19" dur="500" fill="hold"/>
                                        <p:tgtEl>
                                          <p:spTgt spid="13"/>
                                        </p:tgtEl>
                                        <p:attrNameLst>
                                          <p:attrName>ppt_w</p:attrName>
                                        </p:attrNameLst>
                                      </p:cBhvr>
                                      <p:tavLst>
                                        <p:tav tm="0">
                                          <p:val>
                                            <p:fltVal val="0"/>
                                          </p:val>
                                        </p:tav>
                                        <p:tav tm="100000">
                                          <p:val>
                                            <p:strVal val="#ppt_w"/>
                                          </p:val>
                                        </p:tav>
                                      </p:tavLst>
                                    </p:anim>
                                    <p:anim calcmode="lin" valueType="num">
                                      <p:cBhvr>
                                        <p:cTn id="20" dur="500" fill="hold"/>
                                        <p:tgtEl>
                                          <p:spTgt spid="13"/>
                                        </p:tgtEl>
                                        <p:attrNameLst>
                                          <p:attrName>ppt_h</p:attrName>
                                        </p:attrNameLst>
                                      </p:cBhvr>
                                      <p:tavLst>
                                        <p:tav tm="0">
                                          <p:val>
                                            <p:fltVal val="0"/>
                                          </p:val>
                                        </p:tav>
                                        <p:tav tm="100000">
                                          <p:val>
                                            <p:strVal val="#ppt_h"/>
                                          </p:val>
                                        </p:tav>
                                      </p:tavLst>
                                    </p:anim>
                                    <p:animEffect transition="in" filter="fade">
                                      <p:cBhvr>
                                        <p:cTn id="21" dur="500"/>
                                        <p:tgtEl>
                                          <p:spTgt spid="13"/>
                                        </p:tgtEl>
                                      </p:cBhvr>
                                    </p:animEffect>
                                  </p:childTnLst>
                                </p:cTn>
                              </p:par>
                              <p:par>
                                <p:cTn id="22" presetID="53" presetClass="entr" presetSubtype="16"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p:cTn id="24" dur="500" fill="hold"/>
                                        <p:tgtEl>
                                          <p:spTgt spid="9"/>
                                        </p:tgtEl>
                                        <p:attrNameLst>
                                          <p:attrName>ppt_w</p:attrName>
                                        </p:attrNameLst>
                                      </p:cBhvr>
                                      <p:tavLst>
                                        <p:tav tm="0">
                                          <p:val>
                                            <p:fltVal val="0"/>
                                          </p:val>
                                        </p:tav>
                                        <p:tav tm="100000">
                                          <p:val>
                                            <p:strVal val="#ppt_w"/>
                                          </p:val>
                                        </p:tav>
                                      </p:tavLst>
                                    </p:anim>
                                    <p:anim calcmode="lin" valueType="num">
                                      <p:cBhvr>
                                        <p:cTn id="25" dur="500" fill="hold"/>
                                        <p:tgtEl>
                                          <p:spTgt spid="9"/>
                                        </p:tgtEl>
                                        <p:attrNameLst>
                                          <p:attrName>ppt_h</p:attrName>
                                        </p:attrNameLst>
                                      </p:cBhvr>
                                      <p:tavLst>
                                        <p:tav tm="0">
                                          <p:val>
                                            <p:fltVal val="0"/>
                                          </p:val>
                                        </p:tav>
                                        <p:tav tm="100000">
                                          <p:val>
                                            <p:strVal val="#ppt_h"/>
                                          </p:val>
                                        </p:tav>
                                      </p:tavLst>
                                    </p:anim>
                                    <p:animEffect transition="in" filter="fade">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p:cTn id="31" dur="500" fill="hold"/>
                                        <p:tgtEl>
                                          <p:spTgt spid="14"/>
                                        </p:tgtEl>
                                        <p:attrNameLst>
                                          <p:attrName>ppt_w</p:attrName>
                                        </p:attrNameLst>
                                      </p:cBhvr>
                                      <p:tavLst>
                                        <p:tav tm="0">
                                          <p:val>
                                            <p:fltVal val="0"/>
                                          </p:val>
                                        </p:tav>
                                        <p:tav tm="100000">
                                          <p:val>
                                            <p:strVal val="#ppt_w"/>
                                          </p:val>
                                        </p:tav>
                                      </p:tavLst>
                                    </p:anim>
                                    <p:anim calcmode="lin" valueType="num">
                                      <p:cBhvr>
                                        <p:cTn id="32" dur="500" fill="hold"/>
                                        <p:tgtEl>
                                          <p:spTgt spid="14"/>
                                        </p:tgtEl>
                                        <p:attrNameLst>
                                          <p:attrName>ppt_h</p:attrName>
                                        </p:attrNameLst>
                                      </p:cBhvr>
                                      <p:tavLst>
                                        <p:tav tm="0">
                                          <p:val>
                                            <p:fltVal val="0"/>
                                          </p:val>
                                        </p:tav>
                                        <p:tav tm="100000">
                                          <p:val>
                                            <p:strVal val="#ppt_h"/>
                                          </p:val>
                                        </p:tav>
                                      </p:tavLst>
                                    </p:anim>
                                    <p:animEffect transition="in" filter="fade">
                                      <p:cBhvr>
                                        <p:cTn id="33" dur="500"/>
                                        <p:tgtEl>
                                          <p:spTgt spid="14"/>
                                        </p:tgtEl>
                                      </p:cBhvr>
                                    </p:animEffect>
                                  </p:childTnLst>
                                </p:cTn>
                              </p:par>
                              <p:par>
                                <p:cTn id="34" presetID="53" presetClass="entr" presetSubtype="16" fill="hold" nodeType="with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ppt_w</p:attrName>
                                        </p:attrNameLst>
                                      </p:cBhvr>
                                      <p:tavLst>
                                        <p:tav tm="0">
                                          <p:val>
                                            <p:fltVal val="0"/>
                                          </p:val>
                                        </p:tav>
                                        <p:tav tm="100000">
                                          <p:val>
                                            <p:strVal val="#ppt_w"/>
                                          </p:val>
                                        </p:tav>
                                      </p:tavLst>
                                    </p:anim>
                                    <p:anim calcmode="lin" valueType="num">
                                      <p:cBhvr>
                                        <p:cTn id="37" dur="500" fill="hold"/>
                                        <p:tgtEl>
                                          <p:spTgt spid="8"/>
                                        </p:tgtEl>
                                        <p:attrNameLst>
                                          <p:attrName>ppt_h</p:attrName>
                                        </p:attrNameLst>
                                      </p:cBhvr>
                                      <p:tavLst>
                                        <p:tav tm="0">
                                          <p:val>
                                            <p:fltVal val="0"/>
                                          </p:val>
                                        </p:tav>
                                        <p:tav tm="100000">
                                          <p:val>
                                            <p:strVal val="#ppt_h"/>
                                          </p:val>
                                        </p:tav>
                                      </p:tavLst>
                                    </p:anim>
                                    <p:animEffect transition="in" filter="fade">
                                      <p:cBhvr>
                                        <p:cTn id="38" dur="500"/>
                                        <p:tgtEl>
                                          <p:spTgt spid="8"/>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p:cTn id="43" dur="500" fill="hold"/>
                                        <p:tgtEl>
                                          <p:spTgt spid="11"/>
                                        </p:tgtEl>
                                        <p:attrNameLst>
                                          <p:attrName>ppt_w</p:attrName>
                                        </p:attrNameLst>
                                      </p:cBhvr>
                                      <p:tavLst>
                                        <p:tav tm="0">
                                          <p:val>
                                            <p:fltVal val="0"/>
                                          </p:val>
                                        </p:tav>
                                        <p:tav tm="100000">
                                          <p:val>
                                            <p:strVal val="#ppt_w"/>
                                          </p:val>
                                        </p:tav>
                                      </p:tavLst>
                                    </p:anim>
                                    <p:anim calcmode="lin" valueType="num">
                                      <p:cBhvr>
                                        <p:cTn id="44" dur="500" fill="hold"/>
                                        <p:tgtEl>
                                          <p:spTgt spid="11"/>
                                        </p:tgtEl>
                                        <p:attrNameLst>
                                          <p:attrName>ppt_h</p:attrName>
                                        </p:attrNameLst>
                                      </p:cBhvr>
                                      <p:tavLst>
                                        <p:tav tm="0">
                                          <p:val>
                                            <p:fltVal val="0"/>
                                          </p:val>
                                        </p:tav>
                                        <p:tav tm="100000">
                                          <p:val>
                                            <p:strVal val="#ppt_h"/>
                                          </p:val>
                                        </p:tav>
                                      </p:tavLst>
                                    </p:anim>
                                    <p:animEffect transition="in" filter="fade">
                                      <p:cBhvr>
                                        <p:cTn id="45" dur="500"/>
                                        <p:tgtEl>
                                          <p:spTgt spid="11"/>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15"/>
                                        </p:tgtEl>
                                        <p:attrNameLst>
                                          <p:attrName>style.visibility</p:attrName>
                                        </p:attrNameLst>
                                      </p:cBhvr>
                                      <p:to>
                                        <p:strVal val="visible"/>
                                      </p:to>
                                    </p:set>
                                    <p:anim calcmode="lin" valueType="num">
                                      <p:cBhvr>
                                        <p:cTn id="48" dur="500" fill="hold"/>
                                        <p:tgtEl>
                                          <p:spTgt spid="15"/>
                                        </p:tgtEl>
                                        <p:attrNameLst>
                                          <p:attrName>ppt_w</p:attrName>
                                        </p:attrNameLst>
                                      </p:cBhvr>
                                      <p:tavLst>
                                        <p:tav tm="0">
                                          <p:val>
                                            <p:fltVal val="0"/>
                                          </p:val>
                                        </p:tav>
                                        <p:tav tm="100000">
                                          <p:val>
                                            <p:strVal val="#ppt_w"/>
                                          </p:val>
                                        </p:tav>
                                      </p:tavLst>
                                    </p:anim>
                                    <p:anim calcmode="lin" valueType="num">
                                      <p:cBhvr>
                                        <p:cTn id="49" dur="500" fill="hold"/>
                                        <p:tgtEl>
                                          <p:spTgt spid="15"/>
                                        </p:tgtEl>
                                        <p:attrNameLst>
                                          <p:attrName>ppt_h</p:attrName>
                                        </p:attrNameLst>
                                      </p:cBhvr>
                                      <p:tavLst>
                                        <p:tav tm="0">
                                          <p:val>
                                            <p:fltVal val="0"/>
                                          </p:val>
                                        </p:tav>
                                        <p:tav tm="100000">
                                          <p:val>
                                            <p:strVal val="#ppt_h"/>
                                          </p:val>
                                        </p:tav>
                                      </p:tavLst>
                                    </p:anim>
                                    <p:animEffect transition="in" filter="fade">
                                      <p:cBhvr>
                                        <p:cTn id="5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B0DBF8"/>
        </a:solidFill>
        <a:effectLst/>
      </p:bgPr>
    </p:bg>
    <p:spTree>
      <p:nvGrpSpPr>
        <p:cNvPr id="1" name=""/>
        <p:cNvGrpSpPr/>
        <p:nvPr/>
      </p:nvGrpSpPr>
      <p:grpSpPr>
        <a:xfrm>
          <a:off x="0" y="0"/>
          <a:ext cx="0" cy="0"/>
          <a:chOff x="0" y="0"/>
          <a:chExt cx="0" cy="0"/>
        </a:xfrm>
      </p:grpSpPr>
      <p:sp>
        <p:nvSpPr>
          <p:cNvPr id="2" name="Freeform 2"/>
          <p:cNvSpPr/>
          <p:nvPr/>
        </p:nvSpPr>
        <p:spPr>
          <a:xfrm>
            <a:off x="8676476" y="-5193757"/>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alphaModFix amt="68000"/>
            </a:blip>
            <a:stretch>
              <a:fillRect/>
            </a:stretch>
          </a:blipFill>
        </p:spPr>
      </p:sp>
      <p:sp>
        <p:nvSpPr>
          <p:cNvPr id="3" name="Freeform 3"/>
          <p:cNvSpPr/>
          <p:nvPr/>
        </p:nvSpPr>
        <p:spPr>
          <a:xfrm>
            <a:off x="1013920" y="3889874"/>
            <a:ext cx="5934317" cy="2028458"/>
          </a:xfrm>
          <a:custGeom>
            <a:avLst/>
            <a:gdLst/>
            <a:ahLst/>
            <a:cxnLst/>
            <a:rect l="l" t="t" r="r" b="b"/>
            <a:pathLst>
              <a:path w="5934317" h="2028458">
                <a:moveTo>
                  <a:pt x="0" y="0"/>
                </a:moveTo>
                <a:lnTo>
                  <a:pt x="5934317" y="0"/>
                </a:lnTo>
                <a:lnTo>
                  <a:pt x="5934317" y="2028458"/>
                </a:lnTo>
                <a:lnTo>
                  <a:pt x="0" y="202845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a:off x="-3680302" y="9409789"/>
            <a:ext cx="15322762" cy="8229600"/>
          </a:xfrm>
          <a:custGeom>
            <a:avLst/>
            <a:gdLst/>
            <a:ahLst/>
            <a:cxnLst/>
            <a:rect l="l" t="t" r="r" b="b"/>
            <a:pathLst>
              <a:path w="15322762" h="8229600">
                <a:moveTo>
                  <a:pt x="0" y="0"/>
                </a:moveTo>
                <a:lnTo>
                  <a:pt x="15322761" y="0"/>
                </a:lnTo>
                <a:lnTo>
                  <a:pt x="15322761" y="8229600"/>
                </a:lnTo>
                <a:lnTo>
                  <a:pt x="0" y="8229600"/>
                </a:lnTo>
                <a:lnTo>
                  <a:pt x="0" y="0"/>
                </a:lnTo>
                <a:close/>
              </a:path>
            </a:pathLst>
          </a:custGeom>
          <a:blipFill>
            <a:blip r:embed="rId3"/>
            <a:stretch>
              <a:fillRect/>
            </a:stretch>
          </a:blipFill>
        </p:spPr>
      </p:sp>
      <p:sp>
        <p:nvSpPr>
          <p:cNvPr id="5" name="TextBox 5"/>
          <p:cNvSpPr txBox="1"/>
          <p:nvPr/>
        </p:nvSpPr>
        <p:spPr>
          <a:xfrm>
            <a:off x="976389" y="3953272"/>
            <a:ext cx="5934317" cy="1798441"/>
          </a:xfrm>
          <a:prstGeom prst="rect">
            <a:avLst/>
          </a:prstGeom>
        </p:spPr>
        <p:txBody>
          <a:bodyPr lIns="0" tIns="0" rIns="0" bIns="0" rtlCol="0" anchor="t">
            <a:spAutoFit/>
          </a:bodyPr>
          <a:lstStyle/>
          <a:p>
            <a:pPr algn="ctr">
              <a:lnSpc>
                <a:spcPts val="7279"/>
              </a:lnSpc>
            </a:pPr>
            <a:r>
              <a:rPr lang="en-US" sz="5400" dirty="0">
                <a:solidFill>
                  <a:srgbClr val="022C5E"/>
                </a:solidFill>
                <a:latin typeface="Hobo"/>
                <a:ea typeface="Hobo"/>
                <a:cs typeface="Hobo"/>
                <a:sym typeface="Hobo"/>
              </a:rPr>
              <a:t>Type of Model in Smolagent</a:t>
            </a:r>
          </a:p>
        </p:txBody>
      </p:sp>
      <p:sp>
        <p:nvSpPr>
          <p:cNvPr id="6" name="Freeform 6"/>
          <p:cNvSpPr/>
          <p:nvPr/>
        </p:nvSpPr>
        <p:spPr>
          <a:xfrm>
            <a:off x="8701497" y="438538"/>
            <a:ext cx="8526961" cy="1925239"/>
          </a:xfrm>
          <a:custGeom>
            <a:avLst/>
            <a:gdLst/>
            <a:ahLst/>
            <a:cxnLst/>
            <a:rect l="l" t="t" r="r" b="b"/>
            <a:pathLst>
              <a:path w="8526961" h="1925239">
                <a:moveTo>
                  <a:pt x="0" y="0"/>
                </a:moveTo>
                <a:lnTo>
                  <a:pt x="8526961" y="0"/>
                </a:lnTo>
                <a:lnTo>
                  <a:pt x="8526961" y="1925240"/>
                </a:lnTo>
                <a:lnTo>
                  <a:pt x="0" y="192524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7" name="Freeform 7"/>
          <p:cNvSpPr/>
          <p:nvPr/>
        </p:nvSpPr>
        <p:spPr>
          <a:xfrm>
            <a:off x="8701497" y="2649715"/>
            <a:ext cx="8526961" cy="1925239"/>
          </a:xfrm>
          <a:custGeom>
            <a:avLst/>
            <a:gdLst/>
            <a:ahLst/>
            <a:cxnLst/>
            <a:rect l="l" t="t" r="r" b="b"/>
            <a:pathLst>
              <a:path w="8526961" h="1925239">
                <a:moveTo>
                  <a:pt x="0" y="0"/>
                </a:moveTo>
                <a:lnTo>
                  <a:pt x="8526961" y="0"/>
                </a:lnTo>
                <a:lnTo>
                  <a:pt x="8526961" y="1925239"/>
                </a:lnTo>
                <a:lnTo>
                  <a:pt x="0" y="1925239"/>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8" name="Freeform 8"/>
          <p:cNvSpPr/>
          <p:nvPr/>
        </p:nvSpPr>
        <p:spPr>
          <a:xfrm>
            <a:off x="8701496" y="4801867"/>
            <a:ext cx="8526961" cy="1925239"/>
          </a:xfrm>
          <a:custGeom>
            <a:avLst/>
            <a:gdLst/>
            <a:ahLst/>
            <a:cxnLst/>
            <a:rect l="l" t="t" r="r" b="b"/>
            <a:pathLst>
              <a:path w="8526961" h="1925239">
                <a:moveTo>
                  <a:pt x="0" y="0"/>
                </a:moveTo>
                <a:lnTo>
                  <a:pt x="8526961" y="0"/>
                </a:lnTo>
                <a:lnTo>
                  <a:pt x="8526961" y="1925240"/>
                </a:lnTo>
                <a:lnTo>
                  <a:pt x="0" y="192524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9" name="TextBox 9"/>
          <p:cNvSpPr txBox="1"/>
          <p:nvPr/>
        </p:nvSpPr>
        <p:spPr>
          <a:xfrm>
            <a:off x="10027359" y="853209"/>
            <a:ext cx="6820279" cy="641651"/>
          </a:xfrm>
          <a:prstGeom prst="rect">
            <a:avLst/>
          </a:prstGeom>
        </p:spPr>
        <p:txBody>
          <a:bodyPr lIns="0" tIns="0" rIns="0" bIns="0" rtlCol="0" anchor="t">
            <a:spAutoFit/>
          </a:bodyPr>
          <a:lstStyle/>
          <a:p>
            <a:pPr>
              <a:lnSpc>
                <a:spcPts val="2601"/>
              </a:lnSpc>
            </a:pPr>
            <a:r>
              <a:rPr lang="en-US" sz="1858" b="1" dirty="0" smtClean="0">
                <a:solidFill>
                  <a:srgbClr val="022C5E"/>
                </a:solidFill>
                <a:latin typeface="Open Sans"/>
                <a:ea typeface="Open Sans"/>
                <a:cs typeface="Open Sans"/>
                <a:sym typeface="Open Sans"/>
              </a:rPr>
              <a:t>Transformer Model: </a:t>
            </a:r>
            <a:r>
              <a:rPr lang="en-US" dirty="0"/>
              <a:t>Implements a </a:t>
            </a:r>
            <a:r>
              <a:rPr lang="en-US" dirty="0" smtClean="0"/>
              <a:t>local transformer </a:t>
            </a:r>
            <a:r>
              <a:rPr lang="en-US" dirty="0"/>
              <a:t>pipeline for seamless </a:t>
            </a:r>
            <a:r>
              <a:rPr lang="en-US" dirty="0" smtClean="0"/>
              <a:t>integration </a:t>
            </a:r>
            <a:r>
              <a:rPr lang="en-US" dirty="0" smtClean="0">
                <a:hlinkClick r:id="rId8" action="ppaction://hlinksldjump"/>
              </a:rPr>
              <a:t>[2].</a:t>
            </a:r>
            <a:endParaRPr lang="en-US" sz="1858" b="1" dirty="0">
              <a:solidFill>
                <a:srgbClr val="022C5E"/>
              </a:solidFill>
              <a:latin typeface="Open Sans"/>
              <a:ea typeface="Open Sans"/>
              <a:cs typeface="Open Sans"/>
              <a:sym typeface="Open Sans"/>
            </a:endParaRPr>
          </a:p>
        </p:txBody>
      </p:sp>
      <p:sp>
        <p:nvSpPr>
          <p:cNvPr id="13" name="TextBox 13"/>
          <p:cNvSpPr txBox="1"/>
          <p:nvPr/>
        </p:nvSpPr>
        <p:spPr>
          <a:xfrm>
            <a:off x="9998926" y="2875043"/>
            <a:ext cx="6820279" cy="978409"/>
          </a:xfrm>
          <a:prstGeom prst="rect">
            <a:avLst/>
          </a:prstGeom>
        </p:spPr>
        <p:txBody>
          <a:bodyPr lIns="0" tIns="0" rIns="0" bIns="0" rtlCol="0" anchor="t">
            <a:spAutoFit/>
          </a:bodyPr>
          <a:lstStyle/>
          <a:p>
            <a:pPr algn="l">
              <a:lnSpc>
                <a:spcPts val="2601"/>
              </a:lnSpc>
            </a:pPr>
            <a:r>
              <a:rPr lang="en-US" sz="1858" b="1" dirty="0" smtClean="0">
                <a:solidFill>
                  <a:srgbClr val="022C5E"/>
                </a:solidFill>
                <a:latin typeface="Open Sans"/>
                <a:ea typeface="Open Sans"/>
                <a:cs typeface="Open Sans"/>
                <a:sym typeface="Open Sans"/>
              </a:rPr>
              <a:t>InferenceClient Model: </a:t>
            </a:r>
            <a:r>
              <a:rPr lang="en-US" sz="1858" dirty="0" smtClean="0">
                <a:solidFill>
                  <a:srgbClr val="022C5E"/>
                </a:solidFill>
                <a:latin typeface="Open Sans"/>
                <a:ea typeface="Open Sans"/>
                <a:cs typeface="Open Sans"/>
                <a:sym typeface="Open Sans"/>
              </a:rPr>
              <a:t>Calls a severless inference API, Usually via hugging face or via a growing number of third party inference providers </a:t>
            </a:r>
            <a:r>
              <a:rPr lang="en-US" sz="1858" dirty="0" smtClean="0">
                <a:solidFill>
                  <a:srgbClr val="022C5E"/>
                </a:solidFill>
                <a:latin typeface="Open Sans"/>
                <a:ea typeface="Open Sans"/>
                <a:cs typeface="Open Sans"/>
                <a:sym typeface="Open Sans"/>
                <a:hlinkClick r:id="rId8" action="ppaction://hlinksldjump"/>
              </a:rPr>
              <a:t>[2].</a:t>
            </a:r>
            <a:endParaRPr lang="en-US" sz="1858" dirty="0">
              <a:solidFill>
                <a:srgbClr val="022C5E"/>
              </a:solidFill>
              <a:latin typeface="Open Sans"/>
              <a:ea typeface="Open Sans"/>
              <a:cs typeface="Open Sans"/>
              <a:sym typeface="Open Sans"/>
            </a:endParaRPr>
          </a:p>
        </p:txBody>
      </p:sp>
      <p:sp>
        <p:nvSpPr>
          <p:cNvPr id="14" name="TextBox 14"/>
          <p:cNvSpPr txBox="1"/>
          <p:nvPr/>
        </p:nvSpPr>
        <p:spPr>
          <a:xfrm>
            <a:off x="9934006" y="5246430"/>
            <a:ext cx="6820279" cy="666849"/>
          </a:xfrm>
          <a:prstGeom prst="rect">
            <a:avLst/>
          </a:prstGeom>
        </p:spPr>
        <p:txBody>
          <a:bodyPr lIns="0" tIns="0" rIns="0" bIns="0" rtlCol="0" anchor="t">
            <a:spAutoFit/>
          </a:bodyPr>
          <a:lstStyle/>
          <a:p>
            <a:pPr algn="l">
              <a:lnSpc>
                <a:spcPts val="2601"/>
              </a:lnSpc>
            </a:pPr>
            <a:r>
              <a:rPr lang="en-US" sz="1858" b="1" dirty="0" smtClean="0">
                <a:solidFill>
                  <a:srgbClr val="022C5E"/>
                </a:solidFill>
                <a:latin typeface="Open Sans"/>
                <a:ea typeface="Open Sans"/>
                <a:cs typeface="Open Sans"/>
                <a:sym typeface="Open Sans"/>
              </a:rPr>
              <a:t>LitelLMModel: </a:t>
            </a:r>
            <a:r>
              <a:rPr lang="en-US" sz="1858" dirty="0" smtClean="0">
                <a:solidFill>
                  <a:srgbClr val="022C5E"/>
                </a:solidFill>
                <a:latin typeface="Open Sans"/>
                <a:ea typeface="Open Sans"/>
                <a:cs typeface="Open Sans"/>
                <a:sym typeface="Open Sans"/>
              </a:rPr>
              <a:t>a lightweight framework for running models efficiently</a:t>
            </a:r>
            <a:r>
              <a:rPr lang="en-US" sz="1858" b="1" dirty="0" smtClean="0">
                <a:solidFill>
                  <a:srgbClr val="022C5E"/>
                </a:solidFill>
                <a:latin typeface="Open Sans"/>
                <a:ea typeface="Open Sans"/>
                <a:cs typeface="Open Sans"/>
                <a:sym typeface="Open Sans"/>
              </a:rPr>
              <a:t>  </a:t>
            </a:r>
            <a:r>
              <a:rPr lang="en-US" sz="1858" dirty="0" smtClean="0">
                <a:solidFill>
                  <a:srgbClr val="022C5E"/>
                </a:solidFill>
                <a:latin typeface="Open Sans"/>
                <a:ea typeface="Open Sans"/>
                <a:cs typeface="Open Sans"/>
                <a:sym typeface="Open Sans"/>
                <a:hlinkClick r:id="rId8" action="ppaction://hlinksldjump"/>
              </a:rPr>
              <a:t>[2]</a:t>
            </a:r>
            <a:r>
              <a:rPr lang="en-US" sz="1858" b="1" dirty="0">
                <a:solidFill>
                  <a:srgbClr val="022C5E"/>
                </a:solidFill>
                <a:latin typeface="Open Sans"/>
                <a:ea typeface="Open Sans"/>
                <a:cs typeface="Open Sans"/>
                <a:sym typeface="Open Sans"/>
                <a:hlinkClick r:id="rId8" action="ppaction://hlinksldjump"/>
              </a:rPr>
              <a:t>.</a:t>
            </a:r>
            <a:endParaRPr lang="en-US" sz="1858" b="1" dirty="0">
              <a:solidFill>
                <a:srgbClr val="022C5E"/>
              </a:solidFill>
              <a:latin typeface="Open Sans"/>
              <a:ea typeface="Open Sans"/>
              <a:cs typeface="Open Sans"/>
              <a:sym typeface="Open Sans"/>
            </a:endParaRPr>
          </a:p>
        </p:txBody>
      </p:sp>
      <p:sp>
        <p:nvSpPr>
          <p:cNvPr id="17" name="Freeform 6"/>
          <p:cNvSpPr/>
          <p:nvPr/>
        </p:nvSpPr>
        <p:spPr>
          <a:xfrm>
            <a:off x="8701495" y="7227013"/>
            <a:ext cx="8526961" cy="1925239"/>
          </a:xfrm>
          <a:custGeom>
            <a:avLst/>
            <a:gdLst/>
            <a:ahLst/>
            <a:cxnLst/>
            <a:rect l="l" t="t" r="r" b="b"/>
            <a:pathLst>
              <a:path w="8526961" h="1925239">
                <a:moveTo>
                  <a:pt x="0" y="0"/>
                </a:moveTo>
                <a:lnTo>
                  <a:pt x="8526961" y="0"/>
                </a:lnTo>
                <a:lnTo>
                  <a:pt x="8526961" y="1925240"/>
                </a:lnTo>
                <a:lnTo>
                  <a:pt x="0" y="192524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18" name="TextBox 14"/>
          <p:cNvSpPr txBox="1"/>
          <p:nvPr/>
        </p:nvSpPr>
        <p:spPr>
          <a:xfrm>
            <a:off x="9934007" y="7588045"/>
            <a:ext cx="6820279" cy="644985"/>
          </a:xfrm>
          <a:prstGeom prst="rect">
            <a:avLst/>
          </a:prstGeom>
        </p:spPr>
        <p:txBody>
          <a:bodyPr lIns="0" tIns="0" rIns="0" bIns="0" rtlCol="0" anchor="t">
            <a:spAutoFit/>
          </a:bodyPr>
          <a:lstStyle/>
          <a:p>
            <a:pPr>
              <a:lnSpc>
                <a:spcPts val="2601"/>
              </a:lnSpc>
            </a:pPr>
            <a:r>
              <a:rPr lang="en-US" sz="1858" b="1" dirty="0" smtClean="0">
                <a:solidFill>
                  <a:schemeClr val="tx2">
                    <a:lumMod val="75000"/>
                  </a:schemeClr>
                </a:solidFill>
                <a:latin typeface="Open Sans" panose="020B0604020202020204" charset="0"/>
                <a:ea typeface="Open Sans" panose="020B0604020202020204" charset="0"/>
                <a:cs typeface="Open Sans" panose="020B0604020202020204" charset="0"/>
                <a:sym typeface="Open Sans"/>
              </a:rPr>
              <a:t>OpenAIServerModel: </a:t>
            </a:r>
            <a:r>
              <a:rPr lang="en-US" dirty="0">
                <a:solidFill>
                  <a:schemeClr val="tx2">
                    <a:lumMod val="75000"/>
                  </a:schemeClr>
                </a:solidFill>
                <a:latin typeface="Open Sans" panose="020B0604020202020204" charset="0"/>
                <a:ea typeface="Open Sans" panose="020B0604020202020204" charset="0"/>
                <a:cs typeface="Open Sans" panose="020B0604020202020204" charset="0"/>
              </a:rPr>
              <a:t>Connects to any service that offers an OpenAI API </a:t>
            </a:r>
            <a:r>
              <a:rPr lang="en-US" dirty="0" smtClean="0">
                <a:solidFill>
                  <a:schemeClr val="tx2">
                    <a:lumMod val="75000"/>
                  </a:schemeClr>
                </a:solidFill>
                <a:latin typeface="Open Sans" panose="020B0604020202020204" charset="0"/>
                <a:ea typeface="Open Sans" panose="020B0604020202020204" charset="0"/>
                <a:cs typeface="Open Sans" panose="020B0604020202020204" charset="0"/>
              </a:rPr>
              <a:t>interface</a:t>
            </a:r>
            <a:r>
              <a:rPr lang="en-US" dirty="0">
                <a:solidFill>
                  <a:schemeClr val="tx2">
                    <a:lumMod val="75000"/>
                  </a:schemeClr>
                </a:solidFill>
                <a:latin typeface="Hobo" panose="020B0604020202020204" charset="0"/>
              </a:rPr>
              <a:t> </a:t>
            </a:r>
            <a:r>
              <a:rPr lang="en-US" dirty="0" smtClean="0">
                <a:solidFill>
                  <a:schemeClr val="tx2">
                    <a:lumMod val="75000"/>
                  </a:schemeClr>
                </a:solidFill>
                <a:latin typeface="Hobo" panose="020B0604020202020204" charset="0"/>
                <a:hlinkClick r:id="rId8" action="ppaction://hlinksldjump"/>
              </a:rPr>
              <a:t>[2].</a:t>
            </a:r>
            <a:endParaRPr lang="en-US" sz="1858" dirty="0">
              <a:solidFill>
                <a:schemeClr val="tx2">
                  <a:lumMod val="75000"/>
                </a:schemeClr>
              </a:solidFill>
              <a:latin typeface="Hobo" panose="020B0604020202020204" charset="0"/>
              <a:ea typeface="Open Sans"/>
              <a:cs typeface="Open Sans"/>
              <a:sym typeface="Open Sans"/>
            </a:endParaRPr>
          </a:p>
        </p:txBody>
      </p:sp>
      <p:sp>
        <p:nvSpPr>
          <p:cNvPr id="20" name="TextBox 19"/>
          <p:cNvSpPr txBox="1"/>
          <p:nvPr/>
        </p:nvSpPr>
        <p:spPr>
          <a:xfrm>
            <a:off x="16687800" y="9182100"/>
            <a:ext cx="1295400" cy="523220"/>
          </a:xfrm>
          <a:prstGeom prst="rect">
            <a:avLst/>
          </a:prstGeom>
          <a:noFill/>
        </p:spPr>
        <p:txBody>
          <a:bodyPr wrap="square" rtlCol="0">
            <a:spAutoFit/>
          </a:bodyPr>
          <a:lstStyle/>
          <a:p>
            <a:r>
              <a:rPr lang="en-US" sz="2800" dirty="0" smtClean="0"/>
              <a:t>15</a:t>
            </a:r>
            <a:endParaRPr lang="en-US" sz="2800" dirty="0"/>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animEffect transition="in" filter="fade">
                                      <p:cBhvr>
                                        <p:cTn id="21" dur="500"/>
                                        <p:tgtEl>
                                          <p:spTgt spid="7"/>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cBhvr>
                                        <p:cTn id="24" dur="500" fill="hold"/>
                                        <p:tgtEl>
                                          <p:spTgt spid="13"/>
                                        </p:tgtEl>
                                        <p:attrNameLst>
                                          <p:attrName>ppt_w</p:attrName>
                                        </p:attrNameLst>
                                      </p:cBhvr>
                                      <p:tavLst>
                                        <p:tav tm="0">
                                          <p:val>
                                            <p:fltVal val="0"/>
                                          </p:val>
                                        </p:tav>
                                        <p:tav tm="100000">
                                          <p:val>
                                            <p:strVal val="#ppt_w"/>
                                          </p:val>
                                        </p:tav>
                                      </p:tavLst>
                                    </p:anim>
                                    <p:anim calcmode="lin" valueType="num">
                                      <p:cBhvr>
                                        <p:cTn id="25" dur="500" fill="hold"/>
                                        <p:tgtEl>
                                          <p:spTgt spid="13"/>
                                        </p:tgtEl>
                                        <p:attrNameLst>
                                          <p:attrName>ppt_h</p:attrName>
                                        </p:attrNameLst>
                                      </p:cBhvr>
                                      <p:tavLst>
                                        <p:tav tm="0">
                                          <p:val>
                                            <p:fltVal val="0"/>
                                          </p:val>
                                        </p:tav>
                                        <p:tav tm="100000">
                                          <p:val>
                                            <p:strVal val="#ppt_h"/>
                                          </p:val>
                                        </p:tav>
                                      </p:tavLst>
                                    </p:anim>
                                    <p:animEffect transition="in" filter="fade">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p:cTn id="31" dur="500" fill="hold"/>
                                        <p:tgtEl>
                                          <p:spTgt spid="8"/>
                                        </p:tgtEl>
                                        <p:attrNameLst>
                                          <p:attrName>ppt_w</p:attrName>
                                        </p:attrNameLst>
                                      </p:cBhvr>
                                      <p:tavLst>
                                        <p:tav tm="0">
                                          <p:val>
                                            <p:fltVal val="0"/>
                                          </p:val>
                                        </p:tav>
                                        <p:tav tm="100000">
                                          <p:val>
                                            <p:strVal val="#ppt_w"/>
                                          </p:val>
                                        </p:tav>
                                      </p:tavLst>
                                    </p:anim>
                                    <p:anim calcmode="lin" valueType="num">
                                      <p:cBhvr>
                                        <p:cTn id="32" dur="500" fill="hold"/>
                                        <p:tgtEl>
                                          <p:spTgt spid="8"/>
                                        </p:tgtEl>
                                        <p:attrNameLst>
                                          <p:attrName>ppt_h</p:attrName>
                                        </p:attrNameLst>
                                      </p:cBhvr>
                                      <p:tavLst>
                                        <p:tav tm="0">
                                          <p:val>
                                            <p:fltVal val="0"/>
                                          </p:val>
                                        </p:tav>
                                        <p:tav tm="100000">
                                          <p:val>
                                            <p:strVal val="#ppt_h"/>
                                          </p:val>
                                        </p:tav>
                                      </p:tavLst>
                                    </p:anim>
                                    <p:animEffect transition="in" filter="fade">
                                      <p:cBhvr>
                                        <p:cTn id="33" dur="500"/>
                                        <p:tgtEl>
                                          <p:spTgt spid="8"/>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p:cTn id="36" dur="500" fill="hold"/>
                                        <p:tgtEl>
                                          <p:spTgt spid="14"/>
                                        </p:tgtEl>
                                        <p:attrNameLst>
                                          <p:attrName>ppt_w</p:attrName>
                                        </p:attrNameLst>
                                      </p:cBhvr>
                                      <p:tavLst>
                                        <p:tav tm="0">
                                          <p:val>
                                            <p:fltVal val="0"/>
                                          </p:val>
                                        </p:tav>
                                        <p:tav tm="100000">
                                          <p:val>
                                            <p:strVal val="#ppt_w"/>
                                          </p:val>
                                        </p:tav>
                                      </p:tavLst>
                                    </p:anim>
                                    <p:anim calcmode="lin" valueType="num">
                                      <p:cBhvr>
                                        <p:cTn id="37" dur="500" fill="hold"/>
                                        <p:tgtEl>
                                          <p:spTgt spid="14"/>
                                        </p:tgtEl>
                                        <p:attrNameLst>
                                          <p:attrName>ppt_h</p:attrName>
                                        </p:attrNameLst>
                                      </p:cBhvr>
                                      <p:tavLst>
                                        <p:tav tm="0">
                                          <p:val>
                                            <p:fltVal val="0"/>
                                          </p:val>
                                        </p:tav>
                                        <p:tav tm="100000">
                                          <p:val>
                                            <p:strVal val="#ppt_h"/>
                                          </p:val>
                                        </p:tav>
                                      </p:tavLst>
                                    </p:anim>
                                    <p:animEffect transition="in" filter="fade">
                                      <p:cBhvr>
                                        <p:cTn id="38" dur="500"/>
                                        <p:tgtEl>
                                          <p:spTgt spid="14"/>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p:cTn id="43" dur="500" fill="hold"/>
                                        <p:tgtEl>
                                          <p:spTgt spid="17"/>
                                        </p:tgtEl>
                                        <p:attrNameLst>
                                          <p:attrName>ppt_w</p:attrName>
                                        </p:attrNameLst>
                                      </p:cBhvr>
                                      <p:tavLst>
                                        <p:tav tm="0">
                                          <p:val>
                                            <p:fltVal val="0"/>
                                          </p:val>
                                        </p:tav>
                                        <p:tav tm="100000">
                                          <p:val>
                                            <p:strVal val="#ppt_w"/>
                                          </p:val>
                                        </p:tav>
                                      </p:tavLst>
                                    </p:anim>
                                    <p:anim calcmode="lin" valueType="num">
                                      <p:cBhvr>
                                        <p:cTn id="44" dur="500" fill="hold"/>
                                        <p:tgtEl>
                                          <p:spTgt spid="17"/>
                                        </p:tgtEl>
                                        <p:attrNameLst>
                                          <p:attrName>ppt_h</p:attrName>
                                        </p:attrNameLst>
                                      </p:cBhvr>
                                      <p:tavLst>
                                        <p:tav tm="0">
                                          <p:val>
                                            <p:fltVal val="0"/>
                                          </p:val>
                                        </p:tav>
                                        <p:tav tm="100000">
                                          <p:val>
                                            <p:strVal val="#ppt_h"/>
                                          </p:val>
                                        </p:tav>
                                      </p:tavLst>
                                    </p:anim>
                                    <p:animEffect transition="in" filter="fade">
                                      <p:cBhvr>
                                        <p:cTn id="45" dur="500"/>
                                        <p:tgtEl>
                                          <p:spTgt spid="17"/>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 calcmode="lin" valueType="num">
                                      <p:cBhvr>
                                        <p:cTn id="48" dur="500" fill="hold"/>
                                        <p:tgtEl>
                                          <p:spTgt spid="18"/>
                                        </p:tgtEl>
                                        <p:attrNameLst>
                                          <p:attrName>ppt_w</p:attrName>
                                        </p:attrNameLst>
                                      </p:cBhvr>
                                      <p:tavLst>
                                        <p:tav tm="0">
                                          <p:val>
                                            <p:fltVal val="0"/>
                                          </p:val>
                                        </p:tav>
                                        <p:tav tm="100000">
                                          <p:val>
                                            <p:strVal val="#ppt_w"/>
                                          </p:val>
                                        </p:tav>
                                      </p:tavLst>
                                    </p:anim>
                                    <p:anim calcmode="lin" valueType="num">
                                      <p:cBhvr>
                                        <p:cTn id="49" dur="500" fill="hold"/>
                                        <p:tgtEl>
                                          <p:spTgt spid="18"/>
                                        </p:tgtEl>
                                        <p:attrNameLst>
                                          <p:attrName>ppt_h</p:attrName>
                                        </p:attrNameLst>
                                      </p:cBhvr>
                                      <p:tavLst>
                                        <p:tav tm="0">
                                          <p:val>
                                            <p:fltVal val="0"/>
                                          </p:val>
                                        </p:tav>
                                        <p:tav tm="100000">
                                          <p:val>
                                            <p:strVal val="#ppt_h"/>
                                          </p:val>
                                        </p:tav>
                                      </p:tavLst>
                                    </p:anim>
                                    <p:animEffect transition="in" filter="fade">
                                      <p:cBhvr>
                                        <p:cTn id="5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P spid="14" grpId="0"/>
      <p:bldP spid="18"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B0DBF8"/>
        </a:solidFill>
        <a:effectLst/>
      </p:bgPr>
    </p:bg>
    <p:spTree>
      <p:nvGrpSpPr>
        <p:cNvPr id="1" name=""/>
        <p:cNvGrpSpPr/>
        <p:nvPr/>
      </p:nvGrpSpPr>
      <p:grpSpPr>
        <a:xfrm>
          <a:off x="0" y="0"/>
          <a:ext cx="0" cy="0"/>
          <a:chOff x="0" y="0"/>
          <a:chExt cx="0" cy="0"/>
        </a:xfrm>
      </p:grpSpPr>
      <p:sp>
        <p:nvSpPr>
          <p:cNvPr id="2" name="Freeform 2"/>
          <p:cNvSpPr/>
          <p:nvPr/>
        </p:nvSpPr>
        <p:spPr>
          <a:xfrm>
            <a:off x="1095198" y="1162101"/>
            <a:ext cx="5934317" cy="2028458"/>
          </a:xfrm>
          <a:custGeom>
            <a:avLst/>
            <a:gdLst/>
            <a:ahLst/>
            <a:cxnLst/>
            <a:rect l="l" t="t" r="r" b="b"/>
            <a:pathLst>
              <a:path w="5934317" h="2028458">
                <a:moveTo>
                  <a:pt x="0" y="0"/>
                </a:moveTo>
                <a:lnTo>
                  <a:pt x="5934318" y="0"/>
                </a:lnTo>
                <a:lnTo>
                  <a:pt x="5934318" y="2028458"/>
                </a:lnTo>
                <a:lnTo>
                  <a:pt x="0" y="2028458"/>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3" name="Freeform 3"/>
          <p:cNvSpPr/>
          <p:nvPr/>
        </p:nvSpPr>
        <p:spPr>
          <a:xfrm>
            <a:off x="-3303104" y="8865103"/>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5">
              <a:alphaModFix amt="80000"/>
            </a:blip>
            <a:stretch>
              <a:fillRect/>
            </a:stretch>
          </a:blipFill>
        </p:spPr>
      </p:sp>
      <p:sp>
        <p:nvSpPr>
          <p:cNvPr id="4" name="Freeform 4"/>
          <p:cNvSpPr/>
          <p:nvPr/>
        </p:nvSpPr>
        <p:spPr>
          <a:xfrm>
            <a:off x="7721735" y="-6604364"/>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5">
              <a:alphaModFix amt="78000"/>
            </a:blip>
            <a:stretch>
              <a:fillRect/>
            </a:stretch>
          </a:blipFill>
        </p:spPr>
      </p:sp>
      <p:sp>
        <p:nvSpPr>
          <p:cNvPr id="6" name="TextBox 6"/>
          <p:cNvSpPr txBox="1"/>
          <p:nvPr/>
        </p:nvSpPr>
        <p:spPr>
          <a:xfrm>
            <a:off x="1104297" y="1625236"/>
            <a:ext cx="5934317" cy="862287"/>
          </a:xfrm>
          <a:prstGeom prst="rect">
            <a:avLst/>
          </a:prstGeom>
        </p:spPr>
        <p:txBody>
          <a:bodyPr lIns="0" tIns="0" rIns="0" bIns="0" rtlCol="0" anchor="t">
            <a:spAutoFit/>
          </a:bodyPr>
          <a:lstStyle/>
          <a:p>
            <a:pPr algn="ctr">
              <a:lnSpc>
                <a:spcPts val="7279"/>
              </a:lnSpc>
            </a:pPr>
            <a:r>
              <a:rPr lang="en-US" sz="5400" dirty="0" smtClean="0">
                <a:solidFill>
                  <a:srgbClr val="022C5E"/>
                </a:solidFill>
                <a:latin typeface="Hobo"/>
                <a:ea typeface="Hobo"/>
                <a:cs typeface="Hobo"/>
                <a:sym typeface="Hobo"/>
              </a:rPr>
              <a:t>Type of Agent</a:t>
            </a:r>
            <a:endParaRPr lang="en-US" sz="5400" dirty="0">
              <a:solidFill>
                <a:srgbClr val="022C5E"/>
              </a:solidFill>
              <a:latin typeface="Hobo"/>
              <a:ea typeface="Hobo"/>
              <a:cs typeface="Hobo"/>
              <a:sym typeface="Hobo"/>
            </a:endParaRPr>
          </a:p>
        </p:txBody>
      </p:sp>
      <p:pic>
        <p:nvPicPr>
          <p:cNvPr id="7" name="Picture 6"/>
          <p:cNvPicPr>
            <a:picLocks noChangeAspect="1"/>
          </p:cNvPicPr>
          <p:nvPr/>
        </p:nvPicPr>
        <p:blipFill>
          <a:blip r:embed="rId6">
            <a:duotone>
              <a:prstClr val="black"/>
              <a:schemeClr val="accent1">
                <a:tint val="45000"/>
                <a:satMod val="400000"/>
              </a:schemeClr>
            </a:duotone>
          </a:blip>
          <a:stretch>
            <a:fillRect/>
          </a:stretch>
        </p:blipFill>
        <p:spPr>
          <a:xfrm>
            <a:off x="13424682" y="-266356"/>
            <a:ext cx="5029200" cy="5507757"/>
          </a:xfrm>
          <a:prstGeom prst="rect">
            <a:avLst/>
          </a:prstGeom>
        </p:spPr>
      </p:pic>
      <p:sp>
        <p:nvSpPr>
          <p:cNvPr id="12" name="Rectangle 11"/>
          <p:cNvSpPr/>
          <p:nvPr/>
        </p:nvSpPr>
        <p:spPr>
          <a:xfrm>
            <a:off x="685800" y="6222617"/>
            <a:ext cx="8305800" cy="2400657"/>
          </a:xfrm>
          <a:prstGeom prst="rect">
            <a:avLst/>
          </a:prstGeom>
        </p:spPr>
        <p:txBody>
          <a:bodyPr wrap="square">
            <a:spAutoFit/>
          </a:bodyPr>
          <a:lstStyle/>
          <a:p>
            <a:r>
              <a:rPr lang="en-US" sz="3000" dirty="0">
                <a:solidFill>
                  <a:schemeClr val="tx2">
                    <a:lumMod val="75000"/>
                  </a:schemeClr>
                </a:solidFill>
                <a:latin typeface="Open Sans" panose="020B0604020202020204" charset="0"/>
                <a:ea typeface="Open Sans" panose="020B0604020202020204" charset="0"/>
                <a:cs typeface="Open Sans" panose="020B0604020202020204" charset="0"/>
              </a:rPr>
              <a:t>Code agents are the default agent type in smolagents. They generate Python tool calls to perform actions, achieving action </a:t>
            </a:r>
            <a:r>
              <a:rPr lang="en-US" sz="3000" dirty="0" smtClean="0">
                <a:solidFill>
                  <a:schemeClr val="tx2">
                    <a:lumMod val="75000"/>
                  </a:schemeClr>
                </a:solidFill>
                <a:latin typeface="Open Sans" panose="020B0604020202020204" charset="0"/>
                <a:ea typeface="Open Sans" panose="020B0604020202020204" charset="0"/>
                <a:cs typeface="Open Sans" panose="020B0604020202020204" charset="0"/>
              </a:rPr>
              <a:t>representations </a:t>
            </a:r>
            <a:r>
              <a:rPr lang="en-US" sz="3000" dirty="0">
                <a:solidFill>
                  <a:schemeClr val="tx2">
                    <a:lumMod val="75000"/>
                  </a:schemeClr>
                </a:solidFill>
                <a:latin typeface="Open Sans" panose="020B0604020202020204" charset="0"/>
                <a:ea typeface="Open Sans" panose="020B0604020202020204" charset="0"/>
                <a:cs typeface="Open Sans" panose="020B0604020202020204" charset="0"/>
              </a:rPr>
              <a:t>that are efficient, expressive, and </a:t>
            </a:r>
            <a:r>
              <a:rPr lang="en-US" sz="3000" dirty="0" smtClean="0">
                <a:solidFill>
                  <a:schemeClr val="tx2">
                    <a:lumMod val="75000"/>
                  </a:schemeClr>
                </a:solidFill>
                <a:latin typeface="Open Sans" panose="020B0604020202020204" charset="0"/>
                <a:ea typeface="Open Sans" panose="020B0604020202020204" charset="0"/>
                <a:cs typeface="Open Sans" panose="020B0604020202020204" charset="0"/>
              </a:rPr>
              <a:t>accurate </a:t>
            </a:r>
            <a:r>
              <a:rPr lang="en-US" sz="3000" dirty="0" smtClean="0">
                <a:solidFill>
                  <a:schemeClr val="tx2">
                    <a:lumMod val="75000"/>
                  </a:schemeClr>
                </a:solidFill>
                <a:latin typeface="Open Sans" panose="020B0604020202020204" charset="0"/>
                <a:ea typeface="Open Sans" panose="020B0604020202020204" charset="0"/>
                <a:cs typeface="Open Sans" panose="020B0604020202020204" charset="0"/>
                <a:hlinkClick r:id="rId7" action="ppaction://hlinksldjump"/>
              </a:rPr>
              <a:t>[2].</a:t>
            </a:r>
            <a:endParaRPr lang="en-US" sz="3000" dirty="0">
              <a:solidFill>
                <a:schemeClr val="tx2">
                  <a:lumMod val="75000"/>
                </a:schemeClr>
              </a:solidFill>
              <a:latin typeface="Open Sans" panose="020B0604020202020204" charset="0"/>
              <a:ea typeface="Open Sans" panose="020B0604020202020204" charset="0"/>
              <a:cs typeface="Open Sans" panose="020B0604020202020204" charset="0"/>
            </a:endParaRPr>
          </a:p>
        </p:txBody>
      </p:sp>
      <p:sp>
        <p:nvSpPr>
          <p:cNvPr id="13" name="Freeform 2"/>
          <p:cNvSpPr/>
          <p:nvPr/>
        </p:nvSpPr>
        <p:spPr>
          <a:xfrm>
            <a:off x="1759286" y="4405451"/>
            <a:ext cx="4606140" cy="1605873"/>
          </a:xfrm>
          <a:custGeom>
            <a:avLst/>
            <a:gdLst/>
            <a:ahLst/>
            <a:cxnLst/>
            <a:rect l="l" t="t" r="r" b="b"/>
            <a:pathLst>
              <a:path w="5934317" h="2028458">
                <a:moveTo>
                  <a:pt x="0" y="0"/>
                </a:moveTo>
                <a:lnTo>
                  <a:pt x="5934318" y="0"/>
                </a:lnTo>
                <a:lnTo>
                  <a:pt x="5934318" y="2028458"/>
                </a:lnTo>
                <a:lnTo>
                  <a:pt x="0" y="2028458"/>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14" name="Freeform 2"/>
          <p:cNvSpPr/>
          <p:nvPr/>
        </p:nvSpPr>
        <p:spPr>
          <a:xfrm>
            <a:off x="9861853" y="4369496"/>
            <a:ext cx="5063400" cy="1524000"/>
          </a:xfrm>
          <a:custGeom>
            <a:avLst/>
            <a:gdLst/>
            <a:ahLst/>
            <a:cxnLst/>
            <a:rect l="l" t="t" r="r" b="b"/>
            <a:pathLst>
              <a:path w="5934317" h="2028458">
                <a:moveTo>
                  <a:pt x="0" y="0"/>
                </a:moveTo>
                <a:lnTo>
                  <a:pt x="5934318" y="0"/>
                </a:lnTo>
                <a:lnTo>
                  <a:pt x="5934318" y="2028458"/>
                </a:lnTo>
                <a:lnTo>
                  <a:pt x="0" y="2028458"/>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15" name="TextBox 14"/>
          <p:cNvSpPr txBox="1"/>
          <p:nvPr/>
        </p:nvSpPr>
        <p:spPr>
          <a:xfrm>
            <a:off x="2540859" y="4746776"/>
            <a:ext cx="3634835" cy="769441"/>
          </a:xfrm>
          <a:prstGeom prst="rect">
            <a:avLst/>
          </a:prstGeom>
          <a:noFill/>
        </p:spPr>
        <p:txBody>
          <a:bodyPr wrap="square" rtlCol="0">
            <a:spAutoFit/>
          </a:bodyPr>
          <a:lstStyle/>
          <a:p>
            <a:r>
              <a:rPr lang="en-US" sz="4400" dirty="0" smtClean="0">
                <a:solidFill>
                  <a:schemeClr val="tx2">
                    <a:lumMod val="75000"/>
                  </a:schemeClr>
                </a:solidFill>
                <a:latin typeface="Hobo" panose="020B0604020202020204" charset="0"/>
              </a:rPr>
              <a:t>Code Agent</a:t>
            </a:r>
            <a:endParaRPr lang="en-US" sz="4400" dirty="0">
              <a:solidFill>
                <a:schemeClr val="tx2">
                  <a:lumMod val="75000"/>
                </a:schemeClr>
              </a:solidFill>
              <a:latin typeface="Hobo" panose="020B0604020202020204" charset="0"/>
            </a:endParaRPr>
          </a:p>
        </p:txBody>
      </p:sp>
      <p:sp>
        <p:nvSpPr>
          <p:cNvPr id="16" name="TextBox 15"/>
          <p:cNvSpPr txBox="1"/>
          <p:nvPr/>
        </p:nvSpPr>
        <p:spPr>
          <a:xfrm>
            <a:off x="10047234" y="4713789"/>
            <a:ext cx="5029056" cy="769441"/>
          </a:xfrm>
          <a:prstGeom prst="rect">
            <a:avLst/>
          </a:prstGeom>
          <a:noFill/>
        </p:spPr>
        <p:txBody>
          <a:bodyPr wrap="square" rtlCol="0">
            <a:spAutoFit/>
          </a:bodyPr>
          <a:lstStyle/>
          <a:p>
            <a:r>
              <a:rPr lang="en-US" sz="4400" dirty="0" smtClean="0">
                <a:solidFill>
                  <a:schemeClr val="tx2">
                    <a:lumMod val="75000"/>
                  </a:schemeClr>
                </a:solidFill>
                <a:latin typeface="Hobo" panose="020B0604020202020204" charset="0"/>
              </a:rPr>
              <a:t>Tool Calling Agents</a:t>
            </a:r>
            <a:endParaRPr lang="en-US" sz="4400" dirty="0">
              <a:solidFill>
                <a:schemeClr val="tx2">
                  <a:lumMod val="75000"/>
                </a:schemeClr>
              </a:solidFill>
              <a:latin typeface="Hobo" panose="020B0604020202020204" charset="0"/>
            </a:endParaRPr>
          </a:p>
        </p:txBody>
      </p:sp>
      <p:sp>
        <p:nvSpPr>
          <p:cNvPr id="17" name="Rectangle 16"/>
          <p:cNvSpPr/>
          <p:nvPr/>
        </p:nvSpPr>
        <p:spPr>
          <a:xfrm>
            <a:off x="9677400" y="6222617"/>
            <a:ext cx="7301718" cy="2862322"/>
          </a:xfrm>
          <a:prstGeom prst="rect">
            <a:avLst/>
          </a:prstGeom>
        </p:spPr>
        <p:txBody>
          <a:bodyPr wrap="square">
            <a:spAutoFit/>
          </a:bodyPr>
          <a:lstStyle/>
          <a:p>
            <a:r>
              <a:rPr lang="en-US" sz="3000" dirty="0">
                <a:solidFill>
                  <a:schemeClr val="tx2">
                    <a:lumMod val="75000"/>
                  </a:schemeClr>
                </a:solidFill>
                <a:latin typeface="Open Sans" panose="020B0604020202020204" charset="0"/>
                <a:ea typeface="Open Sans" panose="020B0604020202020204" charset="0"/>
                <a:cs typeface="Open Sans" panose="020B0604020202020204" charset="0"/>
              </a:rPr>
              <a:t>these agents use the built-in tool-calling capabilities of LLM providers to generate tool calls as JSON structures. This is the standard approach used by OpenAI, Anthropic, and many other </a:t>
            </a:r>
            <a:r>
              <a:rPr lang="en-US" sz="3000" dirty="0" smtClean="0">
                <a:solidFill>
                  <a:schemeClr val="tx2">
                    <a:lumMod val="75000"/>
                  </a:schemeClr>
                </a:solidFill>
                <a:latin typeface="Open Sans" panose="020B0604020202020204" charset="0"/>
                <a:ea typeface="Open Sans" panose="020B0604020202020204" charset="0"/>
                <a:cs typeface="Open Sans" panose="020B0604020202020204" charset="0"/>
              </a:rPr>
              <a:t>providers </a:t>
            </a:r>
            <a:r>
              <a:rPr lang="en-US" sz="3000" dirty="0" smtClean="0">
                <a:solidFill>
                  <a:schemeClr val="tx2">
                    <a:lumMod val="75000"/>
                  </a:schemeClr>
                </a:solidFill>
                <a:latin typeface="Open Sans" panose="020B0604020202020204" charset="0"/>
                <a:ea typeface="Open Sans" panose="020B0604020202020204" charset="0"/>
                <a:cs typeface="Open Sans" panose="020B0604020202020204" charset="0"/>
                <a:hlinkClick r:id="rId7" action="ppaction://hlinksldjump"/>
              </a:rPr>
              <a:t>[2].</a:t>
            </a:r>
            <a:endParaRPr lang="en-US" sz="3000" dirty="0">
              <a:solidFill>
                <a:schemeClr val="tx2">
                  <a:lumMod val="75000"/>
                </a:schemeClr>
              </a:solidFill>
              <a:latin typeface="Open Sans" panose="020B0604020202020204" charset="0"/>
              <a:ea typeface="Open Sans" panose="020B0604020202020204" charset="0"/>
              <a:cs typeface="Open Sans" panose="020B0604020202020204" charset="0"/>
            </a:endParaRPr>
          </a:p>
        </p:txBody>
      </p:sp>
      <p:sp>
        <p:nvSpPr>
          <p:cNvPr id="19" name="TextBox 18"/>
          <p:cNvSpPr txBox="1"/>
          <p:nvPr/>
        </p:nvSpPr>
        <p:spPr>
          <a:xfrm>
            <a:off x="16687800" y="9182100"/>
            <a:ext cx="1295400" cy="523220"/>
          </a:xfrm>
          <a:prstGeom prst="rect">
            <a:avLst/>
          </a:prstGeom>
          <a:noFill/>
        </p:spPr>
        <p:txBody>
          <a:bodyPr wrap="square" rtlCol="0">
            <a:spAutoFit/>
          </a:bodyPr>
          <a:lstStyle/>
          <a:p>
            <a:r>
              <a:rPr lang="en-US" sz="2800" dirty="0" smtClean="0"/>
              <a:t>16</a:t>
            </a:r>
            <a:endParaRPr lang="en-US" sz="2800" dirty="0"/>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par>
                                <p:cTn id="10" presetID="53" presetClass="entr" presetSubtype="16" fill="hold" nodeType="with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500" fill="hold"/>
                                        <p:tgtEl>
                                          <p:spTgt spid="13"/>
                                        </p:tgtEl>
                                        <p:attrNameLst>
                                          <p:attrName>ppt_w</p:attrName>
                                        </p:attrNameLst>
                                      </p:cBhvr>
                                      <p:tavLst>
                                        <p:tav tm="0">
                                          <p:val>
                                            <p:fltVal val="0"/>
                                          </p:val>
                                        </p:tav>
                                        <p:tav tm="100000">
                                          <p:val>
                                            <p:strVal val="#ppt_w"/>
                                          </p:val>
                                        </p:tav>
                                      </p:tavLst>
                                    </p:anim>
                                    <p:anim calcmode="lin" valueType="num">
                                      <p:cBhvr>
                                        <p:cTn id="13" dur="500" fill="hold"/>
                                        <p:tgtEl>
                                          <p:spTgt spid="13"/>
                                        </p:tgtEl>
                                        <p:attrNameLst>
                                          <p:attrName>ppt_h</p:attrName>
                                        </p:attrNameLst>
                                      </p:cBhvr>
                                      <p:tavLst>
                                        <p:tav tm="0">
                                          <p:val>
                                            <p:fltVal val="0"/>
                                          </p:val>
                                        </p:tav>
                                        <p:tav tm="100000">
                                          <p:val>
                                            <p:strVal val="#ppt_h"/>
                                          </p:val>
                                        </p:tav>
                                      </p:tavLst>
                                    </p:anim>
                                    <p:animEffect transition="in" filter="fade">
                                      <p:cBhvr>
                                        <p:cTn id="14" dur="500"/>
                                        <p:tgtEl>
                                          <p:spTgt spid="1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p:cTn id="17" dur="500" fill="hold"/>
                                        <p:tgtEl>
                                          <p:spTgt spid="12"/>
                                        </p:tgtEl>
                                        <p:attrNameLst>
                                          <p:attrName>ppt_w</p:attrName>
                                        </p:attrNameLst>
                                      </p:cBhvr>
                                      <p:tavLst>
                                        <p:tav tm="0">
                                          <p:val>
                                            <p:fltVal val="0"/>
                                          </p:val>
                                        </p:tav>
                                        <p:tav tm="100000">
                                          <p:val>
                                            <p:strVal val="#ppt_w"/>
                                          </p:val>
                                        </p:tav>
                                      </p:tavLst>
                                    </p:anim>
                                    <p:anim calcmode="lin" valueType="num">
                                      <p:cBhvr>
                                        <p:cTn id="18" dur="500" fill="hold"/>
                                        <p:tgtEl>
                                          <p:spTgt spid="12"/>
                                        </p:tgtEl>
                                        <p:attrNameLst>
                                          <p:attrName>ppt_h</p:attrName>
                                        </p:attrNameLst>
                                      </p:cBhvr>
                                      <p:tavLst>
                                        <p:tav tm="0">
                                          <p:val>
                                            <p:fltVal val="0"/>
                                          </p:val>
                                        </p:tav>
                                        <p:tav tm="100000">
                                          <p:val>
                                            <p:strVal val="#ppt_h"/>
                                          </p:val>
                                        </p:tav>
                                      </p:tavLst>
                                    </p:anim>
                                    <p:animEffect transition="in" filter="fade">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 calcmode="lin" valueType="num">
                                      <p:cBhvr>
                                        <p:cTn id="24" dur="500" fill="hold"/>
                                        <p:tgtEl>
                                          <p:spTgt spid="14"/>
                                        </p:tgtEl>
                                        <p:attrNameLst>
                                          <p:attrName>ppt_w</p:attrName>
                                        </p:attrNameLst>
                                      </p:cBhvr>
                                      <p:tavLst>
                                        <p:tav tm="0">
                                          <p:val>
                                            <p:fltVal val="0"/>
                                          </p:val>
                                        </p:tav>
                                        <p:tav tm="100000">
                                          <p:val>
                                            <p:strVal val="#ppt_w"/>
                                          </p:val>
                                        </p:tav>
                                      </p:tavLst>
                                    </p:anim>
                                    <p:anim calcmode="lin" valueType="num">
                                      <p:cBhvr>
                                        <p:cTn id="25" dur="500" fill="hold"/>
                                        <p:tgtEl>
                                          <p:spTgt spid="14"/>
                                        </p:tgtEl>
                                        <p:attrNameLst>
                                          <p:attrName>ppt_h</p:attrName>
                                        </p:attrNameLst>
                                      </p:cBhvr>
                                      <p:tavLst>
                                        <p:tav tm="0">
                                          <p:val>
                                            <p:fltVal val="0"/>
                                          </p:val>
                                        </p:tav>
                                        <p:tav tm="100000">
                                          <p:val>
                                            <p:strVal val="#ppt_h"/>
                                          </p:val>
                                        </p:tav>
                                      </p:tavLst>
                                    </p:anim>
                                    <p:animEffect transition="in" filter="fade">
                                      <p:cBhvr>
                                        <p:cTn id="26" dur="500"/>
                                        <p:tgtEl>
                                          <p:spTgt spid="14"/>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 calcmode="lin" valueType="num">
                                      <p:cBhvr>
                                        <p:cTn id="29" dur="500" fill="hold"/>
                                        <p:tgtEl>
                                          <p:spTgt spid="16"/>
                                        </p:tgtEl>
                                        <p:attrNameLst>
                                          <p:attrName>ppt_w</p:attrName>
                                        </p:attrNameLst>
                                      </p:cBhvr>
                                      <p:tavLst>
                                        <p:tav tm="0">
                                          <p:val>
                                            <p:fltVal val="0"/>
                                          </p:val>
                                        </p:tav>
                                        <p:tav tm="100000">
                                          <p:val>
                                            <p:strVal val="#ppt_w"/>
                                          </p:val>
                                        </p:tav>
                                      </p:tavLst>
                                    </p:anim>
                                    <p:anim calcmode="lin" valueType="num">
                                      <p:cBhvr>
                                        <p:cTn id="30" dur="500" fill="hold"/>
                                        <p:tgtEl>
                                          <p:spTgt spid="16"/>
                                        </p:tgtEl>
                                        <p:attrNameLst>
                                          <p:attrName>ppt_h</p:attrName>
                                        </p:attrNameLst>
                                      </p:cBhvr>
                                      <p:tavLst>
                                        <p:tav tm="0">
                                          <p:val>
                                            <p:fltVal val="0"/>
                                          </p:val>
                                        </p:tav>
                                        <p:tav tm="100000">
                                          <p:val>
                                            <p:strVal val="#ppt_h"/>
                                          </p:val>
                                        </p:tav>
                                      </p:tavLst>
                                    </p:anim>
                                    <p:animEffect transition="in" filter="fade">
                                      <p:cBhvr>
                                        <p:cTn id="31" dur="500"/>
                                        <p:tgtEl>
                                          <p:spTgt spid="16"/>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 calcmode="lin" valueType="num">
                                      <p:cBhvr>
                                        <p:cTn id="34" dur="500" fill="hold"/>
                                        <p:tgtEl>
                                          <p:spTgt spid="17"/>
                                        </p:tgtEl>
                                        <p:attrNameLst>
                                          <p:attrName>ppt_w</p:attrName>
                                        </p:attrNameLst>
                                      </p:cBhvr>
                                      <p:tavLst>
                                        <p:tav tm="0">
                                          <p:val>
                                            <p:fltVal val="0"/>
                                          </p:val>
                                        </p:tav>
                                        <p:tav tm="100000">
                                          <p:val>
                                            <p:strVal val="#ppt_w"/>
                                          </p:val>
                                        </p:tav>
                                      </p:tavLst>
                                    </p:anim>
                                    <p:anim calcmode="lin" valueType="num">
                                      <p:cBhvr>
                                        <p:cTn id="35" dur="500" fill="hold"/>
                                        <p:tgtEl>
                                          <p:spTgt spid="17"/>
                                        </p:tgtEl>
                                        <p:attrNameLst>
                                          <p:attrName>ppt_h</p:attrName>
                                        </p:attrNameLst>
                                      </p:cBhvr>
                                      <p:tavLst>
                                        <p:tav tm="0">
                                          <p:val>
                                            <p:fltVal val="0"/>
                                          </p:val>
                                        </p:tav>
                                        <p:tav tm="100000">
                                          <p:val>
                                            <p:strVal val="#ppt_h"/>
                                          </p:val>
                                        </p:tav>
                                      </p:tavLst>
                                    </p:anim>
                                    <p:animEffect transition="in" filter="fade">
                                      <p:cBhvr>
                                        <p:cTn id="3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P spid="16" grpId="0"/>
      <p:bldP spid="17"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B0DBF8"/>
        </a:solidFill>
        <a:effectLst/>
      </p:bgPr>
    </p:bg>
    <p:spTree>
      <p:nvGrpSpPr>
        <p:cNvPr id="1" name=""/>
        <p:cNvGrpSpPr/>
        <p:nvPr/>
      </p:nvGrpSpPr>
      <p:grpSpPr>
        <a:xfrm>
          <a:off x="0" y="0"/>
          <a:ext cx="0" cy="0"/>
          <a:chOff x="0" y="0"/>
          <a:chExt cx="0" cy="0"/>
        </a:xfrm>
      </p:grpSpPr>
      <p:sp>
        <p:nvSpPr>
          <p:cNvPr id="3" name="Freeform 3"/>
          <p:cNvSpPr/>
          <p:nvPr/>
        </p:nvSpPr>
        <p:spPr>
          <a:xfrm>
            <a:off x="-3303104" y="8865103"/>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alphaModFix amt="80000"/>
            </a:blip>
            <a:stretch>
              <a:fillRect/>
            </a:stretch>
          </a:blipFill>
        </p:spPr>
      </p:sp>
      <p:sp>
        <p:nvSpPr>
          <p:cNvPr id="4" name="Freeform 4"/>
          <p:cNvSpPr/>
          <p:nvPr/>
        </p:nvSpPr>
        <p:spPr>
          <a:xfrm>
            <a:off x="7721735" y="-6604364"/>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alphaModFix amt="78000"/>
            </a:blip>
            <a:stretch>
              <a:fillRect/>
            </a:stretch>
          </a:blipFill>
        </p:spPr>
      </p:sp>
      <p:pic>
        <p:nvPicPr>
          <p:cNvPr id="7" name="Picture 6"/>
          <p:cNvPicPr>
            <a:picLocks noChangeAspect="1"/>
          </p:cNvPicPr>
          <p:nvPr/>
        </p:nvPicPr>
        <p:blipFill>
          <a:blip r:embed="rId4">
            <a:duotone>
              <a:prstClr val="black"/>
              <a:schemeClr val="accent1">
                <a:tint val="45000"/>
                <a:satMod val="400000"/>
              </a:schemeClr>
            </a:duotone>
          </a:blip>
          <a:stretch>
            <a:fillRect/>
          </a:stretch>
        </p:blipFill>
        <p:spPr>
          <a:xfrm>
            <a:off x="13424682" y="-266356"/>
            <a:ext cx="5029200" cy="5507757"/>
          </a:xfrm>
          <a:prstGeom prst="rect">
            <a:avLst/>
          </a:prstGeom>
        </p:spPr>
      </p:pic>
      <p:sp>
        <p:nvSpPr>
          <p:cNvPr id="12" name="Rectangle 11"/>
          <p:cNvSpPr/>
          <p:nvPr/>
        </p:nvSpPr>
        <p:spPr>
          <a:xfrm>
            <a:off x="1778336" y="1715010"/>
            <a:ext cx="14207806" cy="1446550"/>
          </a:xfrm>
          <a:prstGeom prst="rect">
            <a:avLst/>
          </a:prstGeom>
        </p:spPr>
        <p:txBody>
          <a:bodyPr wrap="square">
            <a:spAutoFit/>
          </a:bodyPr>
          <a:lstStyle/>
          <a:p>
            <a:r>
              <a:rPr lang="en-US" sz="4400" dirty="0" smtClean="0">
                <a:solidFill>
                  <a:srgbClr val="17375E"/>
                </a:solidFill>
                <a:latin typeface="Open Sans" panose="020B0604020202020204" charset="0"/>
                <a:ea typeface="Open Sans" panose="020B0604020202020204" charset="0"/>
                <a:cs typeface="Open Sans" panose="020B0604020202020204" charset="0"/>
              </a:rPr>
              <a:t>Writing actions in code rather than JSON offers several key advantages:</a:t>
            </a:r>
            <a:endParaRPr lang="en-US" sz="4400" dirty="0">
              <a:solidFill>
                <a:srgbClr val="17375E"/>
              </a:solidFill>
              <a:latin typeface="Open Sans" panose="020B0604020202020204" charset="0"/>
              <a:ea typeface="Open Sans" panose="020B0604020202020204" charset="0"/>
              <a:cs typeface="Open Sans" panose="020B0604020202020204" charset="0"/>
            </a:endParaRPr>
          </a:p>
        </p:txBody>
      </p:sp>
      <p:sp>
        <p:nvSpPr>
          <p:cNvPr id="16" name="TextBox 15"/>
          <p:cNvSpPr txBox="1"/>
          <p:nvPr/>
        </p:nvSpPr>
        <p:spPr>
          <a:xfrm>
            <a:off x="3029625" y="3290495"/>
            <a:ext cx="5029056" cy="707886"/>
          </a:xfrm>
          <a:prstGeom prst="rect">
            <a:avLst/>
          </a:prstGeom>
          <a:noFill/>
        </p:spPr>
        <p:txBody>
          <a:bodyPr wrap="square" rtlCol="0">
            <a:spAutoFit/>
          </a:bodyPr>
          <a:lstStyle/>
          <a:p>
            <a:r>
              <a:rPr lang="en-US" sz="4000" dirty="0">
                <a:solidFill>
                  <a:srgbClr val="17375E"/>
                </a:solidFill>
                <a:latin typeface="Hobo" panose="020B0604020202020204" charset="0"/>
              </a:rPr>
              <a:t>Composability</a:t>
            </a:r>
          </a:p>
        </p:txBody>
      </p:sp>
      <p:sp>
        <p:nvSpPr>
          <p:cNvPr id="19" name="TextBox 18"/>
          <p:cNvSpPr txBox="1"/>
          <p:nvPr/>
        </p:nvSpPr>
        <p:spPr>
          <a:xfrm>
            <a:off x="16687800" y="9182100"/>
            <a:ext cx="1295400" cy="523220"/>
          </a:xfrm>
          <a:prstGeom prst="rect">
            <a:avLst/>
          </a:prstGeom>
          <a:noFill/>
        </p:spPr>
        <p:txBody>
          <a:bodyPr wrap="square" rtlCol="0">
            <a:spAutoFit/>
          </a:bodyPr>
          <a:lstStyle/>
          <a:p>
            <a:r>
              <a:rPr lang="en-US" sz="2800" dirty="0" smtClean="0"/>
              <a:t>17</a:t>
            </a:r>
            <a:endParaRPr lang="en-US" sz="2800" dirty="0"/>
          </a:p>
        </p:txBody>
      </p:sp>
      <p:sp>
        <p:nvSpPr>
          <p:cNvPr id="18" name="TextBox 17"/>
          <p:cNvSpPr txBox="1"/>
          <p:nvPr/>
        </p:nvSpPr>
        <p:spPr>
          <a:xfrm>
            <a:off x="3048675" y="4184620"/>
            <a:ext cx="5029056" cy="707886"/>
          </a:xfrm>
          <a:prstGeom prst="rect">
            <a:avLst/>
          </a:prstGeom>
          <a:noFill/>
        </p:spPr>
        <p:txBody>
          <a:bodyPr wrap="square" rtlCol="0">
            <a:spAutoFit/>
          </a:bodyPr>
          <a:lstStyle/>
          <a:p>
            <a:r>
              <a:rPr lang="en-US" sz="4000" dirty="0">
                <a:solidFill>
                  <a:srgbClr val="17375E"/>
                </a:solidFill>
                <a:latin typeface="Hobo" panose="020B0604020202020204" charset="0"/>
              </a:rPr>
              <a:t>Object </a:t>
            </a:r>
            <a:r>
              <a:rPr lang="en-US" sz="4000" dirty="0" smtClean="0">
                <a:solidFill>
                  <a:srgbClr val="17375E"/>
                </a:solidFill>
                <a:latin typeface="Hobo" panose="020B0604020202020204" charset="0"/>
              </a:rPr>
              <a:t>Management</a:t>
            </a:r>
            <a:endParaRPr lang="en-US" sz="4000" dirty="0">
              <a:solidFill>
                <a:srgbClr val="17375E"/>
              </a:solidFill>
              <a:latin typeface="Hobo" panose="020B0604020202020204" charset="0"/>
            </a:endParaRPr>
          </a:p>
        </p:txBody>
      </p:sp>
      <p:sp>
        <p:nvSpPr>
          <p:cNvPr id="20" name="TextBox 19"/>
          <p:cNvSpPr txBox="1"/>
          <p:nvPr/>
        </p:nvSpPr>
        <p:spPr>
          <a:xfrm>
            <a:off x="3029625" y="5076786"/>
            <a:ext cx="5029056" cy="707886"/>
          </a:xfrm>
          <a:prstGeom prst="rect">
            <a:avLst/>
          </a:prstGeom>
          <a:noFill/>
        </p:spPr>
        <p:txBody>
          <a:bodyPr wrap="square" rtlCol="0">
            <a:spAutoFit/>
          </a:bodyPr>
          <a:lstStyle/>
          <a:p>
            <a:r>
              <a:rPr lang="en-US" sz="4000" dirty="0">
                <a:solidFill>
                  <a:srgbClr val="17375E"/>
                </a:solidFill>
                <a:latin typeface="Hobo" panose="020B0604020202020204" charset="0"/>
              </a:rPr>
              <a:t>Generality</a:t>
            </a:r>
            <a:endParaRPr lang="en-US" sz="7200" dirty="0">
              <a:solidFill>
                <a:srgbClr val="17375E"/>
              </a:solidFill>
              <a:latin typeface="Hobo" panose="020B0604020202020204" charset="0"/>
            </a:endParaRPr>
          </a:p>
        </p:txBody>
      </p:sp>
      <p:sp>
        <p:nvSpPr>
          <p:cNvPr id="21" name="TextBox 20"/>
          <p:cNvSpPr txBox="1"/>
          <p:nvPr/>
        </p:nvSpPr>
        <p:spPr>
          <a:xfrm>
            <a:off x="3067725" y="5968952"/>
            <a:ext cx="5029056" cy="707886"/>
          </a:xfrm>
          <a:prstGeom prst="rect">
            <a:avLst/>
          </a:prstGeom>
          <a:noFill/>
        </p:spPr>
        <p:txBody>
          <a:bodyPr wrap="square" rtlCol="0">
            <a:spAutoFit/>
          </a:bodyPr>
          <a:lstStyle/>
          <a:p>
            <a:r>
              <a:rPr lang="en-US" sz="4000" dirty="0">
                <a:solidFill>
                  <a:srgbClr val="17375E"/>
                </a:solidFill>
                <a:latin typeface="Hobo" panose="020B0604020202020204" charset="0"/>
              </a:rPr>
              <a:t>Natural for LLMs</a:t>
            </a:r>
            <a:endParaRPr lang="en-US" sz="7200" dirty="0">
              <a:solidFill>
                <a:srgbClr val="17375E"/>
              </a:solidFill>
              <a:latin typeface="Hobo" panose="020B0604020202020204" charset="0"/>
            </a:endParaRPr>
          </a:p>
        </p:txBody>
      </p:sp>
    </p:spTree>
    <p:extLst>
      <p:ext uri="{BB962C8B-B14F-4D97-AF65-F5344CB8AC3E}">
        <p14:creationId xmlns:p14="http://schemas.microsoft.com/office/powerpoint/2010/main" val="3804960423"/>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 calcmode="lin" valueType="num">
                                      <p:cBhvr>
                                        <p:cTn id="14" dur="500" fill="hold"/>
                                        <p:tgtEl>
                                          <p:spTgt spid="16"/>
                                        </p:tgtEl>
                                        <p:attrNameLst>
                                          <p:attrName>ppt_w</p:attrName>
                                        </p:attrNameLst>
                                      </p:cBhvr>
                                      <p:tavLst>
                                        <p:tav tm="0">
                                          <p:val>
                                            <p:fltVal val="0"/>
                                          </p:val>
                                        </p:tav>
                                        <p:tav tm="100000">
                                          <p:val>
                                            <p:strVal val="#ppt_w"/>
                                          </p:val>
                                        </p:tav>
                                      </p:tavLst>
                                    </p:anim>
                                    <p:anim calcmode="lin" valueType="num">
                                      <p:cBhvr>
                                        <p:cTn id="15" dur="500" fill="hold"/>
                                        <p:tgtEl>
                                          <p:spTgt spid="16"/>
                                        </p:tgtEl>
                                        <p:attrNameLst>
                                          <p:attrName>ppt_h</p:attrName>
                                        </p:attrNameLst>
                                      </p:cBhvr>
                                      <p:tavLst>
                                        <p:tav tm="0">
                                          <p:val>
                                            <p:fltVal val="0"/>
                                          </p:val>
                                        </p:tav>
                                        <p:tav tm="100000">
                                          <p:val>
                                            <p:strVal val="#ppt_h"/>
                                          </p:val>
                                        </p:tav>
                                      </p:tavLst>
                                    </p:anim>
                                    <p:animEffect transition="in" filter="fade">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 calcmode="lin" valueType="num">
                                      <p:cBhvr>
                                        <p:cTn id="21" dur="500" fill="hold"/>
                                        <p:tgtEl>
                                          <p:spTgt spid="18"/>
                                        </p:tgtEl>
                                        <p:attrNameLst>
                                          <p:attrName>ppt_w</p:attrName>
                                        </p:attrNameLst>
                                      </p:cBhvr>
                                      <p:tavLst>
                                        <p:tav tm="0">
                                          <p:val>
                                            <p:fltVal val="0"/>
                                          </p:val>
                                        </p:tav>
                                        <p:tav tm="100000">
                                          <p:val>
                                            <p:strVal val="#ppt_w"/>
                                          </p:val>
                                        </p:tav>
                                      </p:tavLst>
                                    </p:anim>
                                    <p:anim calcmode="lin" valueType="num">
                                      <p:cBhvr>
                                        <p:cTn id="22" dur="500" fill="hold"/>
                                        <p:tgtEl>
                                          <p:spTgt spid="18"/>
                                        </p:tgtEl>
                                        <p:attrNameLst>
                                          <p:attrName>ppt_h</p:attrName>
                                        </p:attrNameLst>
                                      </p:cBhvr>
                                      <p:tavLst>
                                        <p:tav tm="0">
                                          <p:val>
                                            <p:fltVal val="0"/>
                                          </p:val>
                                        </p:tav>
                                        <p:tav tm="100000">
                                          <p:val>
                                            <p:strVal val="#ppt_h"/>
                                          </p:val>
                                        </p:tav>
                                      </p:tavLst>
                                    </p:anim>
                                    <p:animEffect transition="in" filter="fade">
                                      <p:cBhvr>
                                        <p:cTn id="23" dur="500"/>
                                        <p:tgtEl>
                                          <p:spTgt spid="18"/>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20">
                                            <p:txEl>
                                              <p:pRg st="0" end="0"/>
                                            </p:txEl>
                                          </p:spTgt>
                                        </p:tgtEl>
                                        <p:attrNameLst>
                                          <p:attrName>style.visibility</p:attrName>
                                        </p:attrNameLst>
                                      </p:cBhvr>
                                      <p:to>
                                        <p:strVal val="visible"/>
                                      </p:to>
                                    </p:set>
                                    <p:anim calcmode="lin" valueType="num">
                                      <p:cBhvr>
                                        <p:cTn id="28" dur="500" fill="hold"/>
                                        <p:tgtEl>
                                          <p:spTgt spid="20">
                                            <p:txEl>
                                              <p:pRg st="0" end="0"/>
                                            </p:txEl>
                                          </p:spTgt>
                                        </p:tgtEl>
                                        <p:attrNameLst>
                                          <p:attrName>ppt_w</p:attrName>
                                        </p:attrNameLst>
                                      </p:cBhvr>
                                      <p:tavLst>
                                        <p:tav tm="0">
                                          <p:val>
                                            <p:fltVal val="0"/>
                                          </p:val>
                                        </p:tav>
                                        <p:tav tm="100000">
                                          <p:val>
                                            <p:strVal val="#ppt_w"/>
                                          </p:val>
                                        </p:tav>
                                      </p:tavLst>
                                    </p:anim>
                                    <p:anim calcmode="lin" valueType="num">
                                      <p:cBhvr>
                                        <p:cTn id="29" dur="500" fill="hold"/>
                                        <p:tgtEl>
                                          <p:spTgt spid="20">
                                            <p:txEl>
                                              <p:pRg st="0" end="0"/>
                                            </p:txEl>
                                          </p:spTgt>
                                        </p:tgtEl>
                                        <p:attrNameLst>
                                          <p:attrName>ppt_h</p:attrName>
                                        </p:attrNameLst>
                                      </p:cBhvr>
                                      <p:tavLst>
                                        <p:tav tm="0">
                                          <p:val>
                                            <p:fltVal val="0"/>
                                          </p:val>
                                        </p:tav>
                                        <p:tav tm="100000">
                                          <p:val>
                                            <p:strVal val="#ppt_h"/>
                                          </p:val>
                                        </p:tav>
                                      </p:tavLst>
                                    </p:anim>
                                    <p:animEffect transition="in" filter="fade">
                                      <p:cBhvr>
                                        <p:cTn id="30" dur="500"/>
                                        <p:tgtEl>
                                          <p:spTgt spid="20">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anim calcmode="lin" valueType="num">
                                      <p:cBhvr>
                                        <p:cTn id="35" dur="500" fill="hold"/>
                                        <p:tgtEl>
                                          <p:spTgt spid="21"/>
                                        </p:tgtEl>
                                        <p:attrNameLst>
                                          <p:attrName>ppt_w</p:attrName>
                                        </p:attrNameLst>
                                      </p:cBhvr>
                                      <p:tavLst>
                                        <p:tav tm="0">
                                          <p:val>
                                            <p:fltVal val="0"/>
                                          </p:val>
                                        </p:tav>
                                        <p:tav tm="100000">
                                          <p:val>
                                            <p:strVal val="#ppt_w"/>
                                          </p:val>
                                        </p:tav>
                                      </p:tavLst>
                                    </p:anim>
                                    <p:anim calcmode="lin" valueType="num">
                                      <p:cBhvr>
                                        <p:cTn id="36" dur="500" fill="hold"/>
                                        <p:tgtEl>
                                          <p:spTgt spid="21"/>
                                        </p:tgtEl>
                                        <p:attrNameLst>
                                          <p:attrName>ppt_h</p:attrName>
                                        </p:attrNameLst>
                                      </p:cBhvr>
                                      <p:tavLst>
                                        <p:tav tm="0">
                                          <p:val>
                                            <p:fltVal val="0"/>
                                          </p:val>
                                        </p:tav>
                                        <p:tav tm="100000">
                                          <p:val>
                                            <p:strVal val="#ppt_h"/>
                                          </p:val>
                                        </p:tav>
                                      </p:tavLst>
                                    </p:anim>
                                    <p:animEffect transition="in" filter="fade">
                                      <p:cBhvr>
                                        <p:cTn id="3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P spid="18" grpId="0"/>
      <p:bldP spid="2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3303104" y="8865103"/>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alphaModFix amt="80000"/>
            </a:blip>
            <a:stretch>
              <a:fillRect/>
            </a:stretch>
          </a:blipFill>
        </p:spPr>
      </p:sp>
      <p:sp>
        <p:nvSpPr>
          <p:cNvPr id="4" name="Freeform 4"/>
          <p:cNvSpPr/>
          <p:nvPr/>
        </p:nvSpPr>
        <p:spPr>
          <a:xfrm>
            <a:off x="7721735" y="-6604364"/>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alphaModFix amt="78000"/>
            </a:blip>
            <a:stretch>
              <a:fillRect/>
            </a:stretch>
          </a:blipFill>
        </p:spPr>
      </p:sp>
      <p:sp>
        <p:nvSpPr>
          <p:cNvPr id="12" name="Rectangle 11"/>
          <p:cNvSpPr/>
          <p:nvPr/>
        </p:nvSpPr>
        <p:spPr>
          <a:xfrm>
            <a:off x="2895600" y="1625236"/>
            <a:ext cx="14207806" cy="1446550"/>
          </a:xfrm>
          <a:prstGeom prst="rect">
            <a:avLst/>
          </a:prstGeom>
        </p:spPr>
        <p:txBody>
          <a:bodyPr wrap="square">
            <a:spAutoFit/>
          </a:bodyPr>
          <a:lstStyle/>
          <a:p>
            <a:r>
              <a:rPr lang="en-US" sz="4400" dirty="0" smtClean="0">
                <a:solidFill>
                  <a:srgbClr val="17375E"/>
                </a:solidFill>
                <a:latin typeface="Open Sans" panose="020B0604020202020204" charset="0"/>
                <a:ea typeface="Open Sans" panose="020B0604020202020204" charset="0"/>
                <a:cs typeface="Open Sans" panose="020B0604020202020204" charset="0"/>
              </a:rPr>
              <a:t>Example of how I can create AI Agents using CodeAgent</a:t>
            </a:r>
            <a:endParaRPr lang="en-US" sz="4400" dirty="0">
              <a:solidFill>
                <a:srgbClr val="17375E"/>
              </a:solidFill>
              <a:latin typeface="Open Sans" panose="020B0604020202020204" charset="0"/>
              <a:ea typeface="Open Sans" panose="020B0604020202020204" charset="0"/>
              <a:cs typeface="Open Sans" panose="020B0604020202020204" charset="0"/>
            </a:endParaRPr>
          </a:p>
        </p:txBody>
      </p:sp>
      <p:sp>
        <p:nvSpPr>
          <p:cNvPr id="19" name="TextBox 18"/>
          <p:cNvSpPr txBox="1"/>
          <p:nvPr/>
        </p:nvSpPr>
        <p:spPr>
          <a:xfrm>
            <a:off x="16687800" y="9182100"/>
            <a:ext cx="1295400" cy="523220"/>
          </a:xfrm>
          <a:prstGeom prst="rect">
            <a:avLst/>
          </a:prstGeom>
          <a:noFill/>
        </p:spPr>
        <p:txBody>
          <a:bodyPr wrap="square" rtlCol="0">
            <a:spAutoFit/>
          </a:bodyPr>
          <a:lstStyle/>
          <a:p>
            <a:r>
              <a:rPr lang="en-US" sz="2800" dirty="0" smtClean="0"/>
              <a:t>18</a:t>
            </a:r>
            <a:endParaRPr lang="en-US" sz="2800" dirty="0"/>
          </a:p>
        </p:txBody>
      </p:sp>
      <p:pic>
        <p:nvPicPr>
          <p:cNvPr id="2" name="Picture 1"/>
          <p:cNvPicPr>
            <a:picLocks noChangeAspect="1"/>
          </p:cNvPicPr>
          <p:nvPr/>
        </p:nvPicPr>
        <p:blipFill>
          <a:blip r:embed="rId4"/>
          <a:stretch>
            <a:fillRect/>
          </a:stretch>
        </p:blipFill>
        <p:spPr>
          <a:xfrm>
            <a:off x="2895600" y="4251294"/>
            <a:ext cx="12649200" cy="3434301"/>
          </a:xfrm>
          <a:prstGeom prst="rect">
            <a:avLst/>
          </a:prstGeom>
        </p:spPr>
      </p:pic>
    </p:spTree>
    <p:extLst>
      <p:ext uri="{BB962C8B-B14F-4D97-AF65-F5344CB8AC3E}">
        <p14:creationId xmlns:p14="http://schemas.microsoft.com/office/powerpoint/2010/main" val="161913464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circle(in)">
                                      <p:cBhvr>
                                        <p:cTn id="14"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3303104" y="8865103"/>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alphaModFix amt="80000"/>
            </a:blip>
            <a:stretch>
              <a:fillRect/>
            </a:stretch>
          </a:blipFill>
        </p:spPr>
      </p:sp>
      <p:sp>
        <p:nvSpPr>
          <p:cNvPr id="4" name="Freeform 4"/>
          <p:cNvSpPr/>
          <p:nvPr/>
        </p:nvSpPr>
        <p:spPr>
          <a:xfrm>
            <a:off x="7721735" y="-6604364"/>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alphaModFix amt="78000"/>
            </a:blip>
            <a:stretch>
              <a:fillRect/>
            </a:stretch>
          </a:blipFill>
        </p:spPr>
      </p:sp>
      <p:sp>
        <p:nvSpPr>
          <p:cNvPr id="12" name="Rectangle 11"/>
          <p:cNvSpPr/>
          <p:nvPr/>
        </p:nvSpPr>
        <p:spPr>
          <a:xfrm>
            <a:off x="2895600" y="1625236"/>
            <a:ext cx="14207806" cy="1446550"/>
          </a:xfrm>
          <a:prstGeom prst="rect">
            <a:avLst/>
          </a:prstGeom>
        </p:spPr>
        <p:txBody>
          <a:bodyPr wrap="square">
            <a:spAutoFit/>
          </a:bodyPr>
          <a:lstStyle/>
          <a:p>
            <a:r>
              <a:rPr lang="en-US" sz="4400" dirty="0" smtClean="0">
                <a:solidFill>
                  <a:srgbClr val="17375E"/>
                </a:solidFill>
                <a:latin typeface="Open Sans" panose="020B0604020202020204" charset="0"/>
                <a:ea typeface="Open Sans" panose="020B0604020202020204" charset="0"/>
                <a:cs typeface="Open Sans" panose="020B0604020202020204" charset="0"/>
              </a:rPr>
              <a:t>Example of how I can create AI Agents using CodeAgent</a:t>
            </a:r>
            <a:endParaRPr lang="en-US" sz="4400" dirty="0">
              <a:solidFill>
                <a:srgbClr val="17375E"/>
              </a:solidFill>
              <a:latin typeface="Open Sans" panose="020B0604020202020204" charset="0"/>
              <a:ea typeface="Open Sans" panose="020B0604020202020204" charset="0"/>
              <a:cs typeface="Open Sans" panose="020B0604020202020204" charset="0"/>
            </a:endParaRPr>
          </a:p>
        </p:txBody>
      </p:sp>
      <p:sp>
        <p:nvSpPr>
          <p:cNvPr id="19" name="TextBox 18"/>
          <p:cNvSpPr txBox="1"/>
          <p:nvPr/>
        </p:nvSpPr>
        <p:spPr>
          <a:xfrm>
            <a:off x="16687800" y="9182100"/>
            <a:ext cx="1295400" cy="523220"/>
          </a:xfrm>
          <a:prstGeom prst="rect">
            <a:avLst/>
          </a:prstGeom>
          <a:noFill/>
        </p:spPr>
        <p:txBody>
          <a:bodyPr wrap="square" rtlCol="0">
            <a:spAutoFit/>
          </a:bodyPr>
          <a:lstStyle/>
          <a:p>
            <a:r>
              <a:rPr lang="en-US" sz="2800" dirty="0" smtClean="0"/>
              <a:t>19</a:t>
            </a:r>
            <a:endParaRPr lang="en-US" sz="2800" dirty="0"/>
          </a:p>
        </p:txBody>
      </p:sp>
      <p:sp>
        <p:nvSpPr>
          <p:cNvPr id="9" name="Rectangle 3"/>
          <p:cNvSpPr>
            <a:spLocks noChangeArrowheads="1"/>
          </p:cNvSpPr>
          <p:nvPr/>
        </p:nvSpPr>
        <p:spPr bwMode="auto">
          <a:xfrm>
            <a:off x="3314700" y="4305300"/>
            <a:ext cx="13373100" cy="2517824"/>
          </a:xfrm>
          <a:prstGeom prst="rect">
            <a:avLst/>
          </a:prstGeom>
          <a:solidFill>
            <a:srgbClr val="F9FAF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71377" rIns="0" bIns="271377" numCol="1" anchor="ctr" anchorCtr="0" compatLnSpc="1">
            <a:prstTxWarp prst="textNoShape">
              <a:avLst/>
            </a:prstTxWarp>
            <a:spAutoFit/>
          </a:bodyPr>
          <a:lstStyle/>
          <a:p>
            <a:pPr lvl="0" eaLnBrk="0" fontAlgn="base" hangingPunct="0">
              <a:spcBef>
                <a:spcPct val="0"/>
              </a:spcBef>
              <a:spcAft>
                <a:spcPct val="0"/>
              </a:spcAft>
            </a:pPr>
            <a:r>
              <a:rPr lang="en-US" altLang="en-US" sz="3200" dirty="0">
                <a:solidFill>
                  <a:srgbClr val="17375E"/>
                </a:solidFill>
                <a:latin typeface="Open Sans" panose="020B0604020202020204" charset="0"/>
                <a:ea typeface="Open Sans" panose="020B0604020202020204" charset="0"/>
                <a:cs typeface="Open Sans" panose="020B0604020202020204" charset="0"/>
              </a:rPr>
              <a:t>agent = </a:t>
            </a:r>
            <a:r>
              <a:rPr lang="en-US" altLang="en-US" sz="3200" dirty="0" err="1">
                <a:solidFill>
                  <a:srgbClr val="17375E"/>
                </a:solidFill>
                <a:latin typeface="Open Sans" panose="020B0604020202020204" charset="0"/>
                <a:ea typeface="Open Sans" panose="020B0604020202020204" charset="0"/>
                <a:cs typeface="Open Sans" panose="020B0604020202020204" charset="0"/>
              </a:rPr>
              <a:t>CodeAgent</a:t>
            </a:r>
            <a:r>
              <a:rPr lang="en-US" altLang="en-US" sz="3200" dirty="0">
                <a:solidFill>
                  <a:srgbClr val="17375E"/>
                </a:solidFill>
                <a:latin typeface="Open Sans" panose="020B0604020202020204" charset="0"/>
                <a:ea typeface="Open Sans" panose="020B0604020202020204" charset="0"/>
                <a:cs typeface="Open Sans" panose="020B0604020202020204" charset="0"/>
              </a:rPr>
              <a:t> </a:t>
            </a:r>
            <a:r>
              <a:rPr lang="en-US" altLang="en-US" sz="3200" dirty="0">
                <a:solidFill>
                  <a:schemeClr val="accent4">
                    <a:lumMod val="75000"/>
                  </a:schemeClr>
                </a:solidFill>
                <a:latin typeface="Open Sans" panose="020B0604020202020204" charset="0"/>
                <a:ea typeface="Open Sans" panose="020B0604020202020204" charset="0"/>
                <a:cs typeface="Open Sans" panose="020B0604020202020204" charset="0"/>
              </a:rPr>
              <a:t>(tools=</a:t>
            </a:r>
            <a:r>
              <a:rPr lang="en-US" altLang="en-US" sz="3200" dirty="0">
                <a:solidFill>
                  <a:srgbClr val="17375E"/>
                </a:solidFill>
                <a:latin typeface="Open Sans" panose="020B0604020202020204" charset="0"/>
                <a:ea typeface="Open Sans" panose="020B0604020202020204" charset="0"/>
                <a:cs typeface="Open Sans" panose="020B0604020202020204" charset="0"/>
              </a:rPr>
              <a:t>[</a:t>
            </a:r>
            <a:r>
              <a:rPr lang="en-US" altLang="en-US" sz="3200" dirty="0" err="1">
                <a:solidFill>
                  <a:srgbClr val="17375E"/>
                </a:solidFill>
                <a:latin typeface="Open Sans" panose="020B0604020202020204" charset="0"/>
                <a:ea typeface="Open Sans" panose="020B0604020202020204" charset="0"/>
                <a:cs typeface="Open Sans" panose="020B0604020202020204" charset="0"/>
              </a:rPr>
              <a:t>DuckDuckGoSearchTool</a:t>
            </a:r>
            <a:r>
              <a:rPr lang="en-US" altLang="en-US" sz="3200" dirty="0">
                <a:solidFill>
                  <a:srgbClr val="17375E"/>
                </a:solidFill>
                <a:latin typeface="Open Sans" panose="020B0604020202020204" charset="0"/>
                <a:ea typeface="Open Sans" panose="020B0604020202020204" charset="0"/>
                <a:cs typeface="Open Sans" panose="020B0604020202020204" charset="0"/>
              </a:rPr>
              <a:t>()], 									</a:t>
            </a:r>
            <a:r>
              <a:rPr lang="en-US" altLang="en-US" sz="3200" dirty="0">
                <a:solidFill>
                  <a:schemeClr val="accent4">
                    <a:lumMod val="75000"/>
                  </a:schemeClr>
                </a:solidFill>
                <a:latin typeface="Open Sans" panose="020B0604020202020204" charset="0"/>
                <a:ea typeface="Open Sans" panose="020B0604020202020204" charset="0"/>
                <a:cs typeface="Open Sans" panose="020B0604020202020204" charset="0"/>
              </a:rPr>
              <a:t>model=</a:t>
            </a:r>
            <a:r>
              <a:rPr lang="en-US" altLang="en-US" sz="3200" dirty="0" err="1">
                <a:solidFill>
                  <a:srgbClr val="17375E"/>
                </a:solidFill>
                <a:latin typeface="Open Sans" panose="020B0604020202020204" charset="0"/>
                <a:ea typeface="Open Sans" panose="020B0604020202020204" charset="0"/>
                <a:cs typeface="Open Sans" panose="020B0604020202020204" charset="0"/>
              </a:rPr>
              <a:t>InferenceClientModel</a:t>
            </a:r>
            <a:r>
              <a:rPr lang="en-US" altLang="en-US" sz="3200" dirty="0">
                <a:solidFill>
                  <a:srgbClr val="17375E"/>
                </a:solidFill>
                <a:latin typeface="Open Sans" panose="020B0604020202020204" charset="0"/>
                <a:ea typeface="Open Sans" panose="020B0604020202020204" charset="0"/>
                <a:cs typeface="Open Sans" panose="020B0604020202020204" charset="0"/>
              </a:rPr>
              <a:t>()</a:t>
            </a:r>
            <a:r>
              <a:rPr lang="en-US" altLang="en-US" sz="3200" dirty="0">
                <a:solidFill>
                  <a:schemeClr val="accent4">
                    <a:lumMod val="75000"/>
                  </a:schemeClr>
                </a:solidFill>
                <a:latin typeface="Open Sans" panose="020B0604020202020204" charset="0"/>
                <a:ea typeface="Open Sans" panose="020B0604020202020204" charset="0"/>
                <a:cs typeface="Open Sans" panose="020B0604020202020204" charset="0"/>
              </a:rPr>
              <a:t>)</a:t>
            </a:r>
            <a:r>
              <a:rPr lang="en-US" altLang="en-US" sz="3200" dirty="0">
                <a:solidFill>
                  <a:srgbClr val="17375E"/>
                </a:solidFill>
                <a:latin typeface="Open Sans" panose="020B0604020202020204" charset="0"/>
                <a:ea typeface="Open Sans" panose="020B0604020202020204" charset="0"/>
                <a:cs typeface="Open Sans" panose="020B0604020202020204" charset="0"/>
              </a:rPr>
              <a:t> </a:t>
            </a:r>
          </a:p>
          <a:p>
            <a:pPr lvl="0" eaLnBrk="0" fontAlgn="base" hangingPunct="0">
              <a:spcBef>
                <a:spcPct val="0"/>
              </a:spcBef>
              <a:spcAft>
                <a:spcPct val="0"/>
              </a:spcAft>
            </a:pPr>
            <a:r>
              <a:rPr lang="en-US" altLang="en-US" sz="3200" dirty="0" err="1">
                <a:solidFill>
                  <a:srgbClr val="17375E"/>
                </a:solidFill>
                <a:latin typeface="Open Sans" panose="020B0604020202020204" charset="0"/>
                <a:ea typeface="Open Sans" panose="020B0604020202020204" charset="0"/>
                <a:cs typeface="Open Sans" panose="020B0604020202020204" charset="0"/>
              </a:rPr>
              <a:t>agent.run</a:t>
            </a:r>
            <a:r>
              <a:rPr lang="en-US" altLang="en-US" sz="3200" dirty="0">
                <a:solidFill>
                  <a:srgbClr val="17375E"/>
                </a:solidFill>
                <a:latin typeface="Open Sans" panose="020B0604020202020204" charset="0"/>
                <a:ea typeface="Open Sans" panose="020B0604020202020204" charset="0"/>
                <a:cs typeface="Open Sans" panose="020B0604020202020204" charset="0"/>
              </a:rPr>
              <a:t>("</a:t>
            </a:r>
            <a:r>
              <a:rPr lang="en-US" altLang="en-US" sz="3200" dirty="0">
                <a:solidFill>
                  <a:schemeClr val="accent4">
                    <a:lumMod val="75000"/>
                  </a:schemeClr>
                </a:solidFill>
                <a:latin typeface="Open Sans" panose="020B0604020202020204" charset="0"/>
                <a:ea typeface="Open Sans" panose="020B0604020202020204" charset="0"/>
                <a:cs typeface="Open Sans" panose="020B0604020202020204" charset="0"/>
              </a:rPr>
              <a:t>Search for the best music recommendations for a</a:t>
            </a:r>
          </a:p>
          <a:p>
            <a:pPr lvl="0" eaLnBrk="0" fontAlgn="base" hangingPunct="0">
              <a:spcBef>
                <a:spcPct val="0"/>
              </a:spcBef>
              <a:spcAft>
                <a:spcPct val="0"/>
              </a:spcAft>
            </a:pPr>
            <a:r>
              <a:rPr lang="en-US" altLang="en-US" sz="3200" dirty="0">
                <a:solidFill>
                  <a:schemeClr val="accent4">
                    <a:lumMod val="75000"/>
                  </a:schemeClr>
                </a:solidFill>
                <a:latin typeface="Open Sans" panose="020B0604020202020204" charset="0"/>
                <a:ea typeface="Open Sans" panose="020B0604020202020204" charset="0"/>
                <a:cs typeface="Open Sans" panose="020B0604020202020204" charset="0"/>
              </a:rPr>
              <a:t> 		party at the Wayne's mansion</a:t>
            </a:r>
            <a:r>
              <a:rPr lang="en-US" altLang="en-US" sz="3200" dirty="0">
                <a:solidFill>
                  <a:srgbClr val="17375E"/>
                </a:solidFill>
                <a:latin typeface="Open Sans" panose="020B0604020202020204" charset="0"/>
                <a:ea typeface="Open Sans" panose="020B0604020202020204" charset="0"/>
                <a:cs typeface="Open Sans" panose="020B0604020202020204" charset="0"/>
              </a:rPr>
              <a:t>.") </a:t>
            </a:r>
          </a:p>
        </p:txBody>
      </p:sp>
    </p:spTree>
    <p:extLst>
      <p:ext uri="{BB962C8B-B14F-4D97-AF65-F5344CB8AC3E}">
        <p14:creationId xmlns:p14="http://schemas.microsoft.com/office/powerpoint/2010/main" val="53366428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Effect transition="in" filter="fade">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336674" y="-6604364"/>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4" name="Freeform 4"/>
          <p:cNvSpPr/>
          <p:nvPr/>
        </p:nvSpPr>
        <p:spPr>
          <a:xfrm>
            <a:off x="6039751" y="8955191"/>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17" name="TextBox 16"/>
          <p:cNvSpPr txBox="1"/>
          <p:nvPr/>
        </p:nvSpPr>
        <p:spPr>
          <a:xfrm>
            <a:off x="16687800" y="9182100"/>
            <a:ext cx="1295400" cy="523220"/>
          </a:xfrm>
          <a:prstGeom prst="rect">
            <a:avLst/>
          </a:prstGeom>
          <a:noFill/>
        </p:spPr>
        <p:txBody>
          <a:bodyPr wrap="square" rtlCol="0">
            <a:spAutoFit/>
          </a:bodyPr>
          <a:lstStyle/>
          <a:p>
            <a:r>
              <a:rPr lang="en-US" sz="2800" dirty="0" smtClean="0"/>
              <a:t>20</a:t>
            </a:r>
            <a:endParaRPr lang="en-US" sz="2800" dirty="0"/>
          </a:p>
        </p:txBody>
      </p:sp>
      <p:graphicFrame>
        <p:nvGraphicFramePr>
          <p:cNvPr id="5" name="Diagram 4"/>
          <p:cNvGraphicFramePr/>
          <p:nvPr>
            <p:extLst>
              <p:ext uri="{D42A27DB-BD31-4B8C-83A1-F6EECF244321}">
                <p14:modId xmlns:p14="http://schemas.microsoft.com/office/powerpoint/2010/main" val="343448408"/>
              </p:ext>
            </p:extLst>
          </p:nvPr>
        </p:nvGraphicFramePr>
        <p:xfrm>
          <a:off x="1371600" y="952500"/>
          <a:ext cx="16383000" cy="82486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412239035"/>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B0DBF8"/>
        </a:solidFill>
        <a:effectLst/>
      </p:bgPr>
    </p:bg>
    <p:spTree>
      <p:nvGrpSpPr>
        <p:cNvPr id="1" name=""/>
        <p:cNvGrpSpPr/>
        <p:nvPr/>
      </p:nvGrpSpPr>
      <p:grpSpPr>
        <a:xfrm>
          <a:off x="0" y="0"/>
          <a:ext cx="0" cy="0"/>
          <a:chOff x="0" y="0"/>
          <a:chExt cx="0" cy="0"/>
        </a:xfrm>
      </p:grpSpPr>
      <p:sp>
        <p:nvSpPr>
          <p:cNvPr id="2" name="Freeform 2"/>
          <p:cNvSpPr/>
          <p:nvPr/>
        </p:nvSpPr>
        <p:spPr>
          <a:xfrm>
            <a:off x="-1828800" y="1045095"/>
            <a:ext cx="20791417" cy="11166723"/>
          </a:xfrm>
          <a:custGeom>
            <a:avLst/>
            <a:gdLst/>
            <a:ahLst/>
            <a:cxnLst/>
            <a:rect l="l" t="t" r="r" b="b"/>
            <a:pathLst>
              <a:path w="20791417" h="11166723">
                <a:moveTo>
                  <a:pt x="0" y="0"/>
                </a:moveTo>
                <a:lnTo>
                  <a:pt x="20791417" y="0"/>
                </a:lnTo>
                <a:lnTo>
                  <a:pt x="20791417" y="11166723"/>
                </a:lnTo>
                <a:lnTo>
                  <a:pt x="0" y="11166723"/>
                </a:lnTo>
                <a:lnTo>
                  <a:pt x="0" y="0"/>
                </a:lnTo>
                <a:close/>
              </a:path>
            </a:pathLst>
          </a:custGeom>
          <a:blipFill>
            <a:blip r:embed="rId3"/>
            <a:stretch>
              <a:fillRect/>
            </a:stretch>
          </a:blipFill>
        </p:spPr>
      </p:sp>
      <p:sp>
        <p:nvSpPr>
          <p:cNvPr id="3" name="Freeform 3"/>
          <p:cNvSpPr/>
          <p:nvPr/>
        </p:nvSpPr>
        <p:spPr>
          <a:xfrm>
            <a:off x="5943600" y="571500"/>
            <a:ext cx="7696199" cy="2396598"/>
          </a:xfrm>
          <a:custGeom>
            <a:avLst/>
            <a:gdLst/>
            <a:ahLst/>
            <a:cxnLst/>
            <a:rect l="l" t="t" r="r" b="b"/>
            <a:pathLst>
              <a:path w="5934317" h="2028458">
                <a:moveTo>
                  <a:pt x="0" y="0"/>
                </a:moveTo>
                <a:lnTo>
                  <a:pt x="5934318" y="0"/>
                </a:lnTo>
                <a:lnTo>
                  <a:pt x="5934318" y="2028458"/>
                </a:lnTo>
                <a:lnTo>
                  <a:pt x="0" y="202845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0" name="TextBox 10"/>
          <p:cNvSpPr txBox="1"/>
          <p:nvPr/>
        </p:nvSpPr>
        <p:spPr>
          <a:xfrm>
            <a:off x="6210111" y="833645"/>
            <a:ext cx="7081959" cy="1872307"/>
          </a:xfrm>
          <a:prstGeom prst="rect">
            <a:avLst/>
          </a:prstGeom>
        </p:spPr>
        <p:txBody>
          <a:bodyPr wrap="square" lIns="0" tIns="0" rIns="0" bIns="0" rtlCol="0" anchor="t">
            <a:spAutoFit/>
          </a:bodyPr>
          <a:lstStyle/>
          <a:p>
            <a:pPr algn="ctr">
              <a:lnSpc>
                <a:spcPts val="7279"/>
              </a:lnSpc>
            </a:pPr>
            <a:r>
              <a:rPr lang="en-US" sz="5199" dirty="0" smtClean="0">
                <a:solidFill>
                  <a:srgbClr val="022C5E"/>
                </a:solidFill>
                <a:latin typeface="Hobo"/>
                <a:ea typeface="Hobo"/>
                <a:cs typeface="Hobo"/>
                <a:sym typeface="Hobo"/>
              </a:rPr>
              <a:t>RAG (Retrieval Augmented Generation</a:t>
            </a:r>
            <a:endParaRPr lang="en-US" sz="5199" dirty="0">
              <a:solidFill>
                <a:srgbClr val="022C5E"/>
              </a:solidFill>
              <a:latin typeface="Hobo"/>
              <a:ea typeface="Hobo"/>
              <a:cs typeface="Hobo"/>
              <a:sym typeface="Hobo"/>
            </a:endParaRPr>
          </a:p>
        </p:txBody>
      </p:sp>
      <p:sp>
        <p:nvSpPr>
          <p:cNvPr id="11" name="TextBox 11"/>
          <p:cNvSpPr txBox="1"/>
          <p:nvPr/>
        </p:nvSpPr>
        <p:spPr>
          <a:xfrm>
            <a:off x="3525905" y="3691998"/>
            <a:ext cx="11699506" cy="1545231"/>
          </a:xfrm>
          <a:prstGeom prst="rect">
            <a:avLst/>
          </a:prstGeom>
        </p:spPr>
        <p:txBody>
          <a:bodyPr lIns="0" tIns="0" rIns="0" bIns="0" rtlCol="0" anchor="t">
            <a:spAutoFit/>
          </a:bodyPr>
          <a:lstStyle/>
          <a:p>
            <a:pPr>
              <a:lnSpc>
                <a:spcPts val="4095"/>
              </a:lnSpc>
            </a:pPr>
            <a:r>
              <a:rPr lang="en-US" sz="3000" dirty="0">
                <a:solidFill>
                  <a:schemeClr val="tx2">
                    <a:lumMod val="75000"/>
                  </a:schemeClr>
                </a:solidFill>
                <a:latin typeface="Open Sans" panose="020B0604020202020204" charset="0"/>
                <a:ea typeface="Open Sans" panose="020B0604020202020204" charset="0"/>
                <a:cs typeface="Open Sans" panose="020B0604020202020204" charset="0"/>
              </a:rPr>
              <a:t>Retrieval Augmented Generation (RAG) systems combine the capabilities of data retrieval and generation models to provide context-aware </a:t>
            </a:r>
            <a:r>
              <a:rPr lang="en-US" sz="3000" dirty="0" smtClean="0">
                <a:solidFill>
                  <a:schemeClr val="tx2">
                    <a:lumMod val="75000"/>
                  </a:schemeClr>
                </a:solidFill>
                <a:latin typeface="Open Sans" panose="020B0604020202020204" charset="0"/>
                <a:ea typeface="Open Sans" panose="020B0604020202020204" charset="0"/>
                <a:cs typeface="Open Sans" panose="020B0604020202020204" charset="0"/>
              </a:rPr>
              <a:t>responses </a:t>
            </a:r>
            <a:r>
              <a:rPr lang="en-US" sz="3000" dirty="0" smtClean="0">
                <a:solidFill>
                  <a:schemeClr val="tx2">
                    <a:lumMod val="75000"/>
                  </a:schemeClr>
                </a:solidFill>
                <a:latin typeface="Open Sans" panose="020B0604020202020204" charset="0"/>
                <a:ea typeface="Open Sans" panose="020B0604020202020204" charset="0"/>
                <a:cs typeface="Open Sans" panose="020B0604020202020204" charset="0"/>
                <a:hlinkClick r:id="rId6" action="ppaction://hlinksldjump"/>
              </a:rPr>
              <a:t>[2].</a:t>
            </a:r>
            <a:r>
              <a:rPr lang="en-US" sz="3000" dirty="0">
                <a:solidFill>
                  <a:schemeClr val="tx2">
                    <a:lumMod val="75000"/>
                  </a:schemeClr>
                </a:solidFill>
                <a:latin typeface="Open Sans" panose="020B0604020202020204" charset="0"/>
                <a:ea typeface="Open Sans" panose="020B0604020202020204" charset="0"/>
                <a:cs typeface="Open Sans" panose="020B0604020202020204" charset="0"/>
              </a:rPr>
              <a:t> </a:t>
            </a:r>
            <a:endParaRPr lang="en-US" sz="3000" dirty="0">
              <a:solidFill>
                <a:schemeClr val="tx2">
                  <a:lumMod val="75000"/>
                </a:schemeClr>
              </a:solidFill>
              <a:latin typeface="Open Sans" panose="020B0604020202020204" charset="0"/>
              <a:ea typeface="Open Sans" panose="020B0604020202020204" charset="0"/>
              <a:cs typeface="Open Sans" panose="020B0604020202020204" charset="0"/>
              <a:sym typeface="Open Sans"/>
            </a:endParaRPr>
          </a:p>
        </p:txBody>
      </p:sp>
      <p:sp>
        <p:nvSpPr>
          <p:cNvPr id="14" name="TextBox 13"/>
          <p:cNvSpPr txBox="1"/>
          <p:nvPr/>
        </p:nvSpPr>
        <p:spPr>
          <a:xfrm>
            <a:off x="16687800" y="9182100"/>
            <a:ext cx="1295400" cy="523220"/>
          </a:xfrm>
          <a:prstGeom prst="rect">
            <a:avLst/>
          </a:prstGeom>
          <a:noFill/>
        </p:spPr>
        <p:txBody>
          <a:bodyPr wrap="square" rtlCol="0">
            <a:spAutoFit/>
          </a:bodyPr>
          <a:lstStyle/>
          <a:p>
            <a:r>
              <a:rPr lang="en-US" sz="2800" dirty="0" smtClean="0"/>
              <a:t>21</a:t>
            </a:r>
            <a:endParaRPr lang="en-US" sz="2800" dirty="0"/>
          </a:p>
        </p:txBody>
      </p:sp>
      <p:sp>
        <p:nvSpPr>
          <p:cNvPr id="4" name="Rectangle 3"/>
          <p:cNvSpPr/>
          <p:nvPr/>
        </p:nvSpPr>
        <p:spPr>
          <a:xfrm>
            <a:off x="3525905" y="5612794"/>
            <a:ext cx="13119297" cy="1015663"/>
          </a:xfrm>
          <a:prstGeom prst="rect">
            <a:avLst/>
          </a:prstGeom>
        </p:spPr>
        <p:txBody>
          <a:bodyPr wrap="none">
            <a:spAutoFit/>
          </a:bodyPr>
          <a:lstStyle/>
          <a:p>
            <a:r>
              <a:rPr lang="en-US" sz="3000" dirty="0">
                <a:solidFill>
                  <a:srgbClr val="17375E"/>
                </a:solidFill>
                <a:latin typeface="Open Sans" panose="020B0604020202020204" charset="0"/>
                <a:ea typeface="Open Sans" panose="020B0604020202020204" charset="0"/>
                <a:cs typeface="Open Sans" panose="020B0604020202020204" charset="0"/>
              </a:rPr>
              <a:t>When building agentic RAG systems, the agent can employ </a:t>
            </a:r>
            <a:r>
              <a:rPr lang="en-US" sz="3000" dirty="0" smtClean="0">
                <a:solidFill>
                  <a:srgbClr val="17375E"/>
                </a:solidFill>
                <a:latin typeface="Open Sans" panose="020B0604020202020204" charset="0"/>
                <a:ea typeface="Open Sans" panose="020B0604020202020204" charset="0"/>
                <a:cs typeface="Open Sans" panose="020B0604020202020204" charset="0"/>
              </a:rPr>
              <a:t>sophisticated</a:t>
            </a:r>
          </a:p>
          <a:p>
            <a:r>
              <a:rPr lang="en-US" sz="3000" dirty="0" smtClean="0">
                <a:solidFill>
                  <a:srgbClr val="17375E"/>
                </a:solidFill>
                <a:latin typeface="Open Sans" panose="020B0604020202020204" charset="0"/>
                <a:ea typeface="Open Sans" panose="020B0604020202020204" charset="0"/>
                <a:cs typeface="Open Sans" panose="020B0604020202020204" charset="0"/>
              </a:rPr>
              <a:t> </a:t>
            </a:r>
            <a:r>
              <a:rPr lang="en-US" sz="3000" dirty="0">
                <a:solidFill>
                  <a:srgbClr val="17375E"/>
                </a:solidFill>
                <a:latin typeface="Open Sans" panose="020B0604020202020204" charset="0"/>
                <a:ea typeface="Open Sans" panose="020B0604020202020204" charset="0"/>
                <a:cs typeface="Open Sans" panose="020B0604020202020204" charset="0"/>
              </a:rPr>
              <a:t>strategies like:</a:t>
            </a:r>
          </a:p>
        </p:txBody>
      </p:sp>
      <p:sp>
        <p:nvSpPr>
          <p:cNvPr id="5" name="Rectangle 4"/>
          <p:cNvSpPr/>
          <p:nvPr/>
        </p:nvSpPr>
        <p:spPr>
          <a:xfrm>
            <a:off x="3810000" y="6767739"/>
            <a:ext cx="3581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Query Reformulation</a:t>
            </a:r>
            <a:endParaRPr lang="en-US"/>
          </a:p>
        </p:txBody>
      </p:sp>
      <p:sp>
        <p:nvSpPr>
          <p:cNvPr id="12" name="Rectangle 11"/>
          <p:cNvSpPr/>
          <p:nvPr/>
        </p:nvSpPr>
        <p:spPr>
          <a:xfrm>
            <a:off x="3810000" y="7869235"/>
            <a:ext cx="3581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Query Decomposition</a:t>
            </a:r>
            <a:endParaRPr lang="en-US"/>
          </a:p>
        </p:txBody>
      </p:sp>
      <p:sp>
        <p:nvSpPr>
          <p:cNvPr id="13" name="Rectangle 12"/>
          <p:cNvSpPr/>
          <p:nvPr/>
        </p:nvSpPr>
        <p:spPr>
          <a:xfrm>
            <a:off x="8698555" y="7869235"/>
            <a:ext cx="3581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Source Integration</a:t>
            </a:r>
            <a:endParaRPr lang="en-US"/>
          </a:p>
        </p:txBody>
      </p:sp>
      <p:sp>
        <p:nvSpPr>
          <p:cNvPr id="15" name="Rectangle 14"/>
          <p:cNvSpPr/>
          <p:nvPr/>
        </p:nvSpPr>
        <p:spPr>
          <a:xfrm>
            <a:off x="13415661" y="7954872"/>
            <a:ext cx="3581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Result Validation</a:t>
            </a:r>
            <a:endParaRPr lang="en-US" dirty="0"/>
          </a:p>
        </p:txBody>
      </p:sp>
      <p:sp>
        <p:nvSpPr>
          <p:cNvPr id="16" name="Rectangle 15"/>
          <p:cNvSpPr/>
          <p:nvPr/>
        </p:nvSpPr>
        <p:spPr>
          <a:xfrm>
            <a:off x="8698555" y="6767739"/>
            <a:ext cx="3581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Query Expansion</a:t>
            </a:r>
            <a:endParaRPr lang="en-US" dirty="0"/>
          </a:p>
        </p:txBody>
      </p:sp>
      <p:sp>
        <p:nvSpPr>
          <p:cNvPr id="17" name="Rectangle 16"/>
          <p:cNvSpPr/>
          <p:nvPr/>
        </p:nvSpPr>
        <p:spPr>
          <a:xfrm>
            <a:off x="13434711" y="6767739"/>
            <a:ext cx="3581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Multi-Step Retrieval</a:t>
            </a:r>
            <a:endParaRPr lang="en-US"/>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500" fill="hold"/>
                                        <p:tgtEl>
                                          <p:spTgt spid="4"/>
                                        </p:tgtEl>
                                        <p:attrNameLst>
                                          <p:attrName>ppt_w</p:attrName>
                                        </p:attrNameLst>
                                      </p:cBhvr>
                                      <p:tavLst>
                                        <p:tav tm="0">
                                          <p:val>
                                            <p:fltVal val="0"/>
                                          </p:val>
                                        </p:tav>
                                        <p:tav tm="100000">
                                          <p:val>
                                            <p:strVal val="#ppt_w"/>
                                          </p:val>
                                        </p:tav>
                                      </p:tavLst>
                                    </p:anim>
                                    <p:anim calcmode="lin" valueType="num">
                                      <p:cBhvr>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500" fill="hold"/>
                                        <p:tgtEl>
                                          <p:spTgt spid="13"/>
                                        </p:tgtEl>
                                        <p:attrNameLst>
                                          <p:attrName>ppt_x</p:attrName>
                                        </p:attrNameLst>
                                      </p:cBhvr>
                                      <p:tavLst>
                                        <p:tav tm="0">
                                          <p:val>
                                            <p:strVal val="#ppt_x"/>
                                          </p:val>
                                        </p:tav>
                                        <p:tav tm="100000">
                                          <p:val>
                                            <p:strVal val="#ppt_x"/>
                                          </p:val>
                                        </p:tav>
                                      </p:tavLst>
                                    </p:anim>
                                    <p:anim calcmode="lin" valueType="num">
                                      <p:cBhvr additive="base">
                                        <p:cTn id="4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anim calcmode="lin" valueType="num">
                                      <p:cBhvr additive="base">
                                        <p:cTn id="45" dur="500" fill="hold"/>
                                        <p:tgtEl>
                                          <p:spTgt spid="17"/>
                                        </p:tgtEl>
                                        <p:attrNameLst>
                                          <p:attrName>ppt_x</p:attrName>
                                        </p:attrNameLst>
                                      </p:cBhvr>
                                      <p:tavLst>
                                        <p:tav tm="0">
                                          <p:val>
                                            <p:strVal val="#ppt_x"/>
                                          </p:val>
                                        </p:tav>
                                        <p:tav tm="100000">
                                          <p:val>
                                            <p:strVal val="#ppt_x"/>
                                          </p:val>
                                        </p:tav>
                                      </p:tavLst>
                                    </p:anim>
                                    <p:anim calcmode="lin" valueType="num">
                                      <p:cBhvr additive="base">
                                        <p:cTn id="4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500" fill="hold"/>
                                        <p:tgtEl>
                                          <p:spTgt spid="15"/>
                                        </p:tgtEl>
                                        <p:attrNameLst>
                                          <p:attrName>ppt_x</p:attrName>
                                        </p:attrNameLst>
                                      </p:cBhvr>
                                      <p:tavLst>
                                        <p:tav tm="0">
                                          <p:val>
                                            <p:strVal val="#ppt_x"/>
                                          </p:val>
                                        </p:tav>
                                        <p:tav tm="100000">
                                          <p:val>
                                            <p:strVal val="#ppt_x"/>
                                          </p:val>
                                        </p:tav>
                                      </p:tavLst>
                                    </p:anim>
                                    <p:anim calcmode="lin" valueType="num">
                                      <p:cBhvr additive="base">
                                        <p:cTn id="5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4" grpId="0"/>
      <p:bldP spid="5" grpId="0" animBg="1"/>
      <p:bldP spid="12" grpId="0" animBg="1"/>
      <p:bldP spid="13" grpId="0" animBg="1"/>
      <p:bldP spid="15" grpId="0" animBg="1"/>
      <p:bldP spid="16" grpId="0" animBg="1"/>
      <p:bldP spid="1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828800" y="1045095"/>
            <a:ext cx="20791417" cy="11166723"/>
          </a:xfrm>
          <a:custGeom>
            <a:avLst/>
            <a:gdLst/>
            <a:ahLst/>
            <a:cxnLst/>
            <a:rect l="l" t="t" r="r" b="b"/>
            <a:pathLst>
              <a:path w="20791417" h="11166723">
                <a:moveTo>
                  <a:pt x="0" y="0"/>
                </a:moveTo>
                <a:lnTo>
                  <a:pt x="20791417" y="0"/>
                </a:lnTo>
                <a:lnTo>
                  <a:pt x="20791417" y="11166723"/>
                </a:lnTo>
                <a:lnTo>
                  <a:pt x="0" y="11166723"/>
                </a:lnTo>
                <a:lnTo>
                  <a:pt x="0" y="0"/>
                </a:lnTo>
                <a:close/>
              </a:path>
            </a:pathLst>
          </a:custGeom>
          <a:blipFill>
            <a:blip r:embed="rId3"/>
            <a:stretch>
              <a:fillRect/>
            </a:stretch>
          </a:blipFill>
        </p:spPr>
      </p:sp>
      <p:sp>
        <p:nvSpPr>
          <p:cNvPr id="3" name="Freeform 3"/>
          <p:cNvSpPr/>
          <p:nvPr/>
        </p:nvSpPr>
        <p:spPr>
          <a:xfrm>
            <a:off x="5943600" y="571500"/>
            <a:ext cx="7696199" cy="2396598"/>
          </a:xfrm>
          <a:custGeom>
            <a:avLst/>
            <a:gdLst/>
            <a:ahLst/>
            <a:cxnLst/>
            <a:rect l="l" t="t" r="r" b="b"/>
            <a:pathLst>
              <a:path w="5934317" h="2028458">
                <a:moveTo>
                  <a:pt x="0" y="0"/>
                </a:moveTo>
                <a:lnTo>
                  <a:pt x="5934318" y="0"/>
                </a:lnTo>
                <a:lnTo>
                  <a:pt x="5934318" y="2028458"/>
                </a:lnTo>
                <a:lnTo>
                  <a:pt x="0" y="202845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0" name="TextBox 10"/>
          <p:cNvSpPr txBox="1"/>
          <p:nvPr/>
        </p:nvSpPr>
        <p:spPr>
          <a:xfrm>
            <a:off x="6210111" y="833645"/>
            <a:ext cx="7081959" cy="1872307"/>
          </a:xfrm>
          <a:prstGeom prst="rect">
            <a:avLst/>
          </a:prstGeom>
        </p:spPr>
        <p:txBody>
          <a:bodyPr wrap="square" lIns="0" tIns="0" rIns="0" bIns="0" rtlCol="0" anchor="t">
            <a:spAutoFit/>
          </a:bodyPr>
          <a:lstStyle/>
          <a:p>
            <a:pPr algn="ctr">
              <a:lnSpc>
                <a:spcPts val="7279"/>
              </a:lnSpc>
            </a:pPr>
            <a:r>
              <a:rPr lang="en-US" sz="5199" dirty="0" smtClean="0">
                <a:solidFill>
                  <a:srgbClr val="022C5E"/>
                </a:solidFill>
                <a:latin typeface="Hobo"/>
                <a:ea typeface="Hobo"/>
                <a:cs typeface="Hobo"/>
                <a:sym typeface="Hobo"/>
              </a:rPr>
              <a:t>RAG (Retrieval Augmented Generation</a:t>
            </a:r>
            <a:endParaRPr lang="en-US" sz="5199" dirty="0">
              <a:solidFill>
                <a:srgbClr val="022C5E"/>
              </a:solidFill>
              <a:latin typeface="Hobo"/>
              <a:ea typeface="Hobo"/>
              <a:cs typeface="Hobo"/>
              <a:sym typeface="Hobo"/>
            </a:endParaRPr>
          </a:p>
        </p:txBody>
      </p:sp>
      <p:sp>
        <p:nvSpPr>
          <p:cNvPr id="14" name="TextBox 13"/>
          <p:cNvSpPr txBox="1"/>
          <p:nvPr/>
        </p:nvSpPr>
        <p:spPr>
          <a:xfrm>
            <a:off x="16687800" y="9182100"/>
            <a:ext cx="1295400" cy="523220"/>
          </a:xfrm>
          <a:prstGeom prst="rect">
            <a:avLst/>
          </a:prstGeom>
          <a:noFill/>
        </p:spPr>
        <p:txBody>
          <a:bodyPr wrap="square" rtlCol="0">
            <a:spAutoFit/>
          </a:bodyPr>
          <a:lstStyle/>
          <a:p>
            <a:r>
              <a:rPr lang="en-US" sz="2800" dirty="0" smtClean="0"/>
              <a:t>22</a:t>
            </a:r>
            <a:endParaRPr lang="en-US" sz="2800" dirty="0"/>
          </a:p>
        </p:txBody>
      </p:sp>
      <p:pic>
        <p:nvPicPr>
          <p:cNvPr id="6" name="Picture 5"/>
          <p:cNvPicPr>
            <a:picLocks noChangeAspect="1"/>
          </p:cNvPicPr>
          <p:nvPr/>
        </p:nvPicPr>
        <p:blipFill>
          <a:blip r:embed="rId6"/>
          <a:stretch>
            <a:fillRect/>
          </a:stretch>
        </p:blipFill>
        <p:spPr>
          <a:xfrm>
            <a:off x="3962400" y="3771900"/>
            <a:ext cx="11458320" cy="4495800"/>
          </a:xfrm>
          <a:prstGeom prst="rect">
            <a:avLst/>
          </a:prstGeom>
        </p:spPr>
      </p:pic>
    </p:spTree>
    <p:extLst>
      <p:ext uri="{BB962C8B-B14F-4D97-AF65-F5344CB8AC3E}">
        <p14:creationId xmlns:p14="http://schemas.microsoft.com/office/powerpoint/2010/main" val="35985204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B0DBF8"/>
        </a:solidFill>
        <a:effectLst/>
      </p:bgPr>
    </p:bg>
    <p:spTree>
      <p:nvGrpSpPr>
        <p:cNvPr id="1" name=""/>
        <p:cNvGrpSpPr/>
        <p:nvPr/>
      </p:nvGrpSpPr>
      <p:grpSpPr>
        <a:xfrm>
          <a:off x="0" y="0"/>
          <a:ext cx="0" cy="0"/>
          <a:chOff x="0" y="0"/>
          <a:chExt cx="0" cy="0"/>
        </a:xfrm>
      </p:grpSpPr>
      <p:sp>
        <p:nvSpPr>
          <p:cNvPr id="2" name="Freeform 2"/>
          <p:cNvSpPr/>
          <p:nvPr/>
        </p:nvSpPr>
        <p:spPr>
          <a:xfrm>
            <a:off x="-2336674" y="-6604364"/>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4" name="Freeform 4"/>
          <p:cNvSpPr/>
          <p:nvPr/>
        </p:nvSpPr>
        <p:spPr>
          <a:xfrm>
            <a:off x="6039751" y="8955191"/>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17" name="TextBox 16"/>
          <p:cNvSpPr txBox="1"/>
          <p:nvPr/>
        </p:nvSpPr>
        <p:spPr>
          <a:xfrm>
            <a:off x="16687800" y="9182100"/>
            <a:ext cx="1295400" cy="523220"/>
          </a:xfrm>
          <a:prstGeom prst="rect">
            <a:avLst/>
          </a:prstGeom>
          <a:noFill/>
        </p:spPr>
        <p:txBody>
          <a:bodyPr wrap="square" rtlCol="0">
            <a:spAutoFit/>
          </a:bodyPr>
          <a:lstStyle/>
          <a:p>
            <a:r>
              <a:rPr lang="en-US" sz="2800" dirty="0" smtClean="0"/>
              <a:t>23</a:t>
            </a:r>
            <a:endParaRPr lang="en-US" sz="2800" dirty="0"/>
          </a:p>
        </p:txBody>
      </p:sp>
      <p:sp>
        <p:nvSpPr>
          <p:cNvPr id="6" name="Freeform 3"/>
          <p:cNvSpPr/>
          <p:nvPr/>
        </p:nvSpPr>
        <p:spPr>
          <a:xfrm>
            <a:off x="5943600" y="571500"/>
            <a:ext cx="7696199" cy="2396598"/>
          </a:xfrm>
          <a:custGeom>
            <a:avLst/>
            <a:gdLst/>
            <a:ahLst/>
            <a:cxnLst/>
            <a:rect l="l" t="t" r="r" b="b"/>
            <a:pathLst>
              <a:path w="5934317" h="2028458">
                <a:moveTo>
                  <a:pt x="0" y="0"/>
                </a:moveTo>
                <a:lnTo>
                  <a:pt x="5934318" y="0"/>
                </a:lnTo>
                <a:lnTo>
                  <a:pt x="5934318" y="2028458"/>
                </a:lnTo>
                <a:lnTo>
                  <a:pt x="0" y="202845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dirty="0"/>
          </a:p>
        </p:txBody>
      </p:sp>
      <p:sp>
        <p:nvSpPr>
          <p:cNvPr id="7" name="TextBox 10"/>
          <p:cNvSpPr txBox="1"/>
          <p:nvPr/>
        </p:nvSpPr>
        <p:spPr>
          <a:xfrm>
            <a:off x="6210111" y="833645"/>
            <a:ext cx="7081959" cy="1792478"/>
          </a:xfrm>
          <a:prstGeom prst="rect">
            <a:avLst/>
          </a:prstGeom>
        </p:spPr>
        <p:txBody>
          <a:bodyPr wrap="square" lIns="0" tIns="0" rIns="0" bIns="0" rtlCol="0" anchor="t">
            <a:spAutoFit/>
          </a:bodyPr>
          <a:lstStyle/>
          <a:p>
            <a:pPr algn="ctr">
              <a:lnSpc>
                <a:spcPts val="7279"/>
              </a:lnSpc>
            </a:pPr>
            <a:r>
              <a:rPr lang="en-US" sz="5199" dirty="0" smtClean="0">
                <a:solidFill>
                  <a:srgbClr val="022C5E"/>
                </a:solidFill>
                <a:latin typeface="Hobo"/>
                <a:ea typeface="Hobo"/>
                <a:cs typeface="Hobo"/>
                <a:sym typeface="Hobo"/>
              </a:rPr>
              <a:t>Multi Agent In Somlagents</a:t>
            </a:r>
            <a:endParaRPr lang="en-US" sz="5199" dirty="0">
              <a:solidFill>
                <a:srgbClr val="022C5E"/>
              </a:solidFill>
              <a:latin typeface="Hobo"/>
              <a:ea typeface="Hobo"/>
              <a:cs typeface="Hobo"/>
              <a:sym typeface="Hobo"/>
            </a:endParaRPr>
          </a:p>
        </p:txBody>
      </p:sp>
      <p:sp>
        <p:nvSpPr>
          <p:cNvPr id="3" name="Rectangle 2"/>
          <p:cNvSpPr/>
          <p:nvPr/>
        </p:nvSpPr>
        <p:spPr>
          <a:xfrm>
            <a:off x="3352800" y="3588104"/>
            <a:ext cx="13716000" cy="1938992"/>
          </a:xfrm>
          <a:prstGeom prst="rect">
            <a:avLst/>
          </a:prstGeom>
        </p:spPr>
        <p:txBody>
          <a:bodyPr wrap="square">
            <a:spAutoFit/>
          </a:bodyPr>
          <a:lstStyle/>
          <a:p>
            <a:r>
              <a:rPr lang="en-US" sz="3000" dirty="0">
                <a:solidFill>
                  <a:srgbClr val="17375E"/>
                </a:solidFill>
                <a:latin typeface="Open Sans" panose="020B0604020202020204" charset="0"/>
                <a:ea typeface="Open Sans" panose="020B0604020202020204" charset="0"/>
                <a:cs typeface="Open Sans" panose="020B0604020202020204" charset="0"/>
              </a:rPr>
              <a:t>In smolagents, different agents can be combined to generate Python code, call external tools, perform web searches, and more. By orchestrating these agents, we can create powerful </a:t>
            </a:r>
            <a:r>
              <a:rPr lang="en-US" sz="3000" dirty="0" smtClean="0">
                <a:solidFill>
                  <a:srgbClr val="17375E"/>
                </a:solidFill>
                <a:latin typeface="Open Sans" panose="020B0604020202020204" charset="0"/>
                <a:ea typeface="Open Sans" panose="020B0604020202020204" charset="0"/>
                <a:cs typeface="Open Sans" panose="020B0604020202020204" charset="0"/>
              </a:rPr>
              <a:t>workflows </a:t>
            </a:r>
            <a:r>
              <a:rPr lang="en-US" sz="3000" dirty="0" smtClean="0">
                <a:solidFill>
                  <a:srgbClr val="17375E"/>
                </a:solidFill>
                <a:latin typeface="Open Sans" panose="020B0604020202020204" charset="0"/>
                <a:ea typeface="Open Sans" panose="020B0604020202020204" charset="0"/>
                <a:cs typeface="Open Sans" panose="020B0604020202020204" charset="0"/>
                <a:hlinkClick r:id="rId6" action="ppaction://hlinksldjump"/>
              </a:rPr>
              <a:t>[2]</a:t>
            </a:r>
            <a:r>
              <a:rPr lang="en-US" sz="3000" dirty="0" smtClean="0">
                <a:solidFill>
                  <a:srgbClr val="17375E"/>
                </a:solidFill>
                <a:latin typeface="Open Sans" panose="020B0604020202020204" charset="0"/>
                <a:ea typeface="Open Sans" panose="020B0604020202020204" charset="0"/>
                <a:cs typeface="Open Sans" panose="020B0604020202020204" charset="0"/>
              </a:rPr>
              <a:t>.</a:t>
            </a:r>
          </a:p>
          <a:p>
            <a:r>
              <a:rPr lang="en-US" sz="3000" dirty="0">
                <a:solidFill>
                  <a:srgbClr val="17375E"/>
                </a:solidFill>
                <a:latin typeface="Open Sans" panose="020B0604020202020204" charset="0"/>
                <a:ea typeface="Open Sans" panose="020B0604020202020204" charset="0"/>
                <a:cs typeface="Open Sans" panose="020B0604020202020204" charset="0"/>
              </a:rPr>
              <a:t>simple multi-agent architecture</a:t>
            </a:r>
          </a:p>
        </p:txBody>
      </p:sp>
      <p:pic>
        <p:nvPicPr>
          <p:cNvPr id="8" name="Picture 7"/>
          <p:cNvPicPr>
            <a:picLocks noChangeAspect="1"/>
          </p:cNvPicPr>
          <p:nvPr/>
        </p:nvPicPr>
        <p:blipFill>
          <a:blip r:embed="rId7"/>
          <a:stretch>
            <a:fillRect/>
          </a:stretch>
        </p:blipFill>
        <p:spPr>
          <a:xfrm>
            <a:off x="6253135" y="5750470"/>
            <a:ext cx="7077127" cy="2981347"/>
          </a:xfrm>
          <a:prstGeom prst="rect">
            <a:avLst/>
          </a:prstGeom>
        </p:spPr>
      </p:pic>
    </p:spTree>
    <p:extLst>
      <p:ext uri="{BB962C8B-B14F-4D97-AF65-F5344CB8AC3E}">
        <p14:creationId xmlns:p14="http://schemas.microsoft.com/office/powerpoint/2010/main" val="3330353985"/>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500" fill="hold"/>
                                        <p:tgtEl>
                                          <p:spTgt spid="8"/>
                                        </p:tgtEl>
                                        <p:attrNameLst>
                                          <p:attrName>ppt_w</p:attrName>
                                        </p:attrNameLst>
                                      </p:cBhvr>
                                      <p:tavLst>
                                        <p:tav tm="0">
                                          <p:val>
                                            <p:fltVal val="0"/>
                                          </p:val>
                                        </p:tav>
                                        <p:tav tm="100000">
                                          <p:val>
                                            <p:strVal val="#ppt_w"/>
                                          </p:val>
                                        </p:tav>
                                      </p:tavLst>
                                    </p:anim>
                                    <p:anim calcmode="lin" valueType="num">
                                      <p:cBhvr>
                                        <p:cTn id="20" dur="500" fill="hold"/>
                                        <p:tgtEl>
                                          <p:spTgt spid="8"/>
                                        </p:tgtEl>
                                        <p:attrNameLst>
                                          <p:attrName>ppt_h</p:attrName>
                                        </p:attrNameLst>
                                      </p:cBhvr>
                                      <p:tavLst>
                                        <p:tav tm="0">
                                          <p:val>
                                            <p:fltVal val="0"/>
                                          </p:val>
                                        </p:tav>
                                        <p:tav tm="100000">
                                          <p:val>
                                            <p:strVal val="#ppt_h"/>
                                          </p:val>
                                        </p:tav>
                                      </p:tavLst>
                                    </p:anim>
                                    <p:animEffect transition="in" filter="fade">
                                      <p:cBhvr>
                                        <p:cTn id="2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336674" y="-6604364"/>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4" name="Freeform 4"/>
          <p:cNvSpPr/>
          <p:nvPr/>
        </p:nvSpPr>
        <p:spPr>
          <a:xfrm>
            <a:off x="6039751" y="8955191"/>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17" name="TextBox 16"/>
          <p:cNvSpPr txBox="1"/>
          <p:nvPr/>
        </p:nvSpPr>
        <p:spPr>
          <a:xfrm>
            <a:off x="16687800" y="9182100"/>
            <a:ext cx="1295400" cy="523220"/>
          </a:xfrm>
          <a:prstGeom prst="rect">
            <a:avLst/>
          </a:prstGeom>
          <a:noFill/>
        </p:spPr>
        <p:txBody>
          <a:bodyPr wrap="square" rtlCol="0">
            <a:spAutoFit/>
          </a:bodyPr>
          <a:lstStyle/>
          <a:p>
            <a:r>
              <a:rPr lang="en-US" sz="2800" dirty="0" smtClean="0"/>
              <a:t>24</a:t>
            </a:r>
            <a:endParaRPr lang="en-US" sz="2800" dirty="0"/>
          </a:p>
        </p:txBody>
      </p:sp>
      <p:sp>
        <p:nvSpPr>
          <p:cNvPr id="6" name="Freeform 3"/>
          <p:cNvSpPr/>
          <p:nvPr/>
        </p:nvSpPr>
        <p:spPr>
          <a:xfrm>
            <a:off x="5943600" y="571500"/>
            <a:ext cx="7696199" cy="2396598"/>
          </a:xfrm>
          <a:custGeom>
            <a:avLst/>
            <a:gdLst/>
            <a:ahLst/>
            <a:cxnLst/>
            <a:rect l="l" t="t" r="r" b="b"/>
            <a:pathLst>
              <a:path w="5934317" h="2028458">
                <a:moveTo>
                  <a:pt x="0" y="0"/>
                </a:moveTo>
                <a:lnTo>
                  <a:pt x="5934318" y="0"/>
                </a:lnTo>
                <a:lnTo>
                  <a:pt x="5934318" y="2028458"/>
                </a:lnTo>
                <a:lnTo>
                  <a:pt x="0" y="202845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dirty="0"/>
          </a:p>
        </p:txBody>
      </p:sp>
      <p:sp>
        <p:nvSpPr>
          <p:cNvPr id="7" name="TextBox 10"/>
          <p:cNvSpPr txBox="1"/>
          <p:nvPr/>
        </p:nvSpPr>
        <p:spPr>
          <a:xfrm>
            <a:off x="6210111" y="833645"/>
            <a:ext cx="7081959" cy="1792478"/>
          </a:xfrm>
          <a:prstGeom prst="rect">
            <a:avLst/>
          </a:prstGeom>
        </p:spPr>
        <p:txBody>
          <a:bodyPr wrap="square" lIns="0" tIns="0" rIns="0" bIns="0" rtlCol="0" anchor="t">
            <a:spAutoFit/>
          </a:bodyPr>
          <a:lstStyle/>
          <a:p>
            <a:pPr algn="ctr">
              <a:lnSpc>
                <a:spcPts val="7279"/>
              </a:lnSpc>
            </a:pPr>
            <a:r>
              <a:rPr lang="en-US" sz="5199" dirty="0" smtClean="0">
                <a:solidFill>
                  <a:srgbClr val="022C5E"/>
                </a:solidFill>
                <a:latin typeface="Hobo"/>
                <a:ea typeface="Hobo"/>
                <a:cs typeface="Hobo"/>
                <a:sym typeface="Hobo"/>
              </a:rPr>
              <a:t>Vision Agents with Smolagents</a:t>
            </a:r>
            <a:endParaRPr lang="en-US" sz="5199" dirty="0">
              <a:solidFill>
                <a:srgbClr val="022C5E"/>
              </a:solidFill>
              <a:latin typeface="Hobo"/>
              <a:ea typeface="Hobo"/>
              <a:cs typeface="Hobo"/>
              <a:sym typeface="Hobo"/>
            </a:endParaRPr>
          </a:p>
        </p:txBody>
      </p:sp>
      <p:sp>
        <p:nvSpPr>
          <p:cNvPr id="3" name="Rectangle 2"/>
          <p:cNvSpPr/>
          <p:nvPr/>
        </p:nvSpPr>
        <p:spPr>
          <a:xfrm>
            <a:off x="3276600" y="3349813"/>
            <a:ext cx="13716000" cy="2862322"/>
          </a:xfrm>
          <a:prstGeom prst="rect">
            <a:avLst/>
          </a:prstGeom>
        </p:spPr>
        <p:txBody>
          <a:bodyPr wrap="square">
            <a:spAutoFit/>
          </a:bodyPr>
          <a:lstStyle/>
          <a:p>
            <a:r>
              <a:rPr lang="en-US" sz="3000" dirty="0">
                <a:solidFill>
                  <a:srgbClr val="17375E"/>
                </a:solidFill>
                <a:latin typeface="Open Sans" panose="020B0604020202020204" charset="0"/>
                <a:ea typeface="Open Sans" panose="020B0604020202020204" charset="0"/>
                <a:cs typeface="Open Sans" panose="020B0604020202020204" charset="0"/>
              </a:rPr>
              <a:t>Empowering agents with visual capabilities is crucial for solving tasks that go beyond text processing. Many real-world challenges, such as web browsing or document understanding, require analyzing rich visual content. Fortunately</a:t>
            </a:r>
            <a:r>
              <a:rPr lang="en-US" sz="3000" dirty="0" smtClean="0">
                <a:solidFill>
                  <a:srgbClr val="17375E"/>
                </a:solidFill>
                <a:latin typeface="Open Sans" panose="020B0604020202020204" charset="0"/>
                <a:ea typeface="Open Sans" panose="020B0604020202020204" charset="0"/>
                <a:cs typeface="Open Sans" panose="020B0604020202020204" charset="0"/>
              </a:rPr>
              <a:t>, smolagents provides </a:t>
            </a:r>
            <a:r>
              <a:rPr lang="en-US" sz="3000" dirty="0">
                <a:solidFill>
                  <a:srgbClr val="17375E"/>
                </a:solidFill>
                <a:latin typeface="Open Sans" panose="020B0604020202020204" charset="0"/>
                <a:ea typeface="Open Sans" panose="020B0604020202020204" charset="0"/>
                <a:cs typeface="Open Sans" panose="020B0604020202020204" charset="0"/>
              </a:rPr>
              <a:t>built-in support for vision-language models (VLMs), enabling agents to process and interpret images effectively. </a:t>
            </a:r>
            <a:r>
              <a:rPr lang="en-US" sz="3000" dirty="0" smtClean="0">
                <a:solidFill>
                  <a:srgbClr val="17375E"/>
                </a:solidFill>
                <a:latin typeface="Open Sans" panose="020B0604020202020204" charset="0"/>
                <a:ea typeface="Open Sans" panose="020B0604020202020204" charset="0"/>
                <a:cs typeface="Open Sans" panose="020B0604020202020204" charset="0"/>
                <a:hlinkClick r:id="rId6" action="ppaction://hlinksldjump"/>
              </a:rPr>
              <a:t>[2]</a:t>
            </a:r>
            <a:r>
              <a:rPr lang="en-US" sz="3000" dirty="0" smtClean="0">
                <a:solidFill>
                  <a:srgbClr val="17375E"/>
                </a:solidFill>
                <a:latin typeface="Open Sans" panose="020B0604020202020204" charset="0"/>
                <a:ea typeface="Open Sans" panose="020B0604020202020204" charset="0"/>
                <a:cs typeface="Open Sans" panose="020B0604020202020204" charset="0"/>
              </a:rPr>
              <a:t>.</a:t>
            </a:r>
          </a:p>
        </p:txBody>
      </p:sp>
    </p:spTree>
    <p:extLst>
      <p:ext uri="{BB962C8B-B14F-4D97-AF65-F5344CB8AC3E}">
        <p14:creationId xmlns:p14="http://schemas.microsoft.com/office/powerpoint/2010/main" val="1779754023"/>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67720" y="8031009"/>
            <a:ext cx="16805381" cy="9025890"/>
          </a:xfrm>
          <a:custGeom>
            <a:avLst/>
            <a:gdLst/>
            <a:ahLst/>
            <a:cxnLst/>
            <a:rect l="l" t="t" r="r" b="b"/>
            <a:pathLst>
              <a:path w="16805381" h="9025890">
                <a:moveTo>
                  <a:pt x="0" y="0"/>
                </a:moveTo>
                <a:lnTo>
                  <a:pt x="16805381" y="0"/>
                </a:lnTo>
                <a:lnTo>
                  <a:pt x="16805381" y="9025890"/>
                </a:lnTo>
                <a:lnTo>
                  <a:pt x="0" y="9025890"/>
                </a:lnTo>
                <a:lnTo>
                  <a:pt x="0" y="0"/>
                </a:lnTo>
                <a:close/>
              </a:path>
            </a:pathLst>
          </a:custGeom>
          <a:blipFill>
            <a:blip r:embed="rId2">
              <a:alphaModFix amt="85000"/>
            </a:blip>
            <a:stretch>
              <a:fillRect/>
            </a:stretch>
          </a:blipFill>
        </p:spPr>
      </p:sp>
      <p:sp>
        <p:nvSpPr>
          <p:cNvPr id="8" name="Freeform 8"/>
          <p:cNvSpPr/>
          <p:nvPr/>
        </p:nvSpPr>
        <p:spPr>
          <a:xfrm>
            <a:off x="10910287" y="-6589014"/>
            <a:ext cx="16805381" cy="9025890"/>
          </a:xfrm>
          <a:custGeom>
            <a:avLst/>
            <a:gdLst/>
            <a:ahLst/>
            <a:cxnLst/>
            <a:rect l="l" t="t" r="r" b="b"/>
            <a:pathLst>
              <a:path w="16805381" h="9025890">
                <a:moveTo>
                  <a:pt x="0" y="0"/>
                </a:moveTo>
                <a:lnTo>
                  <a:pt x="16805381" y="0"/>
                </a:lnTo>
                <a:lnTo>
                  <a:pt x="16805381" y="9025890"/>
                </a:lnTo>
                <a:lnTo>
                  <a:pt x="0" y="9025890"/>
                </a:lnTo>
                <a:lnTo>
                  <a:pt x="0" y="0"/>
                </a:lnTo>
                <a:close/>
              </a:path>
            </a:pathLst>
          </a:custGeom>
          <a:blipFill>
            <a:blip r:embed="rId2">
              <a:alphaModFix amt="85000"/>
            </a:blip>
            <a:stretch>
              <a:fillRect/>
            </a:stretch>
          </a:blipFill>
        </p:spPr>
      </p:sp>
      <p:sp>
        <p:nvSpPr>
          <p:cNvPr id="19" name="TextBox 19"/>
          <p:cNvSpPr txBox="1"/>
          <p:nvPr/>
        </p:nvSpPr>
        <p:spPr>
          <a:xfrm>
            <a:off x="5233387" y="4687370"/>
            <a:ext cx="11353800" cy="1016945"/>
          </a:xfrm>
          <a:prstGeom prst="rect">
            <a:avLst/>
          </a:prstGeom>
        </p:spPr>
        <p:txBody>
          <a:bodyPr wrap="square" lIns="0" tIns="0" rIns="0" bIns="0" rtlCol="0" anchor="t">
            <a:spAutoFit/>
          </a:bodyPr>
          <a:lstStyle/>
          <a:p>
            <a:pPr algn="ctr">
              <a:lnSpc>
                <a:spcPts val="7279"/>
              </a:lnSpc>
            </a:pPr>
            <a:r>
              <a:rPr lang="en-US" sz="9600" dirty="0" smtClean="0">
                <a:solidFill>
                  <a:srgbClr val="17375E"/>
                </a:solidFill>
                <a:latin typeface="Sergio Trendy" panose="020B0604020202020204" charset="0"/>
              </a:rPr>
              <a:t>LlamaIndex</a:t>
            </a:r>
            <a:endParaRPr lang="en-US" sz="9600" dirty="0">
              <a:solidFill>
                <a:srgbClr val="17375E"/>
              </a:solidFill>
              <a:latin typeface="Sergio Trendy" panose="020B0604020202020204" charset="0"/>
              <a:ea typeface="Hobo"/>
              <a:cs typeface="Hobo"/>
              <a:sym typeface="Hobo"/>
            </a:endParaRPr>
          </a:p>
        </p:txBody>
      </p:sp>
      <p:sp>
        <p:nvSpPr>
          <p:cNvPr id="6" name="TextBox 5"/>
          <p:cNvSpPr txBox="1"/>
          <p:nvPr/>
        </p:nvSpPr>
        <p:spPr>
          <a:xfrm>
            <a:off x="16687800" y="9182100"/>
            <a:ext cx="1295400" cy="523220"/>
          </a:xfrm>
          <a:prstGeom prst="rect">
            <a:avLst/>
          </a:prstGeom>
          <a:noFill/>
        </p:spPr>
        <p:txBody>
          <a:bodyPr wrap="square" rtlCol="0">
            <a:spAutoFit/>
          </a:bodyPr>
          <a:lstStyle/>
          <a:p>
            <a:r>
              <a:rPr lang="en-US" sz="2800" dirty="0" smtClean="0"/>
              <a:t>25</a:t>
            </a:r>
            <a:endParaRPr lang="en-US" sz="2800" dirty="0"/>
          </a:p>
        </p:txBody>
      </p:sp>
    </p:spTree>
    <p:extLst>
      <p:ext uri="{BB962C8B-B14F-4D97-AF65-F5344CB8AC3E}">
        <p14:creationId xmlns:p14="http://schemas.microsoft.com/office/powerpoint/2010/main" val="14325277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a:fillRect/>
          </a:stretch>
        </p:blipFill>
        <p:spPr>
          <a:xfrm>
            <a:off x="14839932" y="987522"/>
            <a:ext cx="2495568" cy="2533669"/>
          </a:xfrm>
          <a:prstGeom prst="rect">
            <a:avLst/>
          </a:prstGeom>
        </p:spPr>
      </p:pic>
      <p:sp>
        <p:nvSpPr>
          <p:cNvPr id="2" name="Freeform 2"/>
          <p:cNvSpPr/>
          <p:nvPr/>
        </p:nvSpPr>
        <p:spPr>
          <a:xfrm>
            <a:off x="921911" y="1251769"/>
            <a:ext cx="6443498" cy="2005176"/>
          </a:xfrm>
          <a:custGeom>
            <a:avLst/>
            <a:gdLst/>
            <a:ahLst/>
            <a:cxnLst/>
            <a:rect l="l" t="t" r="r" b="b"/>
            <a:pathLst>
              <a:path w="5934317" h="2028458">
                <a:moveTo>
                  <a:pt x="0" y="0"/>
                </a:moveTo>
                <a:lnTo>
                  <a:pt x="5934318" y="0"/>
                </a:lnTo>
                <a:lnTo>
                  <a:pt x="5934318" y="2028458"/>
                </a:lnTo>
                <a:lnTo>
                  <a:pt x="0" y="202845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3" name="Freeform 3"/>
          <p:cNvSpPr/>
          <p:nvPr/>
        </p:nvSpPr>
        <p:spPr>
          <a:xfrm>
            <a:off x="-3303104" y="8865103"/>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6">
              <a:alphaModFix amt="80000"/>
            </a:blip>
            <a:stretch>
              <a:fillRect/>
            </a:stretch>
          </a:blipFill>
        </p:spPr>
      </p:sp>
      <p:sp>
        <p:nvSpPr>
          <p:cNvPr id="4" name="Freeform 4"/>
          <p:cNvSpPr/>
          <p:nvPr/>
        </p:nvSpPr>
        <p:spPr>
          <a:xfrm>
            <a:off x="7721735" y="-6604364"/>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6">
              <a:alphaModFix amt="78000"/>
            </a:blip>
            <a:stretch>
              <a:fillRect/>
            </a:stretch>
          </a:blipFill>
        </p:spPr>
      </p:sp>
      <p:sp>
        <p:nvSpPr>
          <p:cNvPr id="6" name="TextBox 6"/>
          <p:cNvSpPr txBox="1"/>
          <p:nvPr/>
        </p:nvSpPr>
        <p:spPr>
          <a:xfrm>
            <a:off x="1176502" y="1810810"/>
            <a:ext cx="5934317" cy="887095"/>
          </a:xfrm>
          <a:prstGeom prst="rect">
            <a:avLst/>
          </a:prstGeom>
        </p:spPr>
        <p:txBody>
          <a:bodyPr lIns="0" tIns="0" rIns="0" bIns="0" rtlCol="0" anchor="t">
            <a:spAutoFit/>
          </a:bodyPr>
          <a:lstStyle/>
          <a:p>
            <a:pPr algn="ctr">
              <a:lnSpc>
                <a:spcPts val="7279"/>
              </a:lnSpc>
            </a:pPr>
            <a:r>
              <a:rPr lang="en-US" sz="5199" dirty="0" smtClean="0">
                <a:solidFill>
                  <a:srgbClr val="022C5E"/>
                </a:solidFill>
                <a:latin typeface="Hobo"/>
                <a:ea typeface="Hobo"/>
                <a:cs typeface="Hobo"/>
                <a:sym typeface="Hobo"/>
              </a:rPr>
              <a:t>What is LlamaIndex? </a:t>
            </a:r>
            <a:endParaRPr lang="en-US" sz="5199" dirty="0">
              <a:solidFill>
                <a:srgbClr val="022C5E"/>
              </a:solidFill>
              <a:latin typeface="Hobo"/>
              <a:ea typeface="Hobo"/>
              <a:cs typeface="Hobo"/>
              <a:sym typeface="Hobo"/>
            </a:endParaRPr>
          </a:p>
        </p:txBody>
      </p:sp>
      <p:sp>
        <p:nvSpPr>
          <p:cNvPr id="8" name="TextBox 7"/>
          <p:cNvSpPr txBox="1"/>
          <p:nvPr/>
        </p:nvSpPr>
        <p:spPr>
          <a:xfrm>
            <a:off x="16687800" y="9182100"/>
            <a:ext cx="1295400" cy="523220"/>
          </a:xfrm>
          <a:prstGeom prst="rect">
            <a:avLst/>
          </a:prstGeom>
          <a:noFill/>
        </p:spPr>
        <p:txBody>
          <a:bodyPr wrap="square" rtlCol="0">
            <a:spAutoFit/>
          </a:bodyPr>
          <a:lstStyle/>
          <a:p>
            <a:r>
              <a:rPr lang="en-US" sz="2800" dirty="0" smtClean="0"/>
              <a:t>26</a:t>
            </a:r>
            <a:endParaRPr lang="en-US" sz="2800" dirty="0"/>
          </a:p>
        </p:txBody>
      </p:sp>
      <p:sp>
        <p:nvSpPr>
          <p:cNvPr id="9" name="Rectangle 8"/>
          <p:cNvSpPr/>
          <p:nvPr/>
        </p:nvSpPr>
        <p:spPr>
          <a:xfrm>
            <a:off x="1141333" y="4000381"/>
            <a:ext cx="16256591" cy="1938992"/>
          </a:xfrm>
          <a:prstGeom prst="rect">
            <a:avLst/>
          </a:prstGeom>
        </p:spPr>
        <p:txBody>
          <a:bodyPr wrap="square">
            <a:spAutoFit/>
          </a:bodyPr>
          <a:lstStyle/>
          <a:p>
            <a:r>
              <a:rPr lang="en-US" sz="3000" dirty="0">
                <a:solidFill>
                  <a:srgbClr val="17375E"/>
                </a:solidFill>
                <a:latin typeface="Open Sans" panose="020B0604020202020204" charset="0"/>
                <a:ea typeface="Open Sans" panose="020B0604020202020204" charset="0"/>
                <a:cs typeface="Open Sans" panose="020B0604020202020204" charset="0"/>
              </a:rPr>
              <a:t>LlamaIndex is an open source data orchestration framework for building large language model (LLM) applications. LlamaIndex is available in Python and TypeScript and leverages a combination of tools and capabilities that simplify the process of context augmentation for generative AI (gen AI) use cases through a Retrieval-Augmented (</a:t>
            </a:r>
            <a:r>
              <a:rPr lang="en-US" sz="3000" dirty="0" smtClean="0">
                <a:solidFill>
                  <a:srgbClr val="17375E"/>
                </a:solidFill>
                <a:latin typeface="Open Sans" panose="020B0604020202020204" charset="0"/>
                <a:ea typeface="Open Sans" panose="020B0604020202020204" charset="0"/>
                <a:cs typeface="Open Sans" panose="020B0604020202020204" charset="0"/>
              </a:rPr>
              <a:t>RAG) pipeline </a:t>
            </a:r>
            <a:r>
              <a:rPr lang="en-US" sz="3000" dirty="0" smtClean="0">
                <a:solidFill>
                  <a:srgbClr val="17375E"/>
                </a:solidFill>
                <a:latin typeface="Open Sans" panose="020B0604020202020204" charset="0"/>
                <a:ea typeface="Open Sans" panose="020B0604020202020204" charset="0"/>
                <a:cs typeface="Open Sans" panose="020B0604020202020204" charset="0"/>
                <a:hlinkClick r:id="rId7" action="ppaction://hlinksldjump"/>
              </a:rPr>
              <a:t>[3]</a:t>
            </a:r>
            <a:r>
              <a:rPr lang="en-US" sz="3000" dirty="0" smtClean="0">
                <a:solidFill>
                  <a:srgbClr val="17375E"/>
                </a:solidFill>
                <a:latin typeface="Open Sans" panose="020B0604020202020204" charset="0"/>
                <a:ea typeface="Open Sans" panose="020B0604020202020204" charset="0"/>
                <a:cs typeface="Open Sans" panose="020B0604020202020204" charset="0"/>
              </a:rPr>
              <a:t>.</a:t>
            </a:r>
            <a:endParaRPr lang="en-US" sz="3000" dirty="0">
              <a:solidFill>
                <a:srgbClr val="17375E"/>
              </a:solidFill>
              <a:latin typeface="Open Sans" panose="020B0604020202020204" charset="0"/>
              <a:ea typeface="Open Sans" panose="020B0604020202020204" charset="0"/>
              <a:cs typeface="Open Sans" panose="020B0604020202020204" charset="0"/>
            </a:endParaRPr>
          </a:p>
        </p:txBody>
      </p:sp>
    </p:spTree>
    <p:extLst>
      <p:ext uri="{BB962C8B-B14F-4D97-AF65-F5344CB8AC3E}">
        <p14:creationId xmlns:p14="http://schemas.microsoft.com/office/powerpoint/2010/main" val="1850840392"/>
      </p:ext>
    </p:extLst>
  </p:cSld>
  <p:clrMapOvr>
    <a:masterClrMapping/>
  </p:clrMapOvr>
  <p:transition spd="slow">
    <p:push dir="u"/>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336674" y="-6604364"/>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3" name="Freeform 3"/>
          <p:cNvSpPr/>
          <p:nvPr/>
        </p:nvSpPr>
        <p:spPr>
          <a:xfrm>
            <a:off x="6039751" y="1028700"/>
            <a:ext cx="5934317" cy="2028458"/>
          </a:xfrm>
          <a:custGeom>
            <a:avLst/>
            <a:gdLst/>
            <a:ahLst/>
            <a:cxnLst/>
            <a:rect l="l" t="t" r="r" b="b"/>
            <a:pathLst>
              <a:path w="5934317" h="2028458">
                <a:moveTo>
                  <a:pt x="0" y="0"/>
                </a:moveTo>
                <a:lnTo>
                  <a:pt x="5934317" y="0"/>
                </a:lnTo>
                <a:lnTo>
                  <a:pt x="5934317" y="2028458"/>
                </a:lnTo>
                <a:lnTo>
                  <a:pt x="0" y="202845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a:off x="6039751" y="8955191"/>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6" name="TextBox 6"/>
          <p:cNvSpPr txBox="1"/>
          <p:nvPr/>
        </p:nvSpPr>
        <p:spPr>
          <a:xfrm>
            <a:off x="6043268" y="1168985"/>
            <a:ext cx="5934317" cy="1798441"/>
          </a:xfrm>
          <a:prstGeom prst="rect">
            <a:avLst/>
          </a:prstGeom>
        </p:spPr>
        <p:txBody>
          <a:bodyPr lIns="0" tIns="0" rIns="0" bIns="0" rtlCol="0" anchor="t">
            <a:spAutoFit/>
          </a:bodyPr>
          <a:lstStyle/>
          <a:p>
            <a:pPr algn="ctr">
              <a:lnSpc>
                <a:spcPts val="7279"/>
              </a:lnSpc>
            </a:pPr>
            <a:r>
              <a:rPr lang="en-US" sz="5400" dirty="0" smtClean="0">
                <a:solidFill>
                  <a:srgbClr val="022C5E"/>
                </a:solidFill>
                <a:latin typeface="Hobo"/>
                <a:ea typeface="Hobo"/>
                <a:cs typeface="Hobo"/>
                <a:sym typeface="Hobo"/>
              </a:rPr>
              <a:t>What Makes LlamaIndex Special</a:t>
            </a:r>
            <a:endParaRPr lang="en-US" sz="5400" dirty="0">
              <a:solidFill>
                <a:srgbClr val="022C5E"/>
              </a:solidFill>
              <a:latin typeface="Hobo"/>
              <a:ea typeface="Hobo"/>
              <a:cs typeface="Hobo"/>
              <a:sym typeface="Hobo"/>
            </a:endParaRPr>
          </a:p>
        </p:txBody>
      </p:sp>
      <p:sp>
        <p:nvSpPr>
          <p:cNvPr id="8" name="Freeform 3"/>
          <p:cNvSpPr/>
          <p:nvPr/>
        </p:nvSpPr>
        <p:spPr>
          <a:xfrm>
            <a:off x="3136499" y="6721134"/>
            <a:ext cx="4419600" cy="1683156"/>
          </a:xfrm>
          <a:custGeom>
            <a:avLst/>
            <a:gdLst/>
            <a:ahLst/>
            <a:cxnLst/>
            <a:rect l="l" t="t" r="r" b="b"/>
            <a:pathLst>
              <a:path w="5934317" h="2028458">
                <a:moveTo>
                  <a:pt x="0" y="0"/>
                </a:moveTo>
                <a:lnTo>
                  <a:pt x="5934317" y="0"/>
                </a:lnTo>
                <a:lnTo>
                  <a:pt x="5934317" y="2028458"/>
                </a:lnTo>
                <a:lnTo>
                  <a:pt x="0" y="202845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9" name="Freeform 3"/>
          <p:cNvSpPr/>
          <p:nvPr/>
        </p:nvSpPr>
        <p:spPr>
          <a:xfrm>
            <a:off x="10330122" y="3859181"/>
            <a:ext cx="5976678" cy="1868919"/>
          </a:xfrm>
          <a:custGeom>
            <a:avLst/>
            <a:gdLst/>
            <a:ahLst/>
            <a:cxnLst/>
            <a:rect l="l" t="t" r="r" b="b"/>
            <a:pathLst>
              <a:path w="5934317" h="2028458">
                <a:moveTo>
                  <a:pt x="0" y="0"/>
                </a:moveTo>
                <a:lnTo>
                  <a:pt x="5934317" y="0"/>
                </a:lnTo>
                <a:lnTo>
                  <a:pt x="5934317" y="2028458"/>
                </a:lnTo>
                <a:lnTo>
                  <a:pt x="0" y="202845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0" name="Freeform 3"/>
          <p:cNvSpPr/>
          <p:nvPr/>
        </p:nvSpPr>
        <p:spPr>
          <a:xfrm>
            <a:off x="3075251" y="4064476"/>
            <a:ext cx="4343400" cy="1618274"/>
          </a:xfrm>
          <a:custGeom>
            <a:avLst/>
            <a:gdLst/>
            <a:ahLst/>
            <a:cxnLst/>
            <a:rect l="l" t="t" r="r" b="b"/>
            <a:pathLst>
              <a:path w="5934317" h="2028458">
                <a:moveTo>
                  <a:pt x="0" y="0"/>
                </a:moveTo>
                <a:lnTo>
                  <a:pt x="5934317" y="0"/>
                </a:lnTo>
                <a:lnTo>
                  <a:pt x="5934317" y="2028458"/>
                </a:lnTo>
                <a:lnTo>
                  <a:pt x="0" y="202845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1" name="Freeform 3"/>
          <p:cNvSpPr/>
          <p:nvPr/>
        </p:nvSpPr>
        <p:spPr>
          <a:xfrm>
            <a:off x="10933807" y="6721134"/>
            <a:ext cx="4454210" cy="1561920"/>
          </a:xfrm>
          <a:custGeom>
            <a:avLst/>
            <a:gdLst/>
            <a:ahLst/>
            <a:cxnLst/>
            <a:rect l="l" t="t" r="r" b="b"/>
            <a:pathLst>
              <a:path w="5934317" h="2028458">
                <a:moveTo>
                  <a:pt x="0" y="0"/>
                </a:moveTo>
                <a:lnTo>
                  <a:pt x="5934317" y="0"/>
                </a:lnTo>
                <a:lnTo>
                  <a:pt x="5934317" y="2028458"/>
                </a:lnTo>
                <a:lnTo>
                  <a:pt x="0" y="202845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2" name="TextBox 11"/>
          <p:cNvSpPr txBox="1"/>
          <p:nvPr/>
        </p:nvSpPr>
        <p:spPr>
          <a:xfrm>
            <a:off x="3526573" y="4276708"/>
            <a:ext cx="3547946" cy="1323439"/>
          </a:xfrm>
          <a:prstGeom prst="rect">
            <a:avLst/>
          </a:prstGeom>
          <a:noFill/>
        </p:spPr>
        <p:txBody>
          <a:bodyPr wrap="square" rtlCol="0">
            <a:spAutoFit/>
          </a:bodyPr>
          <a:lstStyle/>
          <a:p>
            <a:r>
              <a:rPr lang="en-US" sz="4000" b="1" dirty="0">
                <a:solidFill>
                  <a:srgbClr val="17375E"/>
                </a:solidFill>
                <a:latin typeface="Hobo" panose="020B0604020202020204" charset="0"/>
              </a:rPr>
              <a:t>Clear Workflow System</a:t>
            </a:r>
            <a:endParaRPr lang="en-US" sz="4000" dirty="0">
              <a:solidFill>
                <a:srgbClr val="17375E"/>
              </a:solidFill>
              <a:latin typeface="Hobo" panose="020B0604020202020204" charset="0"/>
            </a:endParaRPr>
          </a:p>
        </p:txBody>
      </p:sp>
      <p:sp>
        <p:nvSpPr>
          <p:cNvPr id="13" name="TextBox 12"/>
          <p:cNvSpPr txBox="1"/>
          <p:nvPr/>
        </p:nvSpPr>
        <p:spPr>
          <a:xfrm>
            <a:off x="10474494" y="4276707"/>
            <a:ext cx="6213306" cy="1323439"/>
          </a:xfrm>
          <a:prstGeom prst="rect">
            <a:avLst/>
          </a:prstGeom>
          <a:noFill/>
        </p:spPr>
        <p:txBody>
          <a:bodyPr wrap="square" rtlCol="0">
            <a:spAutoFit/>
          </a:bodyPr>
          <a:lstStyle/>
          <a:p>
            <a:r>
              <a:rPr lang="en-US" sz="4000" b="1" dirty="0">
                <a:solidFill>
                  <a:srgbClr val="17375E"/>
                </a:solidFill>
                <a:latin typeface="Hobo" panose="020B0604020202020204" charset="0"/>
              </a:rPr>
              <a:t>Advanced Document Parsing with LlamaParse</a:t>
            </a:r>
            <a:endParaRPr lang="en-US" sz="4000" dirty="0">
              <a:solidFill>
                <a:srgbClr val="17375E"/>
              </a:solidFill>
              <a:latin typeface="Hobo" panose="020B0604020202020204" charset="0"/>
            </a:endParaRPr>
          </a:p>
        </p:txBody>
      </p:sp>
      <p:sp>
        <p:nvSpPr>
          <p:cNvPr id="14" name="TextBox 13"/>
          <p:cNvSpPr txBox="1"/>
          <p:nvPr/>
        </p:nvSpPr>
        <p:spPr>
          <a:xfrm>
            <a:off x="3325970" y="7009164"/>
            <a:ext cx="3887714" cy="1323439"/>
          </a:xfrm>
          <a:prstGeom prst="rect">
            <a:avLst/>
          </a:prstGeom>
          <a:noFill/>
        </p:spPr>
        <p:txBody>
          <a:bodyPr wrap="square" rtlCol="0">
            <a:spAutoFit/>
          </a:bodyPr>
          <a:lstStyle/>
          <a:p>
            <a:r>
              <a:rPr lang="en-US" sz="4000" b="1" dirty="0">
                <a:solidFill>
                  <a:srgbClr val="17375E"/>
                </a:solidFill>
                <a:latin typeface="Hobo" panose="020B0604020202020204" charset="0"/>
              </a:rPr>
              <a:t>Many Ready-to-Use Components</a:t>
            </a:r>
            <a:endParaRPr lang="en-US" sz="4000" dirty="0">
              <a:solidFill>
                <a:srgbClr val="17375E"/>
              </a:solidFill>
              <a:latin typeface="Hobo" panose="020B0604020202020204" charset="0"/>
            </a:endParaRPr>
          </a:p>
        </p:txBody>
      </p:sp>
      <p:sp>
        <p:nvSpPr>
          <p:cNvPr id="15" name="TextBox 14"/>
          <p:cNvSpPr txBox="1"/>
          <p:nvPr/>
        </p:nvSpPr>
        <p:spPr>
          <a:xfrm>
            <a:off x="11974068" y="7148151"/>
            <a:ext cx="3194388" cy="707886"/>
          </a:xfrm>
          <a:prstGeom prst="rect">
            <a:avLst/>
          </a:prstGeom>
          <a:noFill/>
        </p:spPr>
        <p:txBody>
          <a:bodyPr wrap="square" rtlCol="0">
            <a:spAutoFit/>
          </a:bodyPr>
          <a:lstStyle/>
          <a:p>
            <a:r>
              <a:rPr lang="en-US" sz="4000" dirty="0" smtClean="0">
                <a:solidFill>
                  <a:schemeClr val="tx2">
                    <a:lumMod val="75000"/>
                  </a:schemeClr>
                </a:solidFill>
                <a:latin typeface="Hobo" panose="020B0604020202020204" charset="0"/>
              </a:rPr>
              <a:t>LlamaHub</a:t>
            </a:r>
            <a:endParaRPr lang="en-US" sz="4000" dirty="0">
              <a:solidFill>
                <a:schemeClr val="tx2">
                  <a:lumMod val="75000"/>
                </a:schemeClr>
              </a:solidFill>
              <a:latin typeface="Hobo" panose="020B0604020202020204" charset="0"/>
            </a:endParaRPr>
          </a:p>
        </p:txBody>
      </p:sp>
      <p:sp>
        <p:nvSpPr>
          <p:cNvPr id="17" name="TextBox 16"/>
          <p:cNvSpPr txBox="1"/>
          <p:nvPr/>
        </p:nvSpPr>
        <p:spPr>
          <a:xfrm>
            <a:off x="16687800" y="9182100"/>
            <a:ext cx="1295400" cy="523220"/>
          </a:xfrm>
          <a:prstGeom prst="rect">
            <a:avLst/>
          </a:prstGeom>
          <a:noFill/>
        </p:spPr>
        <p:txBody>
          <a:bodyPr wrap="square" rtlCol="0">
            <a:spAutoFit/>
          </a:bodyPr>
          <a:lstStyle/>
          <a:p>
            <a:r>
              <a:rPr lang="en-US" sz="2800" dirty="0" smtClean="0"/>
              <a:t>27</a:t>
            </a:r>
            <a:endParaRPr lang="en-US" sz="2800" dirty="0"/>
          </a:p>
        </p:txBody>
      </p:sp>
    </p:spTree>
    <p:extLst>
      <p:ext uri="{BB962C8B-B14F-4D97-AF65-F5344CB8AC3E}">
        <p14:creationId xmlns:p14="http://schemas.microsoft.com/office/powerpoint/2010/main" val="3148297455"/>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par>
                                <p:cTn id="10" presetID="53" presetClass="entr" presetSubtype="16"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p:cTn id="19" dur="500" fill="hold"/>
                                        <p:tgtEl>
                                          <p:spTgt spid="13"/>
                                        </p:tgtEl>
                                        <p:attrNameLst>
                                          <p:attrName>ppt_w</p:attrName>
                                        </p:attrNameLst>
                                      </p:cBhvr>
                                      <p:tavLst>
                                        <p:tav tm="0">
                                          <p:val>
                                            <p:fltVal val="0"/>
                                          </p:val>
                                        </p:tav>
                                        <p:tav tm="100000">
                                          <p:val>
                                            <p:strVal val="#ppt_w"/>
                                          </p:val>
                                        </p:tav>
                                      </p:tavLst>
                                    </p:anim>
                                    <p:anim calcmode="lin" valueType="num">
                                      <p:cBhvr>
                                        <p:cTn id="20" dur="500" fill="hold"/>
                                        <p:tgtEl>
                                          <p:spTgt spid="13"/>
                                        </p:tgtEl>
                                        <p:attrNameLst>
                                          <p:attrName>ppt_h</p:attrName>
                                        </p:attrNameLst>
                                      </p:cBhvr>
                                      <p:tavLst>
                                        <p:tav tm="0">
                                          <p:val>
                                            <p:fltVal val="0"/>
                                          </p:val>
                                        </p:tav>
                                        <p:tav tm="100000">
                                          <p:val>
                                            <p:strVal val="#ppt_h"/>
                                          </p:val>
                                        </p:tav>
                                      </p:tavLst>
                                    </p:anim>
                                    <p:animEffect transition="in" filter="fade">
                                      <p:cBhvr>
                                        <p:cTn id="21" dur="500"/>
                                        <p:tgtEl>
                                          <p:spTgt spid="13"/>
                                        </p:tgtEl>
                                      </p:cBhvr>
                                    </p:animEffect>
                                  </p:childTnLst>
                                </p:cTn>
                              </p:par>
                              <p:par>
                                <p:cTn id="22" presetID="53" presetClass="entr" presetSubtype="16"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p:cTn id="24" dur="500" fill="hold"/>
                                        <p:tgtEl>
                                          <p:spTgt spid="9"/>
                                        </p:tgtEl>
                                        <p:attrNameLst>
                                          <p:attrName>ppt_w</p:attrName>
                                        </p:attrNameLst>
                                      </p:cBhvr>
                                      <p:tavLst>
                                        <p:tav tm="0">
                                          <p:val>
                                            <p:fltVal val="0"/>
                                          </p:val>
                                        </p:tav>
                                        <p:tav tm="100000">
                                          <p:val>
                                            <p:strVal val="#ppt_w"/>
                                          </p:val>
                                        </p:tav>
                                      </p:tavLst>
                                    </p:anim>
                                    <p:anim calcmode="lin" valueType="num">
                                      <p:cBhvr>
                                        <p:cTn id="25" dur="500" fill="hold"/>
                                        <p:tgtEl>
                                          <p:spTgt spid="9"/>
                                        </p:tgtEl>
                                        <p:attrNameLst>
                                          <p:attrName>ppt_h</p:attrName>
                                        </p:attrNameLst>
                                      </p:cBhvr>
                                      <p:tavLst>
                                        <p:tav tm="0">
                                          <p:val>
                                            <p:fltVal val="0"/>
                                          </p:val>
                                        </p:tav>
                                        <p:tav tm="100000">
                                          <p:val>
                                            <p:strVal val="#ppt_h"/>
                                          </p:val>
                                        </p:tav>
                                      </p:tavLst>
                                    </p:anim>
                                    <p:animEffect transition="in" filter="fade">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p:cTn id="31" dur="500" fill="hold"/>
                                        <p:tgtEl>
                                          <p:spTgt spid="14"/>
                                        </p:tgtEl>
                                        <p:attrNameLst>
                                          <p:attrName>ppt_w</p:attrName>
                                        </p:attrNameLst>
                                      </p:cBhvr>
                                      <p:tavLst>
                                        <p:tav tm="0">
                                          <p:val>
                                            <p:fltVal val="0"/>
                                          </p:val>
                                        </p:tav>
                                        <p:tav tm="100000">
                                          <p:val>
                                            <p:strVal val="#ppt_w"/>
                                          </p:val>
                                        </p:tav>
                                      </p:tavLst>
                                    </p:anim>
                                    <p:anim calcmode="lin" valueType="num">
                                      <p:cBhvr>
                                        <p:cTn id="32" dur="500" fill="hold"/>
                                        <p:tgtEl>
                                          <p:spTgt spid="14"/>
                                        </p:tgtEl>
                                        <p:attrNameLst>
                                          <p:attrName>ppt_h</p:attrName>
                                        </p:attrNameLst>
                                      </p:cBhvr>
                                      <p:tavLst>
                                        <p:tav tm="0">
                                          <p:val>
                                            <p:fltVal val="0"/>
                                          </p:val>
                                        </p:tav>
                                        <p:tav tm="100000">
                                          <p:val>
                                            <p:strVal val="#ppt_h"/>
                                          </p:val>
                                        </p:tav>
                                      </p:tavLst>
                                    </p:anim>
                                    <p:animEffect transition="in" filter="fade">
                                      <p:cBhvr>
                                        <p:cTn id="33" dur="500"/>
                                        <p:tgtEl>
                                          <p:spTgt spid="14"/>
                                        </p:tgtEl>
                                      </p:cBhvr>
                                    </p:animEffect>
                                  </p:childTnLst>
                                </p:cTn>
                              </p:par>
                              <p:par>
                                <p:cTn id="34" presetID="53" presetClass="entr" presetSubtype="16" fill="hold" nodeType="with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ppt_w</p:attrName>
                                        </p:attrNameLst>
                                      </p:cBhvr>
                                      <p:tavLst>
                                        <p:tav tm="0">
                                          <p:val>
                                            <p:fltVal val="0"/>
                                          </p:val>
                                        </p:tav>
                                        <p:tav tm="100000">
                                          <p:val>
                                            <p:strVal val="#ppt_w"/>
                                          </p:val>
                                        </p:tav>
                                      </p:tavLst>
                                    </p:anim>
                                    <p:anim calcmode="lin" valueType="num">
                                      <p:cBhvr>
                                        <p:cTn id="37" dur="500" fill="hold"/>
                                        <p:tgtEl>
                                          <p:spTgt spid="8"/>
                                        </p:tgtEl>
                                        <p:attrNameLst>
                                          <p:attrName>ppt_h</p:attrName>
                                        </p:attrNameLst>
                                      </p:cBhvr>
                                      <p:tavLst>
                                        <p:tav tm="0">
                                          <p:val>
                                            <p:fltVal val="0"/>
                                          </p:val>
                                        </p:tav>
                                        <p:tav tm="100000">
                                          <p:val>
                                            <p:strVal val="#ppt_h"/>
                                          </p:val>
                                        </p:tav>
                                      </p:tavLst>
                                    </p:anim>
                                    <p:animEffect transition="in" filter="fade">
                                      <p:cBhvr>
                                        <p:cTn id="38" dur="500"/>
                                        <p:tgtEl>
                                          <p:spTgt spid="8"/>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p:cTn id="43" dur="500" fill="hold"/>
                                        <p:tgtEl>
                                          <p:spTgt spid="11"/>
                                        </p:tgtEl>
                                        <p:attrNameLst>
                                          <p:attrName>ppt_w</p:attrName>
                                        </p:attrNameLst>
                                      </p:cBhvr>
                                      <p:tavLst>
                                        <p:tav tm="0">
                                          <p:val>
                                            <p:fltVal val="0"/>
                                          </p:val>
                                        </p:tav>
                                        <p:tav tm="100000">
                                          <p:val>
                                            <p:strVal val="#ppt_w"/>
                                          </p:val>
                                        </p:tav>
                                      </p:tavLst>
                                    </p:anim>
                                    <p:anim calcmode="lin" valueType="num">
                                      <p:cBhvr>
                                        <p:cTn id="44" dur="500" fill="hold"/>
                                        <p:tgtEl>
                                          <p:spTgt spid="11"/>
                                        </p:tgtEl>
                                        <p:attrNameLst>
                                          <p:attrName>ppt_h</p:attrName>
                                        </p:attrNameLst>
                                      </p:cBhvr>
                                      <p:tavLst>
                                        <p:tav tm="0">
                                          <p:val>
                                            <p:fltVal val="0"/>
                                          </p:val>
                                        </p:tav>
                                        <p:tav tm="100000">
                                          <p:val>
                                            <p:strVal val="#ppt_h"/>
                                          </p:val>
                                        </p:tav>
                                      </p:tavLst>
                                    </p:anim>
                                    <p:animEffect transition="in" filter="fade">
                                      <p:cBhvr>
                                        <p:cTn id="45" dur="500"/>
                                        <p:tgtEl>
                                          <p:spTgt spid="11"/>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15"/>
                                        </p:tgtEl>
                                        <p:attrNameLst>
                                          <p:attrName>style.visibility</p:attrName>
                                        </p:attrNameLst>
                                      </p:cBhvr>
                                      <p:to>
                                        <p:strVal val="visible"/>
                                      </p:to>
                                    </p:set>
                                    <p:anim calcmode="lin" valueType="num">
                                      <p:cBhvr>
                                        <p:cTn id="48" dur="500" fill="hold"/>
                                        <p:tgtEl>
                                          <p:spTgt spid="15"/>
                                        </p:tgtEl>
                                        <p:attrNameLst>
                                          <p:attrName>ppt_w</p:attrName>
                                        </p:attrNameLst>
                                      </p:cBhvr>
                                      <p:tavLst>
                                        <p:tav tm="0">
                                          <p:val>
                                            <p:fltVal val="0"/>
                                          </p:val>
                                        </p:tav>
                                        <p:tav tm="100000">
                                          <p:val>
                                            <p:strVal val="#ppt_w"/>
                                          </p:val>
                                        </p:tav>
                                      </p:tavLst>
                                    </p:anim>
                                    <p:anim calcmode="lin" valueType="num">
                                      <p:cBhvr>
                                        <p:cTn id="49" dur="500" fill="hold"/>
                                        <p:tgtEl>
                                          <p:spTgt spid="15"/>
                                        </p:tgtEl>
                                        <p:attrNameLst>
                                          <p:attrName>ppt_h</p:attrName>
                                        </p:attrNameLst>
                                      </p:cBhvr>
                                      <p:tavLst>
                                        <p:tav tm="0">
                                          <p:val>
                                            <p:fltVal val="0"/>
                                          </p:val>
                                        </p:tav>
                                        <p:tav tm="100000">
                                          <p:val>
                                            <p:strVal val="#ppt_h"/>
                                          </p:val>
                                        </p:tav>
                                      </p:tavLst>
                                    </p:anim>
                                    <p:animEffect transition="in" filter="fade">
                                      <p:cBhvr>
                                        <p:cTn id="5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336674" y="-6604364"/>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4" name="Freeform 4"/>
          <p:cNvSpPr/>
          <p:nvPr/>
        </p:nvSpPr>
        <p:spPr>
          <a:xfrm>
            <a:off x="6039751" y="8955191"/>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17" name="TextBox 16"/>
          <p:cNvSpPr txBox="1"/>
          <p:nvPr/>
        </p:nvSpPr>
        <p:spPr>
          <a:xfrm>
            <a:off x="16687800" y="9182100"/>
            <a:ext cx="1295400" cy="523220"/>
          </a:xfrm>
          <a:prstGeom prst="rect">
            <a:avLst/>
          </a:prstGeom>
          <a:noFill/>
        </p:spPr>
        <p:txBody>
          <a:bodyPr wrap="square" rtlCol="0">
            <a:spAutoFit/>
          </a:bodyPr>
          <a:lstStyle/>
          <a:p>
            <a:r>
              <a:rPr lang="en-US" sz="2800" dirty="0" smtClean="0"/>
              <a:t>28</a:t>
            </a:r>
            <a:endParaRPr lang="en-US" sz="2800" dirty="0"/>
          </a:p>
        </p:txBody>
      </p:sp>
      <p:pic>
        <p:nvPicPr>
          <p:cNvPr id="5" name="Picture 4"/>
          <p:cNvPicPr>
            <a:picLocks noChangeAspect="1"/>
          </p:cNvPicPr>
          <p:nvPr/>
        </p:nvPicPr>
        <p:blipFill>
          <a:blip r:embed="rId4"/>
          <a:stretch>
            <a:fillRect/>
          </a:stretch>
        </p:blipFill>
        <p:spPr>
          <a:xfrm>
            <a:off x="0" y="2171700"/>
            <a:ext cx="18264554" cy="6324600"/>
          </a:xfrm>
          <a:prstGeom prst="rect">
            <a:avLst/>
          </a:prstGeom>
        </p:spPr>
      </p:pic>
    </p:spTree>
    <p:extLst>
      <p:ext uri="{BB962C8B-B14F-4D97-AF65-F5344CB8AC3E}">
        <p14:creationId xmlns:p14="http://schemas.microsoft.com/office/powerpoint/2010/main" val="371195374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stretch>
            <a:fillRect/>
          </a:stretch>
        </p:blipFill>
        <p:spPr>
          <a:xfrm>
            <a:off x="3505200" y="2888268"/>
            <a:ext cx="12392795" cy="6453185"/>
          </a:xfrm>
          <a:prstGeom prst="rect">
            <a:avLst/>
          </a:prstGeom>
        </p:spPr>
      </p:pic>
      <p:sp>
        <p:nvSpPr>
          <p:cNvPr id="2" name="Freeform 2"/>
          <p:cNvSpPr/>
          <p:nvPr/>
        </p:nvSpPr>
        <p:spPr>
          <a:xfrm>
            <a:off x="-2336674" y="-6604364"/>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4"/>
            <a:stretch>
              <a:fillRect/>
            </a:stretch>
          </a:blipFill>
        </p:spPr>
      </p:sp>
      <p:sp>
        <p:nvSpPr>
          <p:cNvPr id="4" name="Freeform 4"/>
          <p:cNvSpPr/>
          <p:nvPr/>
        </p:nvSpPr>
        <p:spPr>
          <a:xfrm>
            <a:off x="6039751" y="8955191"/>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4"/>
            <a:stretch>
              <a:fillRect/>
            </a:stretch>
          </a:blipFill>
        </p:spPr>
      </p:sp>
      <p:sp>
        <p:nvSpPr>
          <p:cNvPr id="17" name="TextBox 16"/>
          <p:cNvSpPr txBox="1"/>
          <p:nvPr/>
        </p:nvSpPr>
        <p:spPr>
          <a:xfrm>
            <a:off x="16687800" y="9182100"/>
            <a:ext cx="1295400" cy="523220"/>
          </a:xfrm>
          <a:prstGeom prst="rect">
            <a:avLst/>
          </a:prstGeom>
          <a:noFill/>
        </p:spPr>
        <p:txBody>
          <a:bodyPr wrap="square" rtlCol="0">
            <a:spAutoFit/>
          </a:bodyPr>
          <a:lstStyle/>
          <a:p>
            <a:r>
              <a:rPr lang="en-US" sz="2800" dirty="0" smtClean="0"/>
              <a:t>29</a:t>
            </a:r>
            <a:endParaRPr lang="en-US" sz="2800" dirty="0"/>
          </a:p>
        </p:txBody>
      </p:sp>
      <p:sp>
        <p:nvSpPr>
          <p:cNvPr id="6" name="Freeform 3"/>
          <p:cNvSpPr/>
          <p:nvPr/>
        </p:nvSpPr>
        <p:spPr>
          <a:xfrm>
            <a:off x="5943600" y="571500"/>
            <a:ext cx="7696199" cy="2396598"/>
          </a:xfrm>
          <a:custGeom>
            <a:avLst/>
            <a:gdLst/>
            <a:ahLst/>
            <a:cxnLst/>
            <a:rect l="l" t="t" r="r" b="b"/>
            <a:pathLst>
              <a:path w="5934317" h="2028458">
                <a:moveTo>
                  <a:pt x="0" y="0"/>
                </a:moveTo>
                <a:lnTo>
                  <a:pt x="5934318" y="0"/>
                </a:lnTo>
                <a:lnTo>
                  <a:pt x="5934318" y="2028458"/>
                </a:lnTo>
                <a:lnTo>
                  <a:pt x="0" y="2028458"/>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txBody>
          <a:bodyPr/>
          <a:lstStyle/>
          <a:p>
            <a:endParaRPr lang="en-US" dirty="0"/>
          </a:p>
        </p:txBody>
      </p:sp>
      <p:sp>
        <p:nvSpPr>
          <p:cNvPr id="7" name="TextBox 10"/>
          <p:cNvSpPr txBox="1"/>
          <p:nvPr/>
        </p:nvSpPr>
        <p:spPr>
          <a:xfrm>
            <a:off x="6210111" y="833645"/>
            <a:ext cx="7081959" cy="1792478"/>
          </a:xfrm>
          <a:prstGeom prst="rect">
            <a:avLst/>
          </a:prstGeom>
        </p:spPr>
        <p:txBody>
          <a:bodyPr wrap="square" lIns="0" tIns="0" rIns="0" bIns="0" rtlCol="0" anchor="t">
            <a:spAutoFit/>
          </a:bodyPr>
          <a:lstStyle/>
          <a:p>
            <a:pPr algn="ctr">
              <a:lnSpc>
                <a:spcPts val="7279"/>
              </a:lnSpc>
            </a:pPr>
            <a:r>
              <a:rPr lang="en-US" sz="5199" dirty="0" smtClean="0">
                <a:solidFill>
                  <a:srgbClr val="022C5E"/>
                </a:solidFill>
                <a:latin typeface="Hobo"/>
                <a:ea typeface="Hobo"/>
                <a:cs typeface="Hobo"/>
                <a:sym typeface="Hobo"/>
              </a:rPr>
              <a:t>Components in LlamaIndex to build RAG</a:t>
            </a:r>
            <a:endParaRPr lang="en-US" sz="5199" dirty="0">
              <a:solidFill>
                <a:srgbClr val="022C5E"/>
              </a:solidFill>
              <a:latin typeface="Hobo"/>
              <a:ea typeface="Hobo"/>
              <a:cs typeface="Hobo"/>
              <a:sym typeface="Hobo"/>
            </a:endParaRPr>
          </a:p>
        </p:txBody>
      </p:sp>
    </p:spTree>
    <p:extLst>
      <p:ext uri="{BB962C8B-B14F-4D97-AF65-F5344CB8AC3E}">
        <p14:creationId xmlns:p14="http://schemas.microsoft.com/office/powerpoint/2010/main" val="842864156"/>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duotone>
              <a:schemeClr val="accent1">
                <a:shade val="45000"/>
                <a:satMod val="135000"/>
              </a:schemeClr>
              <a:prstClr val="white"/>
            </a:duotone>
          </a:blip>
          <a:stretch>
            <a:fillRect/>
          </a:stretch>
        </p:blipFill>
        <p:spPr>
          <a:xfrm>
            <a:off x="3733800" y="3297275"/>
            <a:ext cx="10591800" cy="6042970"/>
          </a:xfrm>
          <a:prstGeom prst="rect">
            <a:avLst/>
          </a:prstGeom>
          <a:ln>
            <a:noFill/>
          </a:ln>
          <a:effectLst>
            <a:softEdge rad="112500"/>
          </a:effectLst>
        </p:spPr>
      </p:pic>
      <p:sp>
        <p:nvSpPr>
          <p:cNvPr id="2" name="Freeform 2"/>
          <p:cNvSpPr/>
          <p:nvPr/>
        </p:nvSpPr>
        <p:spPr>
          <a:xfrm>
            <a:off x="-2336674" y="-6604364"/>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4"/>
            <a:stretch>
              <a:fillRect/>
            </a:stretch>
          </a:blipFill>
        </p:spPr>
      </p:sp>
      <p:sp>
        <p:nvSpPr>
          <p:cNvPr id="3" name="Freeform 3"/>
          <p:cNvSpPr/>
          <p:nvPr/>
        </p:nvSpPr>
        <p:spPr>
          <a:xfrm>
            <a:off x="6039751" y="1028700"/>
            <a:ext cx="5934317" cy="2028458"/>
          </a:xfrm>
          <a:custGeom>
            <a:avLst/>
            <a:gdLst/>
            <a:ahLst/>
            <a:cxnLst/>
            <a:rect l="l" t="t" r="r" b="b"/>
            <a:pathLst>
              <a:path w="5934317" h="2028458">
                <a:moveTo>
                  <a:pt x="0" y="0"/>
                </a:moveTo>
                <a:lnTo>
                  <a:pt x="5934317" y="0"/>
                </a:lnTo>
                <a:lnTo>
                  <a:pt x="5934317" y="2028458"/>
                </a:lnTo>
                <a:lnTo>
                  <a:pt x="0" y="2028458"/>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4" name="Freeform 4"/>
          <p:cNvSpPr/>
          <p:nvPr/>
        </p:nvSpPr>
        <p:spPr>
          <a:xfrm>
            <a:off x="6039751" y="8955191"/>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4"/>
            <a:stretch>
              <a:fillRect/>
            </a:stretch>
          </a:blipFill>
        </p:spPr>
      </p:sp>
      <p:sp>
        <p:nvSpPr>
          <p:cNvPr id="6" name="TextBox 6"/>
          <p:cNvSpPr txBox="1"/>
          <p:nvPr/>
        </p:nvSpPr>
        <p:spPr>
          <a:xfrm>
            <a:off x="7035049" y="1331991"/>
            <a:ext cx="4547351" cy="1661993"/>
          </a:xfrm>
          <a:prstGeom prst="rect">
            <a:avLst/>
          </a:prstGeom>
        </p:spPr>
        <p:txBody>
          <a:bodyPr wrap="square" lIns="0" tIns="0" rIns="0" bIns="0" rtlCol="0" anchor="t">
            <a:spAutoFit/>
          </a:bodyPr>
          <a:lstStyle/>
          <a:p>
            <a:r>
              <a:rPr lang="en-US" sz="5400" b="1" dirty="0">
                <a:solidFill>
                  <a:srgbClr val="17375E"/>
                </a:solidFill>
                <a:latin typeface="Hobo" panose="020B0604020202020204" charset="0"/>
              </a:rPr>
              <a:t>Using Tools in LlamaIndex</a:t>
            </a:r>
          </a:p>
        </p:txBody>
      </p:sp>
      <p:sp>
        <p:nvSpPr>
          <p:cNvPr id="17" name="TextBox 16"/>
          <p:cNvSpPr txBox="1"/>
          <p:nvPr/>
        </p:nvSpPr>
        <p:spPr>
          <a:xfrm>
            <a:off x="16687800" y="9182100"/>
            <a:ext cx="1295400" cy="523220"/>
          </a:xfrm>
          <a:prstGeom prst="rect">
            <a:avLst/>
          </a:prstGeom>
          <a:noFill/>
        </p:spPr>
        <p:txBody>
          <a:bodyPr wrap="square" rtlCol="0">
            <a:spAutoFit/>
          </a:bodyPr>
          <a:lstStyle/>
          <a:p>
            <a:r>
              <a:rPr lang="en-US" sz="2800" dirty="0" smtClean="0"/>
              <a:t>30</a:t>
            </a:r>
            <a:endParaRPr lang="en-US" sz="2800" dirty="0"/>
          </a:p>
        </p:txBody>
      </p:sp>
      <p:sp>
        <p:nvSpPr>
          <p:cNvPr id="7" name="TextBox 6"/>
          <p:cNvSpPr txBox="1"/>
          <p:nvPr/>
        </p:nvSpPr>
        <p:spPr>
          <a:xfrm>
            <a:off x="14287500" y="8628102"/>
            <a:ext cx="1219200" cy="553998"/>
          </a:xfrm>
          <a:prstGeom prst="rect">
            <a:avLst/>
          </a:prstGeom>
          <a:noFill/>
        </p:spPr>
        <p:txBody>
          <a:bodyPr wrap="square" rtlCol="0">
            <a:spAutoFit/>
          </a:bodyPr>
          <a:lstStyle/>
          <a:p>
            <a:r>
              <a:rPr lang="en-US" sz="3000" dirty="0" smtClean="0">
                <a:solidFill>
                  <a:srgbClr val="17375E"/>
                </a:solidFill>
                <a:latin typeface="Open Sans" panose="020B0604020202020204" charset="0"/>
                <a:ea typeface="Open Sans" panose="020B0604020202020204" charset="0"/>
                <a:cs typeface="Open Sans" panose="020B0604020202020204" charset="0"/>
                <a:hlinkClick r:id="rId7" action="ppaction://hlinksldjump"/>
              </a:rPr>
              <a:t>[6]</a:t>
            </a:r>
            <a:endParaRPr lang="en-US" sz="3000" dirty="0">
              <a:solidFill>
                <a:srgbClr val="17375E"/>
              </a:solidFill>
              <a:latin typeface="Open Sans" panose="020B0604020202020204" charset="0"/>
              <a:ea typeface="Open Sans" panose="020B0604020202020204" charset="0"/>
              <a:cs typeface="Open Sans" panose="020B0604020202020204" charset="0"/>
            </a:endParaRPr>
          </a:p>
        </p:txBody>
      </p:sp>
    </p:spTree>
    <p:extLst>
      <p:ext uri="{BB962C8B-B14F-4D97-AF65-F5344CB8AC3E}">
        <p14:creationId xmlns:p14="http://schemas.microsoft.com/office/powerpoint/2010/main" val="1785407889"/>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336674" y="-6604364"/>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3" name="Freeform 3"/>
          <p:cNvSpPr/>
          <p:nvPr/>
        </p:nvSpPr>
        <p:spPr>
          <a:xfrm>
            <a:off x="6039751" y="1028700"/>
            <a:ext cx="5934317" cy="2028458"/>
          </a:xfrm>
          <a:custGeom>
            <a:avLst/>
            <a:gdLst/>
            <a:ahLst/>
            <a:cxnLst/>
            <a:rect l="l" t="t" r="r" b="b"/>
            <a:pathLst>
              <a:path w="5934317" h="2028458">
                <a:moveTo>
                  <a:pt x="0" y="0"/>
                </a:moveTo>
                <a:lnTo>
                  <a:pt x="5934317" y="0"/>
                </a:lnTo>
                <a:lnTo>
                  <a:pt x="5934317" y="2028458"/>
                </a:lnTo>
                <a:lnTo>
                  <a:pt x="0" y="202845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a:off x="6039751" y="8955191"/>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6" name="TextBox 6"/>
          <p:cNvSpPr txBox="1"/>
          <p:nvPr/>
        </p:nvSpPr>
        <p:spPr>
          <a:xfrm>
            <a:off x="7010400" y="1211932"/>
            <a:ext cx="4547351" cy="1661993"/>
          </a:xfrm>
          <a:prstGeom prst="rect">
            <a:avLst/>
          </a:prstGeom>
        </p:spPr>
        <p:txBody>
          <a:bodyPr wrap="square" lIns="0" tIns="0" rIns="0" bIns="0" rtlCol="0" anchor="t">
            <a:spAutoFit/>
          </a:bodyPr>
          <a:lstStyle/>
          <a:p>
            <a:r>
              <a:rPr lang="en-US" sz="5400" b="1" dirty="0" smtClean="0">
                <a:solidFill>
                  <a:srgbClr val="17375E"/>
                </a:solidFill>
                <a:latin typeface="Hobo" panose="020B0604020202020204" charset="0"/>
              </a:rPr>
              <a:t>Creating a Function Tool</a:t>
            </a:r>
            <a:endParaRPr lang="en-US" sz="5400" b="1" dirty="0">
              <a:solidFill>
                <a:srgbClr val="17375E"/>
              </a:solidFill>
              <a:latin typeface="Hobo" panose="020B0604020202020204" charset="0"/>
            </a:endParaRPr>
          </a:p>
        </p:txBody>
      </p:sp>
      <p:sp>
        <p:nvSpPr>
          <p:cNvPr id="17" name="TextBox 16"/>
          <p:cNvSpPr txBox="1"/>
          <p:nvPr/>
        </p:nvSpPr>
        <p:spPr>
          <a:xfrm>
            <a:off x="16687800" y="9182100"/>
            <a:ext cx="1295400" cy="523220"/>
          </a:xfrm>
          <a:prstGeom prst="rect">
            <a:avLst/>
          </a:prstGeom>
          <a:noFill/>
        </p:spPr>
        <p:txBody>
          <a:bodyPr wrap="square" rtlCol="0">
            <a:spAutoFit/>
          </a:bodyPr>
          <a:lstStyle/>
          <a:p>
            <a:r>
              <a:rPr lang="en-US" sz="2800" dirty="0" smtClean="0"/>
              <a:t>31</a:t>
            </a:r>
            <a:endParaRPr lang="en-US" sz="2800" dirty="0"/>
          </a:p>
        </p:txBody>
      </p:sp>
      <p:sp>
        <p:nvSpPr>
          <p:cNvPr id="7" name="Rectangle 1"/>
          <p:cNvSpPr>
            <a:spLocks noChangeArrowheads="1"/>
          </p:cNvSpPr>
          <p:nvPr/>
        </p:nvSpPr>
        <p:spPr bwMode="auto">
          <a:xfrm>
            <a:off x="727465" y="3452169"/>
            <a:ext cx="12533880" cy="3810486"/>
          </a:xfrm>
          <a:prstGeom prst="rect">
            <a:avLst/>
          </a:prstGeom>
          <a:solidFill>
            <a:srgbClr val="F9FAFB">
              <a:alpha val="0"/>
            </a:srgbClr>
          </a:solidFill>
          <a:ln>
            <a:noFill/>
          </a:ln>
          <a:effectLst/>
        </p:spPr>
        <p:txBody>
          <a:bodyPr vert="horz" wrap="none" lIns="0" tIns="271377" rIns="0" bIns="271377" numCol="1" anchor="ctr" anchorCtr="0" compatLnSpc="1">
            <a:prstTxWarp prst="textNoShape">
              <a:avLst/>
            </a:prstTxWarp>
            <a:spAutoFit/>
          </a:bodyPr>
          <a:lstStyle/>
          <a:p>
            <a:pPr lvl="0" eaLnBrk="0" fontAlgn="base" hangingPunct="0">
              <a:spcBef>
                <a:spcPct val="0"/>
              </a:spcBef>
              <a:spcAft>
                <a:spcPct val="0"/>
              </a:spcAft>
            </a:pPr>
            <a:r>
              <a:rPr lang="en-US" altLang="en-US" sz="3000" dirty="0">
                <a:solidFill>
                  <a:srgbClr val="A626A4"/>
                </a:solidFill>
                <a:latin typeface="Open Sans" panose="020B0604020202020204" charset="0"/>
                <a:ea typeface="Open Sans" panose="020B0604020202020204" charset="0"/>
                <a:cs typeface="Open Sans" panose="020B0604020202020204" charset="0"/>
              </a:rPr>
              <a:t>from</a:t>
            </a:r>
            <a:r>
              <a:rPr lang="en-US" altLang="en-US" sz="3000" dirty="0">
                <a:solidFill>
                  <a:srgbClr val="4A5565"/>
                </a:solidFill>
                <a:latin typeface="Open Sans" panose="020B0604020202020204" charset="0"/>
                <a:ea typeface="Open Sans" panose="020B0604020202020204" charset="0"/>
                <a:cs typeface="Open Sans" panose="020B0604020202020204" charset="0"/>
              </a:rPr>
              <a:t> </a:t>
            </a:r>
            <a:r>
              <a:rPr lang="en-US" altLang="en-US" sz="3000" dirty="0">
                <a:solidFill>
                  <a:srgbClr val="17375E"/>
                </a:solidFill>
                <a:latin typeface="Open Sans" panose="020B0604020202020204" charset="0"/>
                <a:ea typeface="Open Sans" panose="020B0604020202020204" charset="0"/>
                <a:cs typeface="Open Sans" panose="020B0604020202020204" charset="0"/>
              </a:rPr>
              <a:t>llama_index.core.tools</a:t>
            </a:r>
            <a:r>
              <a:rPr lang="en-US" altLang="en-US" sz="3000" dirty="0">
                <a:solidFill>
                  <a:srgbClr val="4A5565"/>
                </a:solidFill>
                <a:latin typeface="Open Sans" panose="020B0604020202020204" charset="0"/>
                <a:ea typeface="Open Sans" panose="020B0604020202020204" charset="0"/>
                <a:cs typeface="Open Sans" panose="020B0604020202020204" charset="0"/>
              </a:rPr>
              <a:t> </a:t>
            </a:r>
            <a:r>
              <a:rPr lang="en-US" altLang="en-US" sz="3000" dirty="0">
                <a:solidFill>
                  <a:srgbClr val="A626A4"/>
                </a:solidFill>
                <a:latin typeface="Open Sans" panose="020B0604020202020204" charset="0"/>
                <a:ea typeface="Open Sans" panose="020B0604020202020204" charset="0"/>
                <a:cs typeface="Open Sans" panose="020B0604020202020204" charset="0"/>
              </a:rPr>
              <a:t>import</a:t>
            </a:r>
            <a:r>
              <a:rPr lang="en-US" altLang="en-US" sz="3000" dirty="0">
                <a:solidFill>
                  <a:srgbClr val="4A5565"/>
                </a:solidFill>
                <a:latin typeface="Open Sans" panose="020B0604020202020204" charset="0"/>
                <a:ea typeface="Open Sans" panose="020B0604020202020204" charset="0"/>
                <a:cs typeface="Open Sans" panose="020B0604020202020204" charset="0"/>
              </a:rPr>
              <a:t> </a:t>
            </a:r>
            <a:r>
              <a:rPr lang="en-US" altLang="en-US" sz="3000" dirty="0">
                <a:solidFill>
                  <a:srgbClr val="17375E"/>
                </a:solidFill>
                <a:latin typeface="Open Sans" panose="020B0604020202020204" charset="0"/>
                <a:ea typeface="Open Sans" panose="020B0604020202020204" charset="0"/>
                <a:cs typeface="Open Sans" panose="020B0604020202020204" charset="0"/>
              </a:rPr>
              <a:t>FunctionTool</a:t>
            </a:r>
            <a:endParaRPr kumimoji="0" lang="en-US" altLang="en-US" sz="3000" b="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rPr>
              <a:t>tool = FunctionTool.from_defaults(</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3000" dirty="0">
                <a:solidFill>
                  <a:srgbClr val="17375E"/>
                </a:solidFill>
                <a:latin typeface="Open Sans" panose="020B0604020202020204" charset="0"/>
                <a:ea typeface="Open Sans" panose="020B0604020202020204" charset="0"/>
                <a:cs typeface="Open Sans" panose="020B0604020202020204" charset="0"/>
              </a:rPr>
              <a:t>	</a:t>
            </a:r>
            <a:r>
              <a:rPr kumimoji="0" lang="en-US" altLang="en-US" sz="3000" b="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rPr>
              <a:t>get_weather,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3000" dirty="0">
                <a:solidFill>
                  <a:srgbClr val="17375E"/>
                </a:solidFill>
                <a:latin typeface="Open Sans" panose="020B0604020202020204" charset="0"/>
                <a:ea typeface="Open Sans" panose="020B0604020202020204" charset="0"/>
                <a:cs typeface="Open Sans" panose="020B0604020202020204" charset="0"/>
              </a:rPr>
              <a:t>	</a:t>
            </a:r>
            <a:r>
              <a:rPr kumimoji="0" lang="en-US" altLang="en-US" sz="3000" b="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rPr>
              <a:t>name="my_weather_tool",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3000" dirty="0">
                <a:solidFill>
                  <a:srgbClr val="17375E"/>
                </a:solidFill>
                <a:latin typeface="Open Sans" panose="020B0604020202020204" charset="0"/>
                <a:ea typeface="Open Sans" panose="020B0604020202020204" charset="0"/>
                <a:cs typeface="Open Sans" panose="020B0604020202020204" charset="0"/>
              </a:rPr>
              <a:t>	</a:t>
            </a:r>
            <a:r>
              <a:rPr kumimoji="0" lang="en-US" altLang="en-US" sz="3000" b="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rPr>
              <a:t>description="Useful for getting the weather for a given location.",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rPr>
              <a:t>tool.call("New York") </a:t>
            </a:r>
          </a:p>
        </p:txBody>
      </p:sp>
      <p:cxnSp>
        <p:nvCxnSpPr>
          <p:cNvPr id="9" name="Straight Arrow Connector 8"/>
          <p:cNvCxnSpPr/>
          <p:nvPr/>
        </p:nvCxnSpPr>
        <p:spPr>
          <a:xfrm>
            <a:off x="4191000" y="4914900"/>
            <a:ext cx="4200293" cy="0"/>
          </a:xfrm>
          <a:prstGeom prst="straightConnector1">
            <a:avLst/>
          </a:prstGeom>
          <a:ln>
            <a:solidFill>
              <a:srgbClr val="78B3DA"/>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8692948" y="4619879"/>
            <a:ext cx="3657600" cy="523220"/>
          </a:xfrm>
          <a:prstGeom prst="rect">
            <a:avLst/>
          </a:prstGeom>
          <a:noFill/>
        </p:spPr>
        <p:txBody>
          <a:bodyPr wrap="square" rtlCol="0">
            <a:spAutoFit/>
          </a:bodyPr>
          <a:lstStyle/>
          <a:p>
            <a:r>
              <a:rPr lang="en-US" sz="2800" dirty="0" smtClean="0">
                <a:solidFill>
                  <a:schemeClr val="tx2">
                    <a:lumMod val="60000"/>
                    <a:lumOff val="40000"/>
                  </a:schemeClr>
                </a:solidFill>
                <a:latin typeface="Open Sans" panose="020B0604020202020204" charset="0"/>
                <a:ea typeface="Open Sans" panose="020B0604020202020204" charset="0"/>
                <a:cs typeface="Open Sans" panose="020B0604020202020204" charset="0"/>
              </a:rPr>
              <a:t>Name Of Function</a:t>
            </a:r>
            <a:endParaRPr lang="en-US" sz="2800" dirty="0">
              <a:solidFill>
                <a:schemeClr val="tx2">
                  <a:lumMod val="60000"/>
                  <a:lumOff val="40000"/>
                </a:schemeClr>
              </a:solidFill>
              <a:latin typeface="Open Sans" panose="020B0604020202020204" charset="0"/>
              <a:ea typeface="Open Sans" panose="020B0604020202020204" charset="0"/>
              <a:cs typeface="Open Sans" panose="020B0604020202020204" charset="0"/>
            </a:endParaRPr>
          </a:p>
        </p:txBody>
      </p:sp>
      <p:sp>
        <p:nvSpPr>
          <p:cNvPr id="11" name="Right Brace 10"/>
          <p:cNvSpPr/>
          <p:nvPr/>
        </p:nvSpPr>
        <p:spPr>
          <a:xfrm>
            <a:off x="13102111" y="5372100"/>
            <a:ext cx="594732" cy="91648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ectangle 11"/>
          <p:cNvSpPr/>
          <p:nvPr/>
        </p:nvSpPr>
        <p:spPr>
          <a:xfrm>
            <a:off x="13420579" y="4881489"/>
            <a:ext cx="4739268" cy="2246769"/>
          </a:xfrm>
          <a:prstGeom prst="rect">
            <a:avLst/>
          </a:prstGeom>
        </p:spPr>
        <p:txBody>
          <a:bodyPr wrap="square">
            <a:spAutoFit/>
          </a:bodyPr>
          <a:lstStyle/>
          <a:p>
            <a:r>
              <a:rPr lang="en-US" sz="2800" dirty="0">
                <a:solidFill>
                  <a:schemeClr val="tx2">
                    <a:lumMod val="60000"/>
                    <a:lumOff val="40000"/>
                  </a:schemeClr>
                </a:solidFill>
                <a:latin typeface="Open Sans" panose="020B0604020202020204" charset="0"/>
                <a:ea typeface="Open Sans" panose="020B0604020202020204" charset="0"/>
                <a:cs typeface="Open Sans" panose="020B0604020202020204" charset="0"/>
              </a:rPr>
              <a:t>The name and </a:t>
            </a:r>
            <a:r>
              <a:rPr lang="en-US" sz="2800" dirty="0" smtClean="0">
                <a:solidFill>
                  <a:schemeClr val="tx2">
                    <a:lumMod val="60000"/>
                    <a:lumOff val="40000"/>
                  </a:schemeClr>
                </a:solidFill>
                <a:latin typeface="Open Sans" panose="020B0604020202020204" charset="0"/>
                <a:ea typeface="Open Sans" panose="020B0604020202020204" charset="0"/>
                <a:cs typeface="Open Sans" panose="020B0604020202020204" charset="0"/>
              </a:rPr>
              <a:t>description</a:t>
            </a:r>
          </a:p>
          <a:p>
            <a:r>
              <a:rPr lang="en-US" sz="2800" dirty="0" smtClean="0">
                <a:solidFill>
                  <a:schemeClr val="tx2">
                    <a:lumMod val="60000"/>
                    <a:lumOff val="40000"/>
                  </a:schemeClr>
                </a:solidFill>
                <a:latin typeface="Open Sans" panose="020B0604020202020204" charset="0"/>
                <a:ea typeface="Open Sans" panose="020B0604020202020204" charset="0"/>
                <a:cs typeface="Open Sans" panose="020B0604020202020204" charset="0"/>
              </a:rPr>
              <a:t> </a:t>
            </a:r>
            <a:r>
              <a:rPr lang="en-US" sz="2800" dirty="0">
                <a:solidFill>
                  <a:schemeClr val="tx2">
                    <a:lumMod val="60000"/>
                    <a:lumOff val="40000"/>
                  </a:schemeClr>
                </a:solidFill>
                <a:latin typeface="Open Sans" panose="020B0604020202020204" charset="0"/>
                <a:ea typeface="Open Sans" panose="020B0604020202020204" charset="0"/>
                <a:cs typeface="Open Sans" panose="020B0604020202020204" charset="0"/>
              </a:rPr>
              <a:t>are particularly </a:t>
            </a:r>
            <a:r>
              <a:rPr lang="en-US" sz="2800" dirty="0" smtClean="0">
                <a:solidFill>
                  <a:schemeClr val="tx2">
                    <a:lumMod val="60000"/>
                    <a:lumOff val="40000"/>
                  </a:schemeClr>
                </a:solidFill>
                <a:latin typeface="Open Sans" panose="020B0604020202020204" charset="0"/>
                <a:ea typeface="Open Sans" panose="020B0604020202020204" charset="0"/>
                <a:cs typeface="Open Sans" panose="020B0604020202020204" charset="0"/>
              </a:rPr>
              <a:t>important</a:t>
            </a:r>
          </a:p>
          <a:p>
            <a:r>
              <a:rPr lang="en-US" sz="2800" dirty="0" smtClean="0">
                <a:solidFill>
                  <a:schemeClr val="tx2">
                    <a:lumMod val="60000"/>
                    <a:lumOff val="40000"/>
                  </a:schemeClr>
                </a:solidFill>
                <a:latin typeface="Open Sans" panose="020B0604020202020204" charset="0"/>
                <a:ea typeface="Open Sans" panose="020B0604020202020204" charset="0"/>
                <a:cs typeface="Open Sans" panose="020B0604020202020204" charset="0"/>
              </a:rPr>
              <a:t> </a:t>
            </a:r>
            <a:r>
              <a:rPr lang="en-US" sz="2800" dirty="0">
                <a:solidFill>
                  <a:schemeClr val="tx2">
                    <a:lumMod val="60000"/>
                    <a:lumOff val="40000"/>
                  </a:schemeClr>
                </a:solidFill>
                <a:latin typeface="Open Sans" panose="020B0604020202020204" charset="0"/>
                <a:ea typeface="Open Sans" panose="020B0604020202020204" charset="0"/>
                <a:cs typeface="Open Sans" panose="020B0604020202020204" charset="0"/>
              </a:rPr>
              <a:t>as they help the agent </a:t>
            </a:r>
            <a:endParaRPr lang="en-US" sz="2800" dirty="0" smtClean="0">
              <a:solidFill>
                <a:schemeClr val="tx2">
                  <a:lumMod val="60000"/>
                  <a:lumOff val="40000"/>
                </a:schemeClr>
              </a:solidFill>
              <a:latin typeface="Open Sans" panose="020B0604020202020204" charset="0"/>
              <a:ea typeface="Open Sans" panose="020B0604020202020204" charset="0"/>
              <a:cs typeface="Open Sans" panose="020B0604020202020204" charset="0"/>
            </a:endParaRPr>
          </a:p>
          <a:p>
            <a:r>
              <a:rPr lang="en-US" sz="2800" dirty="0" smtClean="0">
                <a:solidFill>
                  <a:schemeClr val="tx2">
                    <a:lumMod val="60000"/>
                    <a:lumOff val="40000"/>
                  </a:schemeClr>
                </a:solidFill>
                <a:latin typeface="Open Sans" panose="020B0604020202020204" charset="0"/>
                <a:ea typeface="Open Sans" panose="020B0604020202020204" charset="0"/>
                <a:cs typeface="Open Sans" panose="020B0604020202020204" charset="0"/>
              </a:rPr>
              <a:t>understand when </a:t>
            </a:r>
            <a:r>
              <a:rPr lang="en-US" sz="2800" dirty="0">
                <a:solidFill>
                  <a:schemeClr val="tx2">
                    <a:lumMod val="60000"/>
                    <a:lumOff val="40000"/>
                  </a:schemeClr>
                </a:solidFill>
                <a:latin typeface="Open Sans" panose="020B0604020202020204" charset="0"/>
                <a:ea typeface="Open Sans" panose="020B0604020202020204" charset="0"/>
                <a:cs typeface="Open Sans" panose="020B0604020202020204" charset="0"/>
              </a:rPr>
              <a:t>and how </a:t>
            </a:r>
            <a:endParaRPr lang="en-US" sz="2800" dirty="0" smtClean="0">
              <a:solidFill>
                <a:schemeClr val="tx2">
                  <a:lumMod val="60000"/>
                  <a:lumOff val="40000"/>
                </a:schemeClr>
              </a:solidFill>
              <a:latin typeface="Open Sans" panose="020B0604020202020204" charset="0"/>
              <a:ea typeface="Open Sans" panose="020B0604020202020204" charset="0"/>
              <a:cs typeface="Open Sans" panose="020B0604020202020204" charset="0"/>
            </a:endParaRPr>
          </a:p>
          <a:p>
            <a:r>
              <a:rPr lang="en-US" sz="2800" dirty="0" smtClean="0">
                <a:solidFill>
                  <a:schemeClr val="tx2">
                    <a:lumMod val="60000"/>
                    <a:lumOff val="40000"/>
                  </a:schemeClr>
                </a:solidFill>
                <a:latin typeface="Open Sans" panose="020B0604020202020204" charset="0"/>
                <a:ea typeface="Open Sans" panose="020B0604020202020204" charset="0"/>
                <a:cs typeface="Open Sans" panose="020B0604020202020204" charset="0"/>
              </a:rPr>
              <a:t>to </a:t>
            </a:r>
            <a:r>
              <a:rPr lang="en-US" sz="2800" dirty="0">
                <a:solidFill>
                  <a:schemeClr val="tx2">
                    <a:lumMod val="60000"/>
                    <a:lumOff val="40000"/>
                  </a:schemeClr>
                </a:solidFill>
                <a:latin typeface="Open Sans" panose="020B0604020202020204" charset="0"/>
                <a:ea typeface="Open Sans" panose="020B0604020202020204" charset="0"/>
                <a:cs typeface="Open Sans" panose="020B0604020202020204" charset="0"/>
              </a:rPr>
              <a:t>use the tool </a:t>
            </a:r>
            <a:r>
              <a:rPr lang="en-US" sz="2800" dirty="0" smtClean="0">
                <a:solidFill>
                  <a:schemeClr val="tx2">
                    <a:lumMod val="60000"/>
                    <a:lumOff val="40000"/>
                  </a:schemeClr>
                </a:solidFill>
                <a:latin typeface="Open Sans" panose="020B0604020202020204" charset="0"/>
                <a:ea typeface="Open Sans" panose="020B0604020202020204" charset="0"/>
                <a:cs typeface="Open Sans" panose="020B0604020202020204" charset="0"/>
              </a:rPr>
              <a:t>effectively</a:t>
            </a:r>
            <a:r>
              <a:rPr lang="en-US" sz="2800" dirty="0">
                <a:solidFill>
                  <a:schemeClr val="tx2">
                    <a:lumMod val="60000"/>
                    <a:lumOff val="40000"/>
                  </a:schemeClr>
                </a:solidFill>
                <a:latin typeface="Open Sans" panose="020B0604020202020204" charset="0"/>
                <a:ea typeface="Open Sans" panose="020B0604020202020204" charset="0"/>
                <a:cs typeface="Open Sans" panose="020B0604020202020204" charset="0"/>
              </a:rPr>
              <a:t>.</a:t>
            </a:r>
          </a:p>
        </p:txBody>
      </p:sp>
    </p:spTree>
    <p:extLst>
      <p:ext uri="{BB962C8B-B14F-4D97-AF65-F5344CB8AC3E}">
        <p14:creationId xmlns:p14="http://schemas.microsoft.com/office/powerpoint/2010/main" val="17405047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p:cTn id="13" dur="1000" fill="hold"/>
                                        <p:tgtEl>
                                          <p:spTgt spid="9"/>
                                        </p:tgtEl>
                                        <p:attrNameLst>
                                          <p:attrName>ppt_w</p:attrName>
                                        </p:attrNameLst>
                                      </p:cBhvr>
                                      <p:tavLst>
                                        <p:tav tm="0">
                                          <p:val>
                                            <p:fltVal val="0"/>
                                          </p:val>
                                        </p:tav>
                                        <p:tav tm="100000">
                                          <p:val>
                                            <p:strVal val="#ppt_w"/>
                                          </p:val>
                                        </p:tav>
                                      </p:tavLst>
                                    </p:anim>
                                    <p:anim calcmode="lin" valueType="num">
                                      <p:cBhvr>
                                        <p:cTn id="14" dur="1000" fill="hold"/>
                                        <p:tgtEl>
                                          <p:spTgt spid="9"/>
                                        </p:tgtEl>
                                        <p:attrNameLst>
                                          <p:attrName>ppt_h</p:attrName>
                                        </p:attrNameLst>
                                      </p:cBhvr>
                                      <p:tavLst>
                                        <p:tav tm="0">
                                          <p:val>
                                            <p:fltVal val="0"/>
                                          </p:val>
                                        </p:tav>
                                        <p:tav tm="100000">
                                          <p:val>
                                            <p:strVal val="#ppt_h"/>
                                          </p:val>
                                        </p:tav>
                                      </p:tavLst>
                                    </p:anim>
                                    <p:anim calcmode="lin" valueType="num">
                                      <p:cBhvr>
                                        <p:cTn id="15" dur="1000" fill="hold"/>
                                        <p:tgtEl>
                                          <p:spTgt spid="9"/>
                                        </p:tgtEl>
                                        <p:attrNameLst>
                                          <p:attrName>style.rotation</p:attrName>
                                        </p:attrNameLst>
                                      </p:cBhvr>
                                      <p:tavLst>
                                        <p:tav tm="0">
                                          <p:val>
                                            <p:fltVal val="90"/>
                                          </p:val>
                                        </p:tav>
                                        <p:tav tm="100000">
                                          <p:val>
                                            <p:fltVal val="0"/>
                                          </p:val>
                                        </p:tav>
                                      </p:tavLst>
                                    </p:anim>
                                    <p:animEffect transition="in" filter="fade">
                                      <p:cBhvr>
                                        <p:cTn id="16" dur="1000"/>
                                        <p:tgtEl>
                                          <p:spTgt spid="9"/>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1000" fill="hold"/>
                                        <p:tgtEl>
                                          <p:spTgt spid="10"/>
                                        </p:tgtEl>
                                        <p:attrNameLst>
                                          <p:attrName>ppt_w</p:attrName>
                                        </p:attrNameLst>
                                      </p:cBhvr>
                                      <p:tavLst>
                                        <p:tav tm="0">
                                          <p:val>
                                            <p:fltVal val="0"/>
                                          </p:val>
                                        </p:tav>
                                        <p:tav tm="100000">
                                          <p:val>
                                            <p:strVal val="#ppt_w"/>
                                          </p:val>
                                        </p:tav>
                                      </p:tavLst>
                                    </p:anim>
                                    <p:anim calcmode="lin" valueType="num">
                                      <p:cBhvr>
                                        <p:cTn id="20" dur="1000" fill="hold"/>
                                        <p:tgtEl>
                                          <p:spTgt spid="10"/>
                                        </p:tgtEl>
                                        <p:attrNameLst>
                                          <p:attrName>ppt_h</p:attrName>
                                        </p:attrNameLst>
                                      </p:cBhvr>
                                      <p:tavLst>
                                        <p:tav tm="0">
                                          <p:val>
                                            <p:fltVal val="0"/>
                                          </p:val>
                                        </p:tav>
                                        <p:tav tm="100000">
                                          <p:val>
                                            <p:strVal val="#ppt_h"/>
                                          </p:val>
                                        </p:tav>
                                      </p:tavLst>
                                    </p:anim>
                                    <p:anim calcmode="lin" valueType="num">
                                      <p:cBhvr>
                                        <p:cTn id="21" dur="1000" fill="hold"/>
                                        <p:tgtEl>
                                          <p:spTgt spid="10"/>
                                        </p:tgtEl>
                                        <p:attrNameLst>
                                          <p:attrName>style.rotation</p:attrName>
                                        </p:attrNameLst>
                                      </p:cBhvr>
                                      <p:tavLst>
                                        <p:tav tm="0">
                                          <p:val>
                                            <p:fltVal val="90"/>
                                          </p:val>
                                        </p:tav>
                                        <p:tav tm="100000">
                                          <p:val>
                                            <p:fltVal val="0"/>
                                          </p:val>
                                        </p:tav>
                                      </p:tavLst>
                                    </p:anim>
                                    <p:animEffect transition="in" filter="fade">
                                      <p:cBhvr>
                                        <p:cTn id="22" dur="10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3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p:cTn id="27" dur="1000" fill="hold"/>
                                        <p:tgtEl>
                                          <p:spTgt spid="12"/>
                                        </p:tgtEl>
                                        <p:attrNameLst>
                                          <p:attrName>ppt_w</p:attrName>
                                        </p:attrNameLst>
                                      </p:cBhvr>
                                      <p:tavLst>
                                        <p:tav tm="0">
                                          <p:val>
                                            <p:fltVal val="0"/>
                                          </p:val>
                                        </p:tav>
                                        <p:tav tm="100000">
                                          <p:val>
                                            <p:strVal val="#ppt_w"/>
                                          </p:val>
                                        </p:tav>
                                      </p:tavLst>
                                    </p:anim>
                                    <p:anim calcmode="lin" valueType="num">
                                      <p:cBhvr>
                                        <p:cTn id="28" dur="1000" fill="hold"/>
                                        <p:tgtEl>
                                          <p:spTgt spid="12"/>
                                        </p:tgtEl>
                                        <p:attrNameLst>
                                          <p:attrName>ppt_h</p:attrName>
                                        </p:attrNameLst>
                                      </p:cBhvr>
                                      <p:tavLst>
                                        <p:tav tm="0">
                                          <p:val>
                                            <p:fltVal val="0"/>
                                          </p:val>
                                        </p:tav>
                                        <p:tav tm="100000">
                                          <p:val>
                                            <p:strVal val="#ppt_h"/>
                                          </p:val>
                                        </p:tav>
                                      </p:tavLst>
                                    </p:anim>
                                    <p:anim calcmode="lin" valueType="num">
                                      <p:cBhvr>
                                        <p:cTn id="29" dur="1000" fill="hold"/>
                                        <p:tgtEl>
                                          <p:spTgt spid="12"/>
                                        </p:tgtEl>
                                        <p:attrNameLst>
                                          <p:attrName>style.rotation</p:attrName>
                                        </p:attrNameLst>
                                      </p:cBhvr>
                                      <p:tavLst>
                                        <p:tav tm="0">
                                          <p:val>
                                            <p:fltVal val="90"/>
                                          </p:val>
                                        </p:tav>
                                        <p:tav tm="100000">
                                          <p:val>
                                            <p:fltVal val="0"/>
                                          </p:val>
                                        </p:tav>
                                      </p:tavLst>
                                    </p:anim>
                                    <p:animEffect transition="in" filter="fade">
                                      <p:cBhvr>
                                        <p:cTn id="30" dur="1000"/>
                                        <p:tgtEl>
                                          <p:spTgt spid="12"/>
                                        </p:tgtEl>
                                      </p:cBhvr>
                                    </p:animEffect>
                                  </p:childTnLst>
                                </p:cTn>
                              </p:par>
                              <p:par>
                                <p:cTn id="31" presetID="3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p:cTn id="33" dur="1000" fill="hold"/>
                                        <p:tgtEl>
                                          <p:spTgt spid="11"/>
                                        </p:tgtEl>
                                        <p:attrNameLst>
                                          <p:attrName>ppt_w</p:attrName>
                                        </p:attrNameLst>
                                      </p:cBhvr>
                                      <p:tavLst>
                                        <p:tav tm="0">
                                          <p:val>
                                            <p:fltVal val="0"/>
                                          </p:val>
                                        </p:tav>
                                        <p:tav tm="100000">
                                          <p:val>
                                            <p:strVal val="#ppt_w"/>
                                          </p:val>
                                        </p:tav>
                                      </p:tavLst>
                                    </p:anim>
                                    <p:anim calcmode="lin" valueType="num">
                                      <p:cBhvr>
                                        <p:cTn id="34" dur="1000" fill="hold"/>
                                        <p:tgtEl>
                                          <p:spTgt spid="11"/>
                                        </p:tgtEl>
                                        <p:attrNameLst>
                                          <p:attrName>ppt_h</p:attrName>
                                        </p:attrNameLst>
                                      </p:cBhvr>
                                      <p:tavLst>
                                        <p:tav tm="0">
                                          <p:val>
                                            <p:fltVal val="0"/>
                                          </p:val>
                                        </p:tav>
                                        <p:tav tm="100000">
                                          <p:val>
                                            <p:strVal val="#ppt_h"/>
                                          </p:val>
                                        </p:tav>
                                      </p:tavLst>
                                    </p:anim>
                                    <p:anim calcmode="lin" valueType="num">
                                      <p:cBhvr>
                                        <p:cTn id="35" dur="1000" fill="hold"/>
                                        <p:tgtEl>
                                          <p:spTgt spid="11"/>
                                        </p:tgtEl>
                                        <p:attrNameLst>
                                          <p:attrName>style.rotation</p:attrName>
                                        </p:attrNameLst>
                                      </p:cBhvr>
                                      <p:tavLst>
                                        <p:tav tm="0">
                                          <p:val>
                                            <p:fltVal val="90"/>
                                          </p:val>
                                        </p:tav>
                                        <p:tav tm="100000">
                                          <p:val>
                                            <p:fltVal val="0"/>
                                          </p:val>
                                        </p:tav>
                                      </p:tavLst>
                                    </p:anim>
                                    <p:animEffect transition="in" filter="fade">
                                      <p:cBhvr>
                                        <p:cTn id="36"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p:bldP spid="11" grpId="0" animBg="1"/>
      <p:bldP spid="1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336674" y="-6604364"/>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3" name="Freeform 3"/>
          <p:cNvSpPr/>
          <p:nvPr/>
        </p:nvSpPr>
        <p:spPr>
          <a:xfrm>
            <a:off x="6039751" y="1028700"/>
            <a:ext cx="5934317" cy="2028458"/>
          </a:xfrm>
          <a:custGeom>
            <a:avLst/>
            <a:gdLst/>
            <a:ahLst/>
            <a:cxnLst/>
            <a:rect l="l" t="t" r="r" b="b"/>
            <a:pathLst>
              <a:path w="5934317" h="2028458">
                <a:moveTo>
                  <a:pt x="0" y="0"/>
                </a:moveTo>
                <a:lnTo>
                  <a:pt x="5934317" y="0"/>
                </a:lnTo>
                <a:lnTo>
                  <a:pt x="5934317" y="2028458"/>
                </a:lnTo>
                <a:lnTo>
                  <a:pt x="0" y="202845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a:off x="6039751" y="8955191"/>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6" name="TextBox 6"/>
          <p:cNvSpPr txBox="1"/>
          <p:nvPr/>
        </p:nvSpPr>
        <p:spPr>
          <a:xfrm>
            <a:off x="6293491" y="1280622"/>
            <a:ext cx="5340148" cy="1661993"/>
          </a:xfrm>
          <a:prstGeom prst="rect">
            <a:avLst/>
          </a:prstGeom>
        </p:spPr>
        <p:txBody>
          <a:bodyPr wrap="square" lIns="0" tIns="0" rIns="0" bIns="0" rtlCol="0" anchor="t">
            <a:spAutoFit/>
          </a:bodyPr>
          <a:lstStyle/>
          <a:p>
            <a:r>
              <a:rPr lang="en-US" sz="5400" b="1" dirty="0" smtClean="0">
                <a:solidFill>
                  <a:srgbClr val="17375E"/>
                </a:solidFill>
                <a:latin typeface="Hobo" panose="020B0604020202020204" charset="0"/>
              </a:rPr>
              <a:t>Creating a QueryEngine Tool</a:t>
            </a:r>
            <a:endParaRPr lang="en-US" sz="5400" b="1" dirty="0">
              <a:solidFill>
                <a:srgbClr val="17375E"/>
              </a:solidFill>
              <a:latin typeface="Hobo" panose="020B0604020202020204" charset="0"/>
            </a:endParaRPr>
          </a:p>
        </p:txBody>
      </p:sp>
      <p:sp>
        <p:nvSpPr>
          <p:cNvPr id="17" name="TextBox 16"/>
          <p:cNvSpPr txBox="1"/>
          <p:nvPr/>
        </p:nvSpPr>
        <p:spPr>
          <a:xfrm>
            <a:off x="16687800" y="9182100"/>
            <a:ext cx="1295400" cy="523220"/>
          </a:xfrm>
          <a:prstGeom prst="rect">
            <a:avLst/>
          </a:prstGeom>
          <a:noFill/>
        </p:spPr>
        <p:txBody>
          <a:bodyPr wrap="square" rtlCol="0">
            <a:spAutoFit/>
          </a:bodyPr>
          <a:lstStyle/>
          <a:p>
            <a:r>
              <a:rPr lang="en-US" sz="2800" dirty="0" smtClean="0"/>
              <a:t>32</a:t>
            </a:r>
            <a:endParaRPr lang="en-US" sz="2800" dirty="0"/>
          </a:p>
        </p:txBody>
      </p:sp>
      <p:sp>
        <p:nvSpPr>
          <p:cNvPr id="7" name="Rectangle 1"/>
          <p:cNvSpPr>
            <a:spLocks noChangeArrowheads="1"/>
          </p:cNvSpPr>
          <p:nvPr/>
        </p:nvSpPr>
        <p:spPr bwMode="auto">
          <a:xfrm>
            <a:off x="727465" y="3467558"/>
            <a:ext cx="9494587" cy="3779708"/>
          </a:xfrm>
          <a:prstGeom prst="rect">
            <a:avLst/>
          </a:prstGeom>
          <a:solidFill>
            <a:srgbClr val="F9FAFB">
              <a:alpha val="0"/>
            </a:srgbClr>
          </a:solidFill>
          <a:ln>
            <a:noFill/>
          </a:ln>
          <a:effectLst/>
        </p:spPr>
        <p:txBody>
          <a:bodyPr vert="horz" wrap="none" lIns="0" tIns="271377" rIns="0" bIns="271377" numCol="1" anchor="ctr" anchorCtr="0" compatLnSpc="1">
            <a:prstTxWarp prst="textNoShape">
              <a:avLst/>
            </a:prstTxWarp>
            <a:spAutoFit/>
          </a:bodyPr>
          <a:lstStyle/>
          <a:p>
            <a:pPr lvl="0" eaLnBrk="0" fontAlgn="base" hangingPunct="0">
              <a:spcBef>
                <a:spcPct val="0"/>
              </a:spcBef>
              <a:spcAft>
                <a:spcPct val="0"/>
              </a:spcAft>
            </a:pPr>
            <a:r>
              <a:rPr lang="en-US" altLang="en-US" sz="3000" dirty="0">
                <a:solidFill>
                  <a:srgbClr val="A626A4"/>
                </a:solidFill>
                <a:latin typeface="Open Sans" panose="020B0604020202020204" charset="0"/>
                <a:ea typeface="Open Sans" panose="020B0604020202020204" charset="0"/>
                <a:cs typeface="Open Sans" panose="020B0604020202020204" charset="0"/>
              </a:rPr>
              <a:t>from</a:t>
            </a:r>
            <a:r>
              <a:rPr lang="en-US" altLang="en-US" sz="3000" dirty="0">
                <a:solidFill>
                  <a:srgbClr val="4A5565"/>
                </a:solidFill>
                <a:latin typeface="Open Sans" panose="020B0604020202020204" charset="0"/>
                <a:ea typeface="Open Sans" panose="020B0604020202020204" charset="0"/>
                <a:cs typeface="Open Sans" panose="020B0604020202020204" charset="0"/>
              </a:rPr>
              <a:t> </a:t>
            </a:r>
            <a:r>
              <a:rPr lang="en-US" altLang="en-US" sz="3000" dirty="0">
                <a:solidFill>
                  <a:srgbClr val="17375E"/>
                </a:solidFill>
                <a:latin typeface="Open Sans" panose="020B0604020202020204" charset="0"/>
                <a:ea typeface="Open Sans" panose="020B0604020202020204" charset="0"/>
                <a:cs typeface="Open Sans" panose="020B0604020202020204" charset="0"/>
              </a:rPr>
              <a:t>llama_index.core.tools</a:t>
            </a:r>
            <a:r>
              <a:rPr lang="en-US" altLang="en-US" sz="3000" dirty="0">
                <a:solidFill>
                  <a:srgbClr val="4A5565"/>
                </a:solidFill>
                <a:latin typeface="Open Sans" panose="020B0604020202020204" charset="0"/>
                <a:ea typeface="Open Sans" panose="020B0604020202020204" charset="0"/>
                <a:cs typeface="Open Sans" panose="020B0604020202020204" charset="0"/>
              </a:rPr>
              <a:t> </a:t>
            </a:r>
            <a:r>
              <a:rPr lang="en-US" altLang="en-US" sz="3000" dirty="0">
                <a:solidFill>
                  <a:srgbClr val="A626A4"/>
                </a:solidFill>
                <a:latin typeface="Open Sans" panose="020B0604020202020204" charset="0"/>
                <a:ea typeface="Open Sans" panose="020B0604020202020204" charset="0"/>
                <a:cs typeface="Open Sans" panose="020B0604020202020204" charset="0"/>
              </a:rPr>
              <a:t>import</a:t>
            </a:r>
            <a:r>
              <a:rPr lang="en-US" altLang="en-US" sz="3000" dirty="0">
                <a:solidFill>
                  <a:srgbClr val="4A5565"/>
                </a:solidFill>
                <a:latin typeface="Open Sans" panose="020B0604020202020204" charset="0"/>
                <a:ea typeface="Open Sans" panose="020B0604020202020204" charset="0"/>
                <a:cs typeface="Open Sans" panose="020B0604020202020204" charset="0"/>
              </a:rPr>
              <a:t> </a:t>
            </a:r>
            <a:r>
              <a:rPr lang="en-US" altLang="en-US" sz="3000" dirty="0" smtClean="0">
                <a:solidFill>
                  <a:srgbClr val="17375E"/>
                </a:solidFill>
                <a:latin typeface="Open Sans" panose="020B0604020202020204" charset="0"/>
                <a:ea typeface="Open Sans" panose="020B0604020202020204" charset="0"/>
                <a:cs typeface="Open Sans" panose="020B0604020202020204" charset="0"/>
              </a:rPr>
              <a:t>QueryEngineTool</a:t>
            </a:r>
            <a:endParaRPr kumimoji="0" lang="en-US" altLang="en-US" sz="3000" b="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rPr>
              <a:t>tool = QueryEngineTool.from_defaults(</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3000" dirty="0">
                <a:solidFill>
                  <a:srgbClr val="17375E"/>
                </a:solidFill>
                <a:latin typeface="Open Sans" panose="020B0604020202020204" charset="0"/>
                <a:ea typeface="Open Sans" panose="020B0604020202020204" charset="0"/>
                <a:cs typeface="Open Sans" panose="020B0604020202020204" charset="0"/>
              </a:rPr>
              <a:t>	</a:t>
            </a:r>
            <a:r>
              <a:rPr lang="en-US" altLang="en-US" sz="3000" dirty="0" smtClean="0">
                <a:solidFill>
                  <a:srgbClr val="17375E"/>
                </a:solidFill>
                <a:latin typeface="Open Sans" panose="020B0604020202020204" charset="0"/>
                <a:ea typeface="Open Sans" panose="020B0604020202020204" charset="0"/>
                <a:cs typeface="Open Sans" panose="020B0604020202020204" charset="0"/>
              </a:rPr>
              <a:t>query_engine</a:t>
            </a:r>
            <a:r>
              <a:rPr kumimoji="0" lang="en-US" altLang="en-US" sz="3000" b="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3000" dirty="0">
                <a:solidFill>
                  <a:srgbClr val="17375E"/>
                </a:solidFill>
                <a:latin typeface="Open Sans" panose="020B0604020202020204" charset="0"/>
                <a:ea typeface="Open Sans" panose="020B0604020202020204" charset="0"/>
                <a:cs typeface="Open Sans" panose="020B0604020202020204" charset="0"/>
              </a:rPr>
              <a:t>	</a:t>
            </a:r>
            <a:r>
              <a:rPr kumimoji="0" lang="en-US" altLang="en-US" sz="3000" b="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rPr>
              <a:t>name=“some useful name",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3000" dirty="0">
                <a:solidFill>
                  <a:srgbClr val="17375E"/>
                </a:solidFill>
                <a:latin typeface="Open Sans" panose="020B0604020202020204" charset="0"/>
                <a:ea typeface="Open Sans" panose="020B0604020202020204" charset="0"/>
                <a:cs typeface="Open Sans" panose="020B0604020202020204" charset="0"/>
              </a:rPr>
              <a:t>	</a:t>
            </a:r>
            <a:r>
              <a:rPr kumimoji="0" lang="en-US" altLang="en-US" sz="3000" b="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rPr>
              <a:t>description=“some useful description.",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rPr>
              <a:t>tool.call("New York") </a:t>
            </a:r>
          </a:p>
        </p:txBody>
      </p:sp>
      <p:cxnSp>
        <p:nvCxnSpPr>
          <p:cNvPr id="9" name="Straight Arrow Connector 8"/>
          <p:cNvCxnSpPr/>
          <p:nvPr/>
        </p:nvCxnSpPr>
        <p:spPr>
          <a:xfrm>
            <a:off x="4193344" y="4943035"/>
            <a:ext cx="4200293" cy="0"/>
          </a:xfrm>
          <a:prstGeom prst="straightConnector1">
            <a:avLst/>
          </a:prstGeom>
          <a:ln>
            <a:solidFill>
              <a:srgbClr val="78B3DA"/>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8801610" y="4381500"/>
            <a:ext cx="4669299" cy="1384995"/>
          </a:xfrm>
          <a:prstGeom prst="rect">
            <a:avLst/>
          </a:prstGeom>
          <a:noFill/>
        </p:spPr>
        <p:txBody>
          <a:bodyPr wrap="square" rtlCol="0">
            <a:spAutoFit/>
          </a:bodyPr>
          <a:lstStyle/>
          <a:p>
            <a:r>
              <a:rPr lang="en-US" sz="2800" dirty="0" smtClean="0">
                <a:solidFill>
                  <a:schemeClr val="tx2">
                    <a:lumMod val="60000"/>
                    <a:lumOff val="40000"/>
                  </a:schemeClr>
                </a:solidFill>
                <a:latin typeface="Open Sans" panose="020B0604020202020204" charset="0"/>
                <a:ea typeface="Open Sans" panose="020B0604020202020204" charset="0"/>
                <a:cs typeface="Open Sans" panose="020B0604020202020204" charset="0"/>
              </a:rPr>
              <a:t>This is query that loading, storing and indexing to get ready to search</a:t>
            </a:r>
            <a:endParaRPr lang="en-US" sz="2800" dirty="0">
              <a:solidFill>
                <a:schemeClr val="tx2">
                  <a:lumMod val="60000"/>
                  <a:lumOff val="40000"/>
                </a:schemeClr>
              </a:solidFill>
              <a:latin typeface="Open Sans" panose="020B0604020202020204" charset="0"/>
              <a:ea typeface="Open Sans" panose="020B0604020202020204" charset="0"/>
              <a:cs typeface="Open Sans" panose="020B0604020202020204" charset="0"/>
            </a:endParaRPr>
          </a:p>
        </p:txBody>
      </p:sp>
    </p:spTree>
    <p:extLst>
      <p:ext uri="{BB962C8B-B14F-4D97-AF65-F5344CB8AC3E}">
        <p14:creationId xmlns:p14="http://schemas.microsoft.com/office/powerpoint/2010/main" val="7792936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p:cTn id="13" dur="1000" fill="hold"/>
                                        <p:tgtEl>
                                          <p:spTgt spid="9"/>
                                        </p:tgtEl>
                                        <p:attrNameLst>
                                          <p:attrName>ppt_w</p:attrName>
                                        </p:attrNameLst>
                                      </p:cBhvr>
                                      <p:tavLst>
                                        <p:tav tm="0">
                                          <p:val>
                                            <p:fltVal val="0"/>
                                          </p:val>
                                        </p:tav>
                                        <p:tav tm="100000">
                                          <p:val>
                                            <p:strVal val="#ppt_w"/>
                                          </p:val>
                                        </p:tav>
                                      </p:tavLst>
                                    </p:anim>
                                    <p:anim calcmode="lin" valueType="num">
                                      <p:cBhvr>
                                        <p:cTn id="14" dur="1000" fill="hold"/>
                                        <p:tgtEl>
                                          <p:spTgt spid="9"/>
                                        </p:tgtEl>
                                        <p:attrNameLst>
                                          <p:attrName>ppt_h</p:attrName>
                                        </p:attrNameLst>
                                      </p:cBhvr>
                                      <p:tavLst>
                                        <p:tav tm="0">
                                          <p:val>
                                            <p:fltVal val="0"/>
                                          </p:val>
                                        </p:tav>
                                        <p:tav tm="100000">
                                          <p:val>
                                            <p:strVal val="#ppt_h"/>
                                          </p:val>
                                        </p:tav>
                                      </p:tavLst>
                                    </p:anim>
                                    <p:anim calcmode="lin" valueType="num">
                                      <p:cBhvr>
                                        <p:cTn id="15" dur="1000" fill="hold"/>
                                        <p:tgtEl>
                                          <p:spTgt spid="9"/>
                                        </p:tgtEl>
                                        <p:attrNameLst>
                                          <p:attrName>style.rotation</p:attrName>
                                        </p:attrNameLst>
                                      </p:cBhvr>
                                      <p:tavLst>
                                        <p:tav tm="0">
                                          <p:val>
                                            <p:fltVal val="90"/>
                                          </p:val>
                                        </p:tav>
                                        <p:tav tm="100000">
                                          <p:val>
                                            <p:fltVal val="0"/>
                                          </p:val>
                                        </p:tav>
                                      </p:tavLst>
                                    </p:anim>
                                    <p:animEffect transition="in" filter="fade">
                                      <p:cBhvr>
                                        <p:cTn id="16" dur="1000"/>
                                        <p:tgtEl>
                                          <p:spTgt spid="9"/>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1000" fill="hold"/>
                                        <p:tgtEl>
                                          <p:spTgt spid="10"/>
                                        </p:tgtEl>
                                        <p:attrNameLst>
                                          <p:attrName>ppt_w</p:attrName>
                                        </p:attrNameLst>
                                      </p:cBhvr>
                                      <p:tavLst>
                                        <p:tav tm="0">
                                          <p:val>
                                            <p:fltVal val="0"/>
                                          </p:val>
                                        </p:tav>
                                        <p:tav tm="100000">
                                          <p:val>
                                            <p:strVal val="#ppt_w"/>
                                          </p:val>
                                        </p:tav>
                                      </p:tavLst>
                                    </p:anim>
                                    <p:anim calcmode="lin" valueType="num">
                                      <p:cBhvr>
                                        <p:cTn id="20" dur="1000" fill="hold"/>
                                        <p:tgtEl>
                                          <p:spTgt spid="10"/>
                                        </p:tgtEl>
                                        <p:attrNameLst>
                                          <p:attrName>ppt_h</p:attrName>
                                        </p:attrNameLst>
                                      </p:cBhvr>
                                      <p:tavLst>
                                        <p:tav tm="0">
                                          <p:val>
                                            <p:fltVal val="0"/>
                                          </p:val>
                                        </p:tav>
                                        <p:tav tm="100000">
                                          <p:val>
                                            <p:strVal val="#ppt_h"/>
                                          </p:val>
                                        </p:tav>
                                      </p:tavLst>
                                    </p:anim>
                                    <p:anim calcmode="lin" valueType="num">
                                      <p:cBhvr>
                                        <p:cTn id="21" dur="1000" fill="hold"/>
                                        <p:tgtEl>
                                          <p:spTgt spid="10"/>
                                        </p:tgtEl>
                                        <p:attrNameLst>
                                          <p:attrName>style.rotation</p:attrName>
                                        </p:attrNameLst>
                                      </p:cBhvr>
                                      <p:tavLst>
                                        <p:tav tm="0">
                                          <p:val>
                                            <p:fltVal val="90"/>
                                          </p:val>
                                        </p:tav>
                                        <p:tav tm="100000">
                                          <p:val>
                                            <p:fltVal val="0"/>
                                          </p:val>
                                        </p:tav>
                                      </p:tavLst>
                                    </p:anim>
                                    <p:animEffect transition="in" filter="fade">
                                      <p:cBhvr>
                                        <p:cTn id="22"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336674" y="-6604364"/>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3" name="Freeform 3"/>
          <p:cNvSpPr/>
          <p:nvPr/>
        </p:nvSpPr>
        <p:spPr>
          <a:xfrm>
            <a:off x="6039751" y="1028700"/>
            <a:ext cx="5934317" cy="2028458"/>
          </a:xfrm>
          <a:custGeom>
            <a:avLst/>
            <a:gdLst/>
            <a:ahLst/>
            <a:cxnLst/>
            <a:rect l="l" t="t" r="r" b="b"/>
            <a:pathLst>
              <a:path w="5934317" h="2028458">
                <a:moveTo>
                  <a:pt x="0" y="0"/>
                </a:moveTo>
                <a:lnTo>
                  <a:pt x="5934317" y="0"/>
                </a:lnTo>
                <a:lnTo>
                  <a:pt x="5934317" y="2028458"/>
                </a:lnTo>
                <a:lnTo>
                  <a:pt x="0" y="202845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a:off x="6039751" y="8955191"/>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6" name="TextBox 6"/>
          <p:cNvSpPr txBox="1"/>
          <p:nvPr/>
        </p:nvSpPr>
        <p:spPr>
          <a:xfrm>
            <a:off x="7551978" y="1258430"/>
            <a:ext cx="5340148" cy="1661993"/>
          </a:xfrm>
          <a:prstGeom prst="rect">
            <a:avLst/>
          </a:prstGeom>
        </p:spPr>
        <p:txBody>
          <a:bodyPr wrap="square" lIns="0" tIns="0" rIns="0" bIns="0" rtlCol="0" anchor="t">
            <a:spAutoFit/>
          </a:bodyPr>
          <a:lstStyle/>
          <a:p>
            <a:r>
              <a:rPr lang="en-US" sz="5400" b="1" dirty="0" smtClean="0">
                <a:solidFill>
                  <a:srgbClr val="17375E"/>
                </a:solidFill>
                <a:latin typeface="Hobo" panose="020B0604020202020204" charset="0"/>
              </a:rPr>
              <a:t>Creating Toolspecs</a:t>
            </a:r>
            <a:endParaRPr lang="en-US" sz="5400" b="1" dirty="0">
              <a:solidFill>
                <a:srgbClr val="17375E"/>
              </a:solidFill>
              <a:latin typeface="Hobo" panose="020B0604020202020204" charset="0"/>
            </a:endParaRPr>
          </a:p>
        </p:txBody>
      </p:sp>
      <p:sp>
        <p:nvSpPr>
          <p:cNvPr id="17" name="TextBox 16"/>
          <p:cNvSpPr txBox="1"/>
          <p:nvPr/>
        </p:nvSpPr>
        <p:spPr>
          <a:xfrm>
            <a:off x="16687800" y="9182100"/>
            <a:ext cx="1295400" cy="523220"/>
          </a:xfrm>
          <a:prstGeom prst="rect">
            <a:avLst/>
          </a:prstGeom>
          <a:noFill/>
        </p:spPr>
        <p:txBody>
          <a:bodyPr wrap="square" rtlCol="0">
            <a:spAutoFit/>
          </a:bodyPr>
          <a:lstStyle/>
          <a:p>
            <a:r>
              <a:rPr lang="en-US" sz="2800" dirty="0" smtClean="0"/>
              <a:t>33</a:t>
            </a:r>
            <a:endParaRPr lang="en-US" sz="2800" dirty="0"/>
          </a:p>
        </p:txBody>
      </p:sp>
      <p:sp>
        <p:nvSpPr>
          <p:cNvPr id="7" name="Rectangle 1"/>
          <p:cNvSpPr>
            <a:spLocks noChangeArrowheads="1"/>
          </p:cNvSpPr>
          <p:nvPr/>
        </p:nvSpPr>
        <p:spPr bwMode="auto">
          <a:xfrm>
            <a:off x="685800" y="4229100"/>
            <a:ext cx="13159052" cy="2394714"/>
          </a:xfrm>
          <a:prstGeom prst="rect">
            <a:avLst/>
          </a:prstGeom>
          <a:solidFill>
            <a:srgbClr val="F9FAFB">
              <a:alpha val="0"/>
            </a:srgbClr>
          </a:solidFill>
          <a:ln>
            <a:noFill/>
          </a:ln>
          <a:effectLst/>
        </p:spPr>
        <p:txBody>
          <a:bodyPr vert="horz" wrap="none" lIns="0" tIns="271377" rIns="0" bIns="271377" numCol="1" anchor="ctr" anchorCtr="0" compatLnSpc="1">
            <a:prstTxWarp prst="textNoShape">
              <a:avLst/>
            </a:prstTxWarp>
            <a:spAutoFit/>
          </a:bodyPr>
          <a:lstStyle/>
          <a:p>
            <a:pPr lvl="0" eaLnBrk="0" fontAlgn="base" hangingPunct="0">
              <a:spcBef>
                <a:spcPct val="0"/>
              </a:spcBef>
              <a:spcAft>
                <a:spcPct val="0"/>
              </a:spcAft>
            </a:pPr>
            <a:r>
              <a:rPr lang="en-US" altLang="en-US" sz="3000" dirty="0">
                <a:solidFill>
                  <a:srgbClr val="A626A4"/>
                </a:solidFill>
                <a:latin typeface="Open Sans" panose="020B0604020202020204" charset="0"/>
                <a:ea typeface="Open Sans" panose="020B0604020202020204" charset="0"/>
                <a:cs typeface="Open Sans" panose="020B0604020202020204" charset="0"/>
              </a:rPr>
              <a:t>from</a:t>
            </a:r>
            <a:r>
              <a:rPr lang="en-US" altLang="en-US" sz="3000" dirty="0">
                <a:solidFill>
                  <a:srgbClr val="4A5565"/>
                </a:solidFill>
                <a:latin typeface="Open Sans" panose="020B0604020202020204" charset="0"/>
                <a:ea typeface="Open Sans" panose="020B0604020202020204" charset="0"/>
                <a:cs typeface="Open Sans" panose="020B0604020202020204" charset="0"/>
              </a:rPr>
              <a:t> </a:t>
            </a:r>
            <a:r>
              <a:rPr lang="en-US" altLang="en-US" sz="3000" dirty="0" smtClean="0">
                <a:solidFill>
                  <a:srgbClr val="17375E"/>
                </a:solidFill>
                <a:latin typeface="Open Sans" panose="020B0604020202020204" charset="0"/>
                <a:ea typeface="Open Sans" panose="020B0604020202020204" charset="0"/>
                <a:cs typeface="Open Sans" panose="020B0604020202020204" charset="0"/>
              </a:rPr>
              <a:t>llama_index.tools.google</a:t>
            </a:r>
            <a:r>
              <a:rPr lang="en-US" altLang="en-US" sz="3000" dirty="0" smtClean="0">
                <a:solidFill>
                  <a:srgbClr val="4A5565"/>
                </a:solidFill>
                <a:latin typeface="Open Sans" panose="020B0604020202020204" charset="0"/>
                <a:ea typeface="Open Sans" panose="020B0604020202020204" charset="0"/>
                <a:cs typeface="Open Sans" panose="020B0604020202020204" charset="0"/>
              </a:rPr>
              <a:t> </a:t>
            </a:r>
            <a:r>
              <a:rPr lang="en-US" altLang="en-US" sz="3000" dirty="0">
                <a:solidFill>
                  <a:srgbClr val="A626A4"/>
                </a:solidFill>
                <a:latin typeface="Open Sans" panose="020B0604020202020204" charset="0"/>
                <a:ea typeface="Open Sans" panose="020B0604020202020204" charset="0"/>
                <a:cs typeface="Open Sans" panose="020B0604020202020204" charset="0"/>
              </a:rPr>
              <a:t>import</a:t>
            </a:r>
            <a:r>
              <a:rPr lang="en-US" altLang="en-US" sz="3000" dirty="0">
                <a:solidFill>
                  <a:srgbClr val="4A5565"/>
                </a:solidFill>
                <a:latin typeface="Open Sans" panose="020B0604020202020204" charset="0"/>
                <a:ea typeface="Open Sans" panose="020B0604020202020204" charset="0"/>
                <a:cs typeface="Open Sans" panose="020B0604020202020204" charset="0"/>
              </a:rPr>
              <a:t> </a:t>
            </a:r>
            <a:r>
              <a:rPr lang="en-US" altLang="en-US" sz="3000" dirty="0" smtClean="0">
                <a:solidFill>
                  <a:srgbClr val="17375E"/>
                </a:solidFill>
                <a:latin typeface="Open Sans" panose="020B0604020202020204" charset="0"/>
                <a:ea typeface="Open Sans" panose="020B0604020202020204" charset="0"/>
                <a:cs typeface="Open Sans" panose="020B0604020202020204" charset="0"/>
              </a:rPr>
              <a:t>GmailToolApec</a:t>
            </a:r>
            <a:endParaRPr kumimoji="0" lang="en-US" altLang="en-US" sz="3000" b="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3000" dirty="0" smtClean="0">
                <a:solidFill>
                  <a:srgbClr val="17375E"/>
                </a:solidFill>
                <a:latin typeface="Open Sans" panose="020B0604020202020204" charset="0"/>
                <a:ea typeface="Open Sans" panose="020B0604020202020204" charset="0"/>
                <a:cs typeface="Open Sans" panose="020B0604020202020204" charset="0"/>
              </a:rPr>
              <a:t>tool_spec</a:t>
            </a:r>
            <a:r>
              <a:rPr lang="en-US" altLang="en-US" sz="3000" dirty="0">
                <a:solidFill>
                  <a:srgbClr val="17375E"/>
                </a:solidFill>
                <a:latin typeface="Open Sans" panose="020B0604020202020204" charset="0"/>
                <a:ea typeface="Open Sans" panose="020B0604020202020204" charset="0"/>
                <a:cs typeface="Open Sans" panose="020B0604020202020204" charset="0"/>
              </a:rPr>
              <a:t> </a:t>
            </a:r>
            <a:r>
              <a:rPr lang="en-US" altLang="en-US" sz="3000" dirty="0" smtClean="0">
                <a:solidFill>
                  <a:srgbClr val="17375E"/>
                </a:solidFill>
                <a:latin typeface="Open Sans" panose="020B0604020202020204" charset="0"/>
                <a:ea typeface="Open Sans" panose="020B0604020202020204" charset="0"/>
                <a:cs typeface="Open Sans" panose="020B0604020202020204" charset="0"/>
              </a:rPr>
              <a:t>= GmailToolSpec()</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rPr>
              <a:t>Tool_spec</a:t>
            </a:r>
            <a:r>
              <a:rPr lang="en-US" altLang="en-US" sz="3000" dirty="0" smtClean="0">
                <a:solidFill>
                  <a:srgbClr val="17375E"/>
                </a:solidFill>
                <a:latin typeface="Open Sans" panose="020B0604020202020204" charset="0"/>
                <a:ea typeface="Open Sans" panose="020B0604020202020204" charset="0"/>
                <a:cs typeface="Open Sans" panose="020B0604020202020204" charset="0"/>
              </a:rPr>
              <a:t>_list = tool_spec.to_tool_list()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rPr>
              <a:t>[(tool.metadata.name,</a:t>
            </a:r>
            <a:r>
              <a:rPr kumimoji="0" lang="en-US" altLang="en-US" sz="3000" b="0" i="0" u="none" strike="noStrike" cap="none" normalizeH="0" dirty="0" smtClean="0">
                <a:ln>
                  <a:noFill/>
                </a:ln>
                <a:solidFill>
                  <a:srgbClr val="17375E"/>
                </a:solidFill>
                <a:effectLst/>
                <a:latin typeface="Open Sans" panose="020B0604020202020204" charset="0"/>
                <a:ea typeface="Open Sans" panose="020B0604020202020204" charset="0"/>
                <a:cs typeface="Open Sans" panose="020B0604020202020204" charset="0"/>
              </a:rPr>
              <a:t> tool.metadata.description) </a:t>
            </a:r>
            <a:r>
              <a:rPr kumimoji="0" lang="en-US" altLang="en-US" sz="3000" b="0" i="0" u="none" strike="noStrike" cap="none" normalizeH="0" dirty="0" smtClean="0">
                <a:ln>
                  <a:noFill/>
                </a:ln>
                <a:solidFill>
                  <a:srgbClr val="A626A4"/>
                </a:solidFill>
                <a:effectLst/>
                <a:latin typeface="Open Sans" panose="020B0604020202020204" charset="0"/>
                <a:ea typeface="Open Sans" panose="020B0604020202020204" charset="0"/>
                <a:cs typeface="Open Sans" panose="020B0604020202020204" charset="0"/>
              </a:rPr>
              <a:t>for</a:t>
            </a:r>
            <a:r>
              <a:rPr kumimoji="0" lang="en-US" altLang="en-US" sz="3000" b="0" i="0" u="none" strike="noStrike" cap="none" normalizeH="0" dirty="0" smtClean="0">
                <a:ln>
                  <a:noFill/>
                </a:ln>
                <a:solidFill>
                  <a:srgbClr val="17375E"/>
                </a:solidFill>
                <a:effectLst/>
                <a:latin typeface="Open Sans" panose="020B0604020202020204" charset="0"/>
                <a:ea typeface="Open Sans" panose="020B0604020202020204" charset="0"/>
                <a:cs typeface="Open Sans" panose="020B0604020202020204" charset="0"/>
              </a:rPr>
              <a:t> tool </a:t>
            </a:r>
            <a:r>
              <a:rPr kumimoji="0" lang="en-US" altLang="en-US" sz="3000" b="0" i="0" u="none" strike="noStrike" cap="none" normalizeH="0" dirty="0" smtClean="0">
                <a:ln>
                  <a:noFill/>
                </a:ln>
                <a:solidFill>
                  <a:srgbClr val="A626A4"/>
                </a:solidFill>
                <a:effectLst/>
                <a:latin typeface="Open Sans" panose="020B0604020202020204" charset="0"/>
                <a:ea typeface="Open Sans" panose="020B0604020202020204" charset="0"/>
                <a:cs typeface="Open Sans" panose="020B0604020202020204" charset="0"/>
              </a:rPr>
              <a:t>in</a:t>
            </a:r>
            <a:r>
              <a:rPr kumimoji="0" lang="en-US" altLang="en-US" sz="3000" b="0" i="0" u="none" strike="noStrike" cap="none" normalizeH="0" dirty="0" smtClean="0">
                <a:ln>
                  <a:noFill/>
                </a:ln>
                <a:solidFill>
                  <a:srgbClr val="17375E"/>
                </a:solidFill>
                <a:effectLst/>
                <a:latin typeface="Open Sans" panose="020B0604020202020204" charset="0"/>
                <a:ea typeface="Open Sans" panose="020B0604020202020204" charset="0"/>
                <a:cs typeface="Open Sans" panose="020B0604020202020204" charset="0"/>
              </a:rPr>
              <a:t> tool_spec_list]</a:t>
            </a:r>
            <a:endParaRPr kumimoji="0" lang="en-US" altLang="en-US" sz="3000" b="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endParaRPr>
          </a:p>
        </p:txBody>
      </p:sp>
      <p:sp>
        <p:nvSpPr>
          <p:cNvPr id="10" name="TextBox 9"/>
          <p:cNvSpPr txBox="1"/>
          <p:nvPr/>
        </p:nvSpPr>
        <p:spPr>
          <a:xfrm>
            <a:off x="8534400" y="4949403"/>
            <a:ext cx="4669299" cy="954107"/>
          </a:xfrm>
          <a:prstGeom prst="rect">
            <a:avLst/>
          </a:prstGeom>
          <a:noFill/>
        </p:spPr>
        <p:txBody>
          <a:bodyPr wrap="square" rtlCol="0">
            <a:spAutoFit/>
          </a:bodyPr>
          <a:lstStyle/>
          <a:p>
            <a:r>
              <a:rPr lang="en-US" sz="2800" dirty="0">
                <a:solidFill>
                  <a:schemeClr val="tx2">
                    <a:lumMod val="60000"/>
                    <a:lumOff val="40000"/>
                  </a:schemeClr>
                </a:solidFill>
                <a:latin typeface="Open Sans" panose="020B0604020202020204" charset="0"/>
                <a:ea typeface="Open Sans" panose="020B0604020202020204" charset="0"/>
                <a:cs typeface="Open Sans" panose="020B0604020202020204" charset="0"/>
              </a:rPr>
              <a:t>load the toolspec and convert it to a list of tools.</a:t>
            </a:r>
            <a:endParaRPr lang="en-US" sz="4000" dirty="0">
              <a:solidFill>
                <a:schemeClr val="tx2">
                  <a:lumMod val="60000"/>
                  <a:lumOff val="40000"/>
                </a:schemeClr>
              </a:solidFill>
              <a:latin typeface="Open Sans" panose="020B0604020202020204" charset="0"/>
              <a:ea typeface="Open Sans" panose="020B0604020202020204" charset="0"/>
              <a:cs typeface="Open Sans" panose="020B0604020202020204" charset="0"/>
            </a:endParaRPr>
          </a:p>
        </p:txBody>
      </p:sp>
      <p:sp>
        <p:nvSpPr>
          <p:cNvPr id="11" name="Right Brace 10"/>
          <p:cNvSpPr/>
          <p:nvPr/>
        </p:nvSpPr>
        <p:spPr>
          <a:xfrm>
            <a:off x="7772400" y="4951998"/>
            <a:ext cx="381000" cy="80110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ight Brace 11"/>
          <p:cNvSpPr/>
          <p:nvPr/>
        </p:nvSpPr>
        <p:spPr>
          <a:xfrm>
            <a:off x="13844852" y="5903510"/>
            <a:ext cx="252148" cy="45919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Rectangle 12"/>
          <p:cNvSpPr/>
          <p:nvPr/>
        </p:nvSpPr>
        <p:spPr>
          <a:xfrm>
            <a:off x="14071209" y="5656051"/>
            <a:ext cx="4710319" cy="954107"/>
          </a:xfrm>
          <a:prstGeom prst="rect">
            <a:avLst/>
          </a:prstGeom>
        </p:spPr>
        <p:txBody>
          <a:bodyPr wrap="square">
            <a:spAutoFit/>
          </a:bodyPr>
          <a:lstStyle/>
          <a:p>
            <a:r>
              <a:rPr lang="en-US" sz="2800" dirty="0">
                <a:solidFill>
                  <a:schemeClr val="tx2">
                    <a:lumMod val="60000"/>
                    <a:lumOff val="40000"/>
                  </a:schemeClr>
                </a:solidFill>
                <a:latin typeface="Open Sans" panose="020B0604020202020204" charset="0"/>
                <a:ea typeface="Open Sans" panose="020B0604020202020204" charset="0"/>
                <a:cs typeface="Open Sans" panose="020B0604020202020204" charset="0"/>
              </a:rPr>
              <a:t>To get a more detailed view of the tools</a:t>
            </a:r>
          </a:p>
        </p:txBody>
      </p:sp>
    </p:spTree>
    <p:extLst>
      <p:ext uri="{BB962C8B-B14F-4D97-AF65-F5344CB8AC3E}">
        <p14:creationId xmlns:p14="http://schemas.microsoft.com/office/powerpoint/2010/main" val="202565458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p:cTn id="13" dur="1000" fill="hold"/>
                                        <p:tgtEl>
                                          <p:spTgt spid="10"/>
                                        </p:tgtEl>
                                        <p:attrNameLst>
                                          <p:attrName>ppt_w</p:attrName>
                                        </p:attrNameLst>
                                      </p:cBhvr>
                                      <p:tavLst>
                                        <p:tav tm="0">
                                          <p:val>
                                            <p:fltVal val="0"/>
                                          </p:val>
                                        </p:tav>
                                        <p:tav tm="100000">
                                          <p:val>
                                            <p:strVal val="#ppt_w"/>
                                          </p:val>
                                        </p:tav>
                                      </p:tavLst>
                                    </p:anim>
                                    <p:anim calcmode="lin" valueType="num">
                                      <p:cBhvr>
                                        <p:cTn id="14" dur="1000" fill="hold"/>
                                        <p:tgtEl>
                                          <p:spTgt spid="10"/>
                                        </p:tgtEl>
                                        <p:attrNameLst>
                                          <p:attrName>ppt_h</p:attrName>
                                        </p:attrNameLst>
                                      </p:cBhvr>
                                      <p:tavLst>
                                        <p:tav tm="0">
                                          <p:val>
                                            <p:fltVal val="0"/>
                                          </p:val>
                                        </p:tav>
                                        <p:tav tm="100000">
                                          <p:val>
                                            <p:strVal val="#ppt_h"/>
                                          </p:val>
                                        </p:tav>
                                      </p:tavLst>
                                    </p:anim>
                                    <p:anim calcmode="lin" valueType="num">
                                      <p:cBhvr>
                                        <p:cTn id="15" dur="1000" fill="hold"/>
                                        <p:tgtEl>
                                          <p:spTgt spid="10"/>
                                        </p:tgtEl>
                                        <p:attrNameLst>
                                          <p:attrName>style.rotation</p:attrName>
                                        </p:attrNameLst>
                                      </p:cBhvr>
                                      <p:tavLst>
                                        <p:tav tm="0">
                                          <p:val>
                                            <p:fltVal val="90"/>
                                          </p:val>
                                        </p:tav>
                                        <p:tav tm="100000">
                                          <p:val>
                                            <p:fltVal val="0"/>
                                          </p:val>
                                        </p:tav>
                                      </p:tavLst>
                                    </p:anim>
                                    <p:animEffect transition="in" filter="fade">
                                      <p:cBhvr>
                                        <p:cTn id="16" dur="1000"/>
                                        <p:tgtEl>
                                          <p:spTgt spid="10"/>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1000" fill="hold"/>
                                        <p:tgtEl>
                                          <p:spTgt spid="11"/>
                                        </p:tgtEl>
                                        <p:attrNameLst>
                                          <p:attrName>ppt_w</p:attrName>
                                        </p:attrNameLst>
                                      </p:cBhvr>
                                      <p:tavLst>
                                        <p:tav tm="0">
                                          <p:val>
                                            <p:fltVal val="0"/>
                                          </p:val>
                                        </p:tav>
                                        <p:tav tm="100000">
                                          <p:val>
                                            <p:strVal val="#ppt_w"/>
                                          </p:val>
                                        </p:tav>
                                      </p:tavLst>
                                    </p:anim>
                                    <p:anim calcmode="lin" valueType="num">
                                      <p:cBhvr>
                                        <p:cTn id="20" dur="1000" fill="hold"/>
                                        <p:tgtEl>
                                          <p:spTgt spid="11"/>
                                        </p:tgtEl>
                                        <p:attrNameLst>
                                          <p:attrName>ppt_h</p:attrName>
                                        </p:attrNameLst>
                                      </p:cBhvr>
                                      <p:tavLst>
                                        <p:tav tm="0">
                                          <p:val>
                                            <p:fltVal val="0"/>
                                          </p:val>
                                        </p:tav>
                                        <p:tav tm="100000">
                                          <p:val>
                                            <p:strVal val="#ppt_h"/>
                                          </p:val>
                                        </p:tav>
                                      </p:tavLst>
                                    </p:anim>
                                    <p:anim calcmode="lin" valueType="num">
                                      <p:cBhvr>
                                        <p:cTn id="21" dur="1000" fill="hold"/>
                                        <p:tgtEl>
                                          <p:spTgt spid="11"/>
                                        </p:tgtEl>
                                        <p:attrNameLst>
                                          <p:attrName>style.rotation</p:attrName>
                                        </p:attrNameLst>
                                      </p:cBhvr>
                                      <p:tavLst>
                                        <p:tav tm="0">
                                          <p:val>
                                            <p:fltVal val="90"/>
                                          </p:val>
                                        </p:tav>
                                        <p:tav tm="100000">
                                          <p:val>
                                            <p:fltVal val="0"/>
                                          </p:val>
                                        </p:tav>
                                      </p:tavLst>
                                    </p:anim>
                                    <p:animEffect transition="in" filter="fade">
                                      <p:cBhvr>
                                        <p:cTn id="22" dur="10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3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p:cTn id="27" dur="1000" fill="hold"/>
                                        <p:tgtEl>
                                          <p:spTgt spid="12"/>
                                        </p:tgtEl>
                                        <p:attrNameLst>
                                          <p:attrName>ppt_w</p:attrName>
                                        </p:attrNameLst>
                                      </p:cBhvr>
                                      <p:tavLst>
                                        <p:tav tm="0">
                                          <p:val>
                                            <p:fltVal val="0"/>
                                          </p:val>
                                        </p:tav>
                                        <p:tav tm="100000">
                                          <p:val>
                                            <p:strVal val="#ppt_w"/>
                                          </p:val>
                                        </p:tav>
                                      </p:tavLst>
                                    </p:anim>
                                    <p:anim calcmode="lin" valueType="num">
                                      <p:cBhvr>
                                        <p:cTn id="28" dur="1000" fill="hold"/>
                                        <p:tgtEl>
                                          <p:spTgt spid="12"/>
                                        </p:tgtEl>
                                        <p:attrNameLst>
                                          <p:attrName>ppt_h</p:attrName>
                                        </p:attrNameLst>
                                      </p:cBhvr>
                                      <p:tavLst>
                                        <p:tav tm="0">
                                          <p:val>
                                            <p:fltVal val="0"/>
                                          </p:val>
                                        </p:tav>
                                        <p:tav tm="100000">
                                          <p:val>
                                            <p:strVal val="#ppt_h"/>
                                          </p:val>
                                        </p:tav>
                                      </p:tavLst>
                                    </p:anim>
                                    <p:anim calcmode="lin" valueType="num">
                                      <p:cBhvr>
                                        <p:cTn id="29" dur="1000" fill="hold"/>
                                        <p:tgtEl>
                                          <p:spTgt spid="12"/>
                                        </p:tgtEl>
                                        <p:attrNameLst>
                                          <p:attrName>style.rotation</p:attrName>
                                        </p:attrNameLst>
                                      </p:cBhvr>
                                      <p:tavLst>
                                        <p:tav tm="0">
                                          <p:val>
                                            <p:fltVal val="90"/>
                                          </p:val>
                                        </p:tav>
                                        <p:tav tm="100000">
                                          <p:val>
                                            <p:fltVal val="0"/>
                                          </p:val>
                                        </p:tav>
                                      </p:tavLst>
                                    </p:anim>
                                    <p:animEffect transition="in" filter="fade">
                                      <p:cBhvr>
                                        <p:cTn id="30" dur="1000"/>
                                        <p:tgtEl>
                                          <p:spTgt spid="12"/>
                                        </p:tgtEl>
                                      </p:cBhvr>
                                    </p:animEffect>
                                  </p:childTnLst>
                                </p:cTn>
                              </p:par>
                              <p:par>
                                <p:cTn id="31" presetID="3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p:cTn id="33" dur="1000" fill="hold"/>
                                        <p:tgtEl>
                                          <p:spTgt spid="13"/>
                                        </p:tgtEl>
                                        <p:attrNameLst>
                                          <p:attrName>ppt_w</p:attrName>
                                        </p:attrNameLst>
                                      </p:cBhvr>
                                      <p:tavLst>
                                        <p:tav tm="0">
                                          <p:val>
                                            <p:fltVal val="0"/>
                                          </p:val>
                                        </p:tav>
                                        <p:tav tm="100000">
                                          <p:val>
                                            <p:strVal val="#ppt_w"/>
                                          </p:val>
                                        </p:tav>
                                      </p:tavLst>
                                    </p:anim>
                                    <p:anim calcmode="lin" valueType="num">
                                      <p:cBhvr>
                                        <p:cTn id="34" dur="1000" fill="hold"/>
                                        <p:tgtEl>
                                          <p:spTgt spid="13"/>
                                        </p:tgtEl>
                                        <p:attrNameLst>
                                          <p:attrName>ppt_h</p:attrName>
                                        </p:attrNameLst>
                                      </p:cBhvr>
                                      <p:tavLst>
                                        <p:tav tm="0">
                                          <p:val>
                                            <p:fltVal val="0"/>
                                          </p:val>
                                        </p:tav>
                                        <p:tav tm="100000">
                                          <p:val>
                                            <p:strVal val="#ppt_h"/>
                                          </p:val>
                                        </p:tav>
                                      </p:tavLst>
                                    </p:anim>
                                    <p:anim calcmode="lin" valueType="num">
                                      <p:cBhvr>
                                        <p:cTn id="35" dur="1000" fill="hold"/>
                                        <p:tgtEl>
                                          <p:spTgt spid="13"/>
                                        </p:tgtEl>
                                        <p:attrNameLst>
                                          <p:attrName>style.rotation</p:attrName>
                                        </p:attrNameLst>
                                      </p:cBhvr>
                                      <p:tavLst>
                                        <p:tav tm="0">
                                          <p:val>
                                            <p:fltVal val="90"/>
                                          </p:val>
                                        </p:tav>
                                        <p:tav tm="100000">
                                          <p:val>
                                            <p:fltVal val="0"/>
                                          </p:val>
                                        </p:tav>
                                      </p:tavLst>
                                    </p:anim>
                                    <p:animEffect transition="in" filter="fade">
                                      <p:cBhvr>
                                        <p:cTn id="36"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p:bldP spid="11" grpId="0" animBg="1"/>
      <p:bldP spid="12" grpId="0" animBg="1"/>
      <p:bldP spid="1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336674" y="-6604364"/>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3" name="Freeform 3"/>
          <p:cNvSpPr/>
          <p:nvPr/>
        </p:nvSpPr>
        <p:spPr>
          <a:xfrm>
            <a:off x="6039751" y="1028700"/>
            <a:ext cx="5934317" cy="2028458"/>
          </a:xfrm>
          <a:custGeom>
            <a:avLst/>
            <a:gdLst/>
            <a:ahLst/>
            <a:cxnLst/>
            <a:rect l="l" t="t" r="r" b="b"/>
            <a:pathLst>
              <a:path w="5934317" h="2028458">
                <a:moveTo>
                  <a:pt x="0" y="0"/>
                </a:moveTo>
                <a:lnTo>
                  <a:pt x="5934317" y="0"/>
                </a:lnTo>
                <a:lnTo>
                  <a:pt x="5934317" y="2028458"/>
                </a:lnTo>
                <a:lnTo>
                  <a:pt x="0" y="202845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a:off x="6039751" y="8955191"/>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6" name="TextBox 6"/>
          <p:cNvSpPr txBox="1"/>
          <p:nvPr/>
        </p:nvSpPr>
        <p:spPr>
          <a:xfrm>
            <a:off x="7239000" y="1634400"/>
            <a:ext cx="5340148" cy="830997"/>
          </a:xfrm>
          <a:prstGeom prst="rect">
            <a:avLst/>
          </a:prstGeom>
        </p:spPr>
        <p:txBody>
          <a:bodyPr wrap="square" lIns="0" tIns="0" rIns="0" bIns="0" rtlCol="0" anchor="t">
            <a:spAutoFit/>
          </a:bodyPr>
          <a:lstStyle/>
          <a:p>
            <a:r>
              <a:rPr lang="en-US" sz="5400" b="1" dirty="0" smtClean="0">
                <a:solidFill>
                  <a:srgbClr val="17375E"/>
                </a:solidFill>
                <a:latin typeface="Hobo" panose="020B0604020202020204" charset="0"/>
              </a:rPr>
              <a:t>Utility Tools</a:t>
            </a:r>
            <a:endParaRPr lang="en-US" sz="5400" b="1" dirty="0">
              <a:solidFill>
                <a:srgbClr val="17375E"/>
              </a:solidFill>
              <a:latin typeface="Hobo" panose="020B0604020202020204" charset="0"/>
            </a:endParaRPr>
          </a:p>
        </p:txBody>
      </p:sp>
      <p:sp>
        <p:nvSpPr>
          <p:cNvPr id="17" name="TextBox 16"/>
          <p:cNvSpPr txBox="1"/>
          <p:nvPr/>
        </p:nvSpPr>
        <p:spPr>
          <a:xfrm>
            <a:off x="16687800" y="9182100"/>
            <a:ext cx="1295400" cy="523220"/>
          </a:xfrm>
          <a:prstGeom prst="rect">
            <a:avLst/>
          </a:prstGeom>
          <a:noFill/>
        </p:spPr>
        <p:txBody>
          <a:bodyPr wrap="square" rtlCol="0">
            <a:spAutoFit/>
          </a:bodyPr>
          <a:lstStyle/>
          <a:p>
            <a:r>
              <a:rPr lang="en-US" sz="2800" dirty="0" smtClean="0"/>
              <a:t>34</a:t>
            </a:r>
            <a:endParaRPr lang="en-US" sz="2800" dirty="0"/>
          </a:p>
        </p:txBody>
      </p:sp>
      <p:sp>
        <p:nvSpPr>
          <p:cNvPr id="7" name="Rectangle 1"/>
          <p:cNvSpPr>
            <a:spLocks noChangeArrowheads="1"/>
          </p:cNvSpPr>
          <p:nvPr/>
        </p:nvSpPr>
        <p:spPr bwMode="auto">
          <a:xfrm>
            <a:off x="1321951" y="3431922"/>
            <a:ext cx="16564645" cy="1933049"/>
          </a:xfrm>
          <a:prstGeom prst="rect">
            <a:avLst/>
          </a:prstGeom>
          <a:solidFill>
            <a:srgbClr val="F9FAFB">
              <a:alpha val="0"/>
            </a:srgbClr>
          </a:solidFill>
          <a:ln>
            <a:noFill/>
          </a:ln>
          <a:effectLst/>
        </p:spPr>
        <p:txBody>
          <a:bodyPr vert="horz" wrap="square" lIns="0" tIns="271377" rIns="0" bIns="271377" numCol="1" anchor="ctr" anchorCtr="0" compatLnSpc="1">
            <a:prstTxWarp prst="textNoShape">
              <a:avLst/>
            </a:prstTxWarp>
            <a:spAutoFit/>
          </a:bodyPr>
          <a:lstStyle/>
          <a:p>
            <a:pPr lvl="0" eaLnBrk="0" fontAlgn="base" hangingPunct="0">
              <a:spcBef>
                <a:spcPct val="0"/>
              </a:spcBef>
              <a:spcAft>
                <a:spcPct val="0"/>
              </a:spcAft>
            </a:pPr>
            <a:r>
              <a:rPr lang="en-US" sz="3000" dirty="0">
                <a:solidFill>
                  <a:srgbClr val="17375E"/>
                </a:solidFill>
                <a:latin typeface="Open Sans" panose="020B0604020202020204" charset="0"/>
                <a:ea typeface="Open Sans" panose="020B0604020202020204" charset="0"/>
                <a:cs typeface="Open Sans" panose="020B0604020202020204" charset="0"/>
              </a:rPr>
              <a:t>Oftentimes, directly querying an API can return an excessive amount of data, some of which may </a:t>
            </a:r>
            <a:r>
              <a:rPr lang="en-US" sz="3000" dirty="0" smtClean="0">
                <a:solidFill>
                  <a:srgbClr val="17375E"/>
                </a:solidFill>
                <a:latin typeface="Open Sans" panose="020B0604020202020204" charset="0"/>
                <a:ea typeface="Open Sans" panose="020B0604020202020204" charset="0"/>
                <a:cs typeface="Open Sans" panose="020B0604020202020204" charset="0"/>
              </a:rPr>
              <a:t>be </a:t>
            </a:r>
            <a:r>
              <a:rPr lang="en-US" sz="3000" dirty="0">
                <a:solidFill>
                  <a:srgbClr val="17375E"/>
                </a:solidFill>
                <a:latin typeface="Open Sans" panose="020B0604020202020204" charset="0"/>
                <a:ea typeface="Open Sans" panose="020B0604020202020204" charset="0"/>
                <a:cs typeface="Open Sans" panose="020B0604020202020204" charset="0"/>
              </a:rPr>
              <a:t>irrelevant, overflow the context window of the LLM, or unnecessarily increase the number of </a:t>
            </a:r>
            <a:r>
              <a:rPr lang="en-US" sz="3000" dirty="0" smtClean="0">
                <a:solidFill>
                  <a:srgbClr val="17375E"/>
                </a:solidFill>
                <a:latin typeface="Open Sans" panose="020B0604020202020204" charset="0"/>
                <a:ea typeface="Open Sans" panose="020B0604020202020204" charset="0"/>
                <a:cs typeface="Open Sans" panose="020B0604020202020204" charset="0"/>
              </a:rPr>
              <a:t>tokens </a:t>
            </a:r>
            <a:r>
              <a:rPr lang="en-US" sz="3000" dirty="0">
                <a:solidFill>
                  <a:srgbClr val="17375E"/>
                </a:solidFill>
                <a:latin typeface="Open Sans" panose="020B0604020202020204" charset="0"/>
                <a:ea typeface="Open Sans" panose="020B0604020202020204" charset="0"/>
                <a:cs typeface="Open Sans" panose="020B0604020202020204" charset="0"/>
              </a:rPr>
              <a:t>that you are </a:t>
            </a:r>
            <a:r>
              <a:rPr lang="en-US" sz="3000" dirty="0" smtClean="0">
                <a:solidFill>
                  <a:srgbClr val="17375E"/>
                </a:solidFill>
                <a:latin typeface="Open Sans" panose="020B0604020202020204" charset="0"/>
                <a:ea typeface="Open Sans" panose="020B0604020202020204" charset="0"/>
                <a:cs typeface="Open Sans" panose="020B0604020202020204" charset="0"/>
              </a:rPr>
              <a:t>using </a:t>
            </a:r>
            <a:r>
              <a:rPr lang="en-US" sz="3000" dirty="0" smtClean="0">
                <a:solidFill>
                  <a:srgbClr val="17375E"/>
                </a:solidFill>
                <a:latin typeface="Open Sans" panose="020B0604020202020204" charset="0"/>
                <a:ea typeface="Open Sans" panose="020B0604020202020204" charset="0"/>
                <a:cs typeface="Open Sans" panose="020B0604020202020204" charset="0"/>
                <a:hlinkClick r:id="rId6" action="ppaction://hlinksldjump"/>
              </a:rPr>
              <a:t>[6]</a:t>
            </a:r>
            <a:r>
              <a:rPr lang="en-US" sz="3000" dirty="0" smtClean="0">
                <a:solidFill>
                  <a:srgbClr val="17375E"/>
                </a:solidFill>
                <a:latin typeface="Open Sans" panose="020B0604020202020204" charset="0"/>
                <a:ea typeface="Open Sans" panose="020B0604020202020204" charset="0"/>
                <a:cs typeface="Open Sans" panose="020B0604020202020204" charset="0"/>
              </a:rPr>
              <a:t>.</a:t>
            </a:r>
            <a:endParaRPr kumimoji="0" lang="en-US" altLang="en-US" sz="300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endParaRPr>
          </a:p>
        </p:txBody>
      </p:sp>
      <p:sp>
        <p:nvSpPr>
          <p:cNvPr id="5" name="Rectangle 4"/>
          <p:cNvSpPr/>
          <p:nvPr/>
        </p:nvSpPr>
        <p:spPr>
          <a:xfrm>
            <a:off x="1321951" y="5364971"/>
            <a:ext cx="9372600" cy="2277547"/>
          </a:xfrm>
          <a:prstGeom prst="rect">
            <a:avLst/>
          </a:prstGeom>
        </p:spPr>
        <p:txBody>
          <a:bodyPr wrap="square">
            <a:spAutoFit/>
          </a:bodyPr>
          <a:lstStyle/>
          <a:p>
            <a:r>
              <a:rPr lang="en-US" sz="3000" dirty="0" smtClean="0">
                <a:solidFill>
                  <a:srgbClr val="17375E"/>
                </a:solidFill>
                <a:latin typeface="Open Sans" panose="020B0604020202020204" charset="0"/>
                <a:ea typeface="Open Sans" panose="020B0604020202020204" charset="0"/>
                <a:cs typeface="Open Sans" panose="020B0604020202020204" charset="0"/>
              </a:rPr>
              <a:t>Two </a:t>
            </a:r>
            <a:r>
              <a:rPr lang="en-US" sz="3000" dirty="0">
                <a:solidFill>
                  <a:srgbClr val="17375E"/>
                </a:solidFill>
                <a:latin typeface="Open Sans" panose="020B0604020202020204" charset="0"/>
                <a:ea typeface="Open Sans" panose="020B0604020202020204" charset="0"/>
                <a:cs typeface="Open Sans" panose="020B0604020202020204" charset="0"/>
              </a:rPr>
              <a:t>main utility </a:t>
            </a:r>
            <a:r>
              <a:rPr lang="en-US" sz="3000" dirty="0" smtClean="0">
                <a:solidFill>
                  <a:srgbClr val="17375E"/>
                </a:solidFill>
                <a:latin typeface="Open Sans" panose="020B0604020202020204" charset="0"/>
                <a:ea typeface="Open Sans" panose="020B0604020202020204" charset="0"/>
                <a:cs typeface="Open Sans" panose="020B0604020202020204" charset="0"/>
              </a:rPr>
              <a:t>tools:</a:t>
            </a:r>
          </a:p>
          <a:p>
            <a:pPr marL="514350" indent="-514350">
              <a:buFont typeface="+mj-lt"/>
              <a:buAutoNum type="arabicPeriod"/>
            </a:pPr>
            <a:r>
              <a:rPr lang="en-US" sz="2800" dirty="0" smtClean="0">
                <a:solidFill>
                  <a:schemeClr val="tx2">
                    <a:lumMod val="60000"/>
                    <a:lumOff val="40000"/>
                  </a:schemeClr>
                </a:solidFill>
                <a:latin typeface="Open Sans" panose="020B0604020202020204" charset="0"/>
                <a:ea typeface="Open Sans" panose="020B0604020202020204" charset="0"/>
                <a:cs typeface="Open Sans" panose="020B0604020202020204" charset="0"/>
              </a:rPr>
              <a:t>OnDemandToolLoader</a:t>
            </a:r>
          </a:p>
          <a:p>
            <a:pPr marL="514350" indent="-514350">
              <a:buFont typeface="+mj-lt"/>
              <a:buAutoNum type="arabicPeriod"/>
            </a:pPr>
            <a:r>
              <a:rPr lang="en-US" sz="2800" dirty="0" smtClean="0">
                <a:solidFill>
                  <a:schemeClr val="tx2">
                    <a:lumMod val="60000"/>
                    <a:lumOff val="40000"/>
                  </a:schemeClr>
                </a:solidFill>
                <a:latin typeface="Open Sans" panose="020B0604020202020204" charset="0"/>
                <a:ea typeface="Open Sans" panose="020B0604020202020204" charset="0"/>
                <a:cs typeface="Open Sans" panose="020B0604020202020204" charset="0"/>
              </a:rPr>
              <a:t>LoadAndSearchToolSpec:</a:t>
            </a:r>
          </a:p>
          <a:p>
            <a:pPr marL="914400" lvl="1" indent="-457200">
              <a:buFont typeface="Arial" panose="020B0604020202020204" pitchFamily="34" charset="0"/>
              <a:buChar char="•"/>
            </a:pPr>
            <a:r>
              <a:rPr lang="en-US" sz="2800" dirty="0">
                <a:solidFill>
                  <a:schemeClr val="accent4">
                    <a:lumMod val="75000"/>
                  </a:schemeClr>
                </a:solidFill>
                <a:latin typeface="Open Sans" panose="020B0604020202020204" charset="0"/>
                <a:ea typeface="Open Sans" panose="020B0604020202020204" charset="0"/>
                <a:cs typeface="Open Sans" panose="020B0604020202020204" charset="0"/>
              </a:rPr>
              <a:t>L</a:t>
            </a:r>
            <a:r>
              <a:rPr lang="en-US" sz="2800" dirty="0" smtClean="0">
                <a:solidFill>
                  <a:schemeClr val="accent4">
                    <a:lumMod val="75000"/>
                  </a:schemeClr>
                </a:solidFill>
                <a:latin typeface="Open Sans" panose="020B0604020202020204" charset="0"/>
                <a:ea typeface="Open Sans" panose="020B0604020202020204" charset="0"/>
                <a:cs typeface="Open Sans" panose="020B0604020202020204" charset="0"/>
              </a:rPr>
              <a:t>oading tool</a:t>
            </a:r>
          </a:p>
          <a:p>
            <a:pPr marL="914400" lvl="1" indent="-457200">
              <a:buFont typeface="Arial" panose="020B0604020202020204" pitchFamily="34" charset="0"/>
              <a:buChar char="•"/>
            </a:pPr>
            <a:r>
              <a:rPr lang="en-US" sz="2800" dirty="0">
                <a:solidFill>
                  <a:schemeClr val="accent4">
                    <a:lumMod val="75000"/>
                  </a:schemeClr>
                </a:solidFill>
                <a:latin typeface="Open Sans" panose="020B0604020202020204" charset="0"/>
                <a:ea typeface="Open Sans" panose="020B0604020202020204" charset="0"/>
                <a:cs typeface="Open Sans" panose="020B0604020202020204" charset="0"/>
              </a:rPr>
              <a:t>S</a:t>
            </a:r>
            <a:r>
              <a:rPr lang="en-US" sz="2800" dirty="0" smtClean="0">
                <a:solidFill>
                  <a:schemeClr val="accent4">
                    <a:lumMod val="75000"/>
                  </a:schemeClr>
                </a:solidFill>
                <a:latin typeface="Open Sans" panose="020B0604020202020204" charset="0"/>
                <a:ea typeface="Open Sans" panose="020B0604020202020204" charset="0"/>
                <a:cs typeface="Open Sans" panose="020B0604020202020204" charset="0"/>
              </a:rPr>
              <a:t>earch </a:t>
            </a:r>
            <a:r>
              <a:rPr lang="en-US" sz="2800" dirty="0">
                <a:solidFill>
                  <a:schemeClr val="accent4">
                    <a:lumMod val="75000"/>
                  </a:schemeClr>
                </a:solidFill>
                <a:latin typeface="Open Sans" panose="020B0604020202020204" charset="0"/>
                <a:ea typeface="Open Sans" panose="020B0604020202020204" charset="0"/>
                <a:cs typeface="Open Sans" panose="020B0604020202020204" charset="0"/>
              </a:rPr>
              <a:t>tool</a:t>
            </a:r>
          </a:p>
        </p:txBody>
      </p:sp>
    </p:spTree>
    <p:extLst>
      <p:ext uri="{BB962C8B-B14F-4D97-AF65-F5344CB8AC3E}">
        <p14:creationId xmlns:p14="http://schemas.microsoft.com/office/powerpoint/2010/main" val="389720569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duotone>
              <a:schemeClr val="accent1">
                <a:shade val="45000"/>
                <a:satMod val="135000"/>
              </a:schemeClr>
              <a:prstClr val="white"/>
            </a:duotone>
          </a:blip>
          <a:stretch>
            <a:fillRect/>
          </a:stretch>
        </p:blipFill>
        <p:spPr>
          <a:xfrm>
            <a:off x="3962400" y="3223852"/>
            <a:ext cx="10588752" cy="5958248"/>
          </a:xfrm>
          <a:prstGeom prst="rect">
            <a:avLst/>
          </a:prstGeom>
          <a:ln>
            <a:noFill/>
          </a:ln>
          <a:effectLst>
            <a:softEdge rad="112500"/>
          </a:effectLst>
        </p:spPr>
      </p:pic>
      <p:sp>
        <p:nvSpPr>
          <p:cNvPr id="2" name="Freeform 2"/>
          <p:cNvSpPr/>
          <p:nvPr/>
        </p:nvSpPr>
        <p:spPr>
          <a:xfrm>
            <a:off x="-2336674" y="-6604364"/>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4"/>
            <a:stretch>
              <a:fillRect/>
            </a:stretch>
          </a:blipFill>
        </p:spPr>
      </p:sp>
      <p:sp>
        <p:nvSpPr>
          <p:cNvPr id="3" name="Freeform 3"/>
          <p:cNvSpPr/>
          <p:nvPr/>
        </p:nvSpPr>
        <p:spPr>
          <a:xfrm>
            <a:off x="6008251" y="920737"/>
            <a:ext cx="5934317" cy="2028458"/>
          </a:xfrm>
          <a:custGeom>
            <a:avLst/>
            <a:gdLst/>
            <a:ahLst/>
            <a:cxnLst/>
            <a:rect l="l" t="t" r="r" b="b"/>
            <a:pathLst>
              <a:path w="5934317" h="2028458">
                <a:moveTo>
                  <a:pt x="0" y="0"/>
                </a:moveTo>
                <a:lnTo>
                  <a:pt x="5934317" y="0"/>
                </a:lnTo>
                <a:lnTo>
                  <a:pt x="5934317" y="2028458"/>
                </a:lnTo>
                <a:lnTo>
                  <a:pt x="0" y="2028458"/>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4" name="Freeform 4"/>
          <p:cNvSpPr/>
          <p:nvPr/>
        </p:nvSpPr>
        <p:spPr>
          <a:xfrm>
            <a:off x="6039751" y="8955191"/>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4"/>
            <a:stretch>
              <a:fillRect/>
            </a:stretch>
          </a:blipFill>
        </p:spPr>
      </p:sp>
      <p:sp>
        <p:nvSpPr>
          <p:cNvPr id="6" name="TextBox 6"/>
          <p:cNvSpPr txBox="1"/>
          <p:nvPr/>
        </p:nvSpPr>
        <p:spPr>
          <a:xfrm>
            <a:off x="7124180" y="1142856"/>
            <a:ext cx="5340148" cy="1661993"/>
          </a:xfrm>
          <a:prstGeom prst="rect">
            <a:avLst/>
          </a:prstGeom>
        </p:spPr>
        <p:txBody>
          <a:bodyPr wrap="square" lIns="0" tIns="0" rIns="0" bIns="0" rtlCol="0" anchor="t">
            <a:spAutoFit/>
          </a:bodyPr>
          <a:lstStyle/>
          <a:p>
            <a:r>
              <a:rPr lang="en-US" sz="5400" b="1" dirty="0" smtClean="0">
                <a:solidFill>
                  <a:srgbClr val="17375E"/>
                </a:solidFill>
                <a:latin typeface="Hobo" panose="020B0604020202020204" charset="0"/>
              </a:rPr>
              <a:t>Agent in LlamaIndex</a:t>
            </a:r>
            <a:endParaRPr lang="en-US" sz="5400" b="1" dirty="0">
              <a:solidFill>
                <a:srgbClr val="17375E"/>
              </a:solidFill>
              <a:latin typeface="Hobo" panose="020B0604020202020204" charset="0"/>
            </a:endParaRPr>
          </a:p>
        </p:txBody>
      </p:sp>
      <p:sp>
        <p:nvSpPr>
          <p:cNvPr id="17" name="TextBox 16"/>
          <p:cNvSpPr txBox="1"/>
          <p:nvPr/>
        </p:nvSpPr>
        <p:spPr>
          <a:xfrm>
            <a:off x="16687800" y="9182100"/>
            <a:ext cx="1295400" cy="523220"/>
          </a:xfrm>
          <a:prstGeom prst="rect">
            <a:avLst/>
          </a:prstGeom>
          <a:noFill/>
        </p:spPr>
        <p:txBody>
          <a:bodyPr wrap="square" rtlCol="0">
            <a:spAutoFit/>
          </a:bodyPr>
          <a:lstStyle/>
          <a:p>
            <a:r>
              <a:rPr lang="en-US" sz="2800" dirty="0" smtClean="0"/>
              <a:t>35</a:t>
            </a:r>
            <a:endParaRPr lang="en-US" sz="2800" dirty="0"/>
          </a:p>
        </p:txBody>
      </p:sp>
      <p:sp>
        <p:nvSpPr>
          <p:cNvPr id="9" name="TextBox 8"/>
          <p:cNvSpPr txBox="1"/>
          <p:nvPr/>
        </p:nvSpPr>
        <p:spPr>
          <a:xfrm>
            <a:off x="14476476" y="8628102"/>
            <a:ext cx="1143000" cy="553998"/>
          </a:xfrm>
          <a:prstGeom prst="rect">
            <a:avLst/>
          </a:prstGeom>
          <a:noFill/>
        </p:spPr>
        <p:txBody>
          <a:bodyPr wrap="square" rtlCol="0">
            <a:spAutoFit/>
          </a:bodyPr>
          <a:lstStyle/>
          <a:p>
            <a:r>
              <a:rPr lang="en-US" sz="3000" dirty="0" smtClean="0">
                <a:solidFill>
                  <a:schemeClr val="accent4">
                    <a:lumMod val="75000"/>
                  </a:schemeClr>
                </a:solidFill>
                <a:latin typeface="Open Sans" panose="020B0604020202020204" charset="0"/>
                <a:ea typeface="Open Sans" panose="020B0604020202020204" charset="0"/>
                <a:cs typeface="Open Sans" panose="020B0604020202020204" charset="0"/>
                <a:hlinkClick r:id="rId7" action="ppaction://hlinksldjump"/>
              </a:rPr>
              <a:t>[6]</a:t>
            </a:r>
            <a:endParaRPr lang="en-US" sz="3000" dirty="0">
              <a:solidFill>
                <a:schemeClr val="accent4">
                  <a:lumMod val="75000"/>
                </a:schemeClr>
              </a:solidFill>
              <a:latin typeface="Open Sans" panose="020B0604020202020204" charset="0"/>
              <a:ea typeface="Open Sans" panose="020B0604020202020204" charset="0"/>
              <a:cs typeface="Open Sans" panose="020B0604020202020204" charset="0"/>
            </a:endParaRPr>
          </a:p>
        </p:txBody>
      </p:sp>
    </p:spTree>
    <p:extLst>
      <p:ext uri="{BB962C8B-B14F-4D97-AF65-F5344CB8AC3E}">
        <p14:creationId xmlns:p14="http://schemas.microsoft.com/office/powerpoint/2010/main" val="325902142"/>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336674" y="-6604364"/>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3" name="Freeform 3"/>
          <p:cNvSpPr/>
          <p:nvPr/>
        </p:nvSpPr>
        <p:spPr>
          <a:xfrm>
            <a:off x="6029200" y="959623"/>
            <a:ext cx="5934317" cy="2028458"/>
          </a:xfrm>
          <a:custGeom>
            <a:avLst/>
            <a:gdLst/>
            <a:ahLst/>
            <a:cxnLst/>
            <a:rect l="l" t="t" r="r" b="b"/>
            <a:pathLst>
              <a:path w="5934317" h="2028458">
                <a:moveTo>
                  <a:pt x="0" y="0"/>
                </a:moveTo>
                <a:lnTo>
                  <a:pt x="5934317" y="0"/>
                </a:lnTo>
                <a:lnTo>
                  <a:pt x="5934317" y="2028458"/>
                </a:lnTo>
                <a:lnTo>
                  <a:pt x="0" y="202845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a:off x="6039751" y="8955191"/>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6" name="TextBox 6"/>
          <p:cNvSpPr txBox="1"/>
          <p:nvPr/>
        </p:nvSpPr>
        <p:spPr>
          <a:xfrm>
            <a:off x="6326284" y="1142855"/>
            <a:ext cx="5340148" cy="1661993"/>
          </a:xfrm>
          <a:prstGeom prst="rect">
            <a:avLst/>
          </a:prstGeom>
        </p:spPr>
        <p:txBody>
          <a:bodyPr wrap="square" lIns="0" tIns="0" rIns="0" bIns="0" rtlCol="0" anchor="t">
            <a:spAutoFit/>
          </a:bodyPr>
          <a:lstStyle/>
          <a:p>
            <a:r>
              <a:rPr lang="en-US" sz="5400" b="1" dirty="0" smtClean="0">
                <a:solidFill>
                  <a:srgbClr val="17375E"/>
                </a:solidFill>
                <a:latin typeface="Hobo" panose="020B0604020202020204" charset="0"/>
              </a:rPr>
              <a:t>Build Agent Using LlamaIndex</a:t>
            </a:r>
            <a:endParaRPr lang="en-US" sz="5400" b="1" dirty="0">
              <a:solidFill>
                <a:srgbClr val="17375E"/>
              </a:solidFill>
              <a:latin typeface="Hobo" panose="020B0604020202020204" charset="0"/>
            </a:endParaRPr>
          </a:p>
        </p:txBody>
      </p:sp>
      <p:sp>
        <p:nvSpPr>
          <p:cNvPr id="17" name="TextBox 16"/>
          <p:cNvSpPr txBox="1"/>
          <p:nvPr/>
        </p:nvSpPr>
        <p:spPr>
          <a:xfrm>
            <a:off x="16687800" y="9182100"/>
            <a:ext cx="1295400" cy="523220"/>
          </a:xfrm>
          <a:prstGeom prst="rect">
            <a:avLst/>
          </a:prstGeom>
          <a:noFill/>
        </p:spPr>
        <p:txBody>
          <a:bodyPr wrap="square" rtlCol="0">
            <a:spAutoFit/>
          </a:bodyPr>
          <a:lstStyle/>
          <a:p>
            <a:r>
              <a:rPr lang="en-US" sz="2800" dirty="0" smtClean="0"/>
              <a:t>36</a:t>
            </a:r>
            <a:endParaRPr lang="en-US" sz="2800" dirty="0"/>
          </a:p>
        </p:txBody>
      </p:sp>
      <p:pic>
        <p:nvPicPr>
          <p:cNvPr id="5" name="Picture 4"/>
          <p:cNvPicPr>
            <a:picLocks noChangeAspect="1"/>
          </p:cNvPicPr>
          <p:nvPr/>
        </p:nvPicPr>
        <p:blipFill rotWithShape="1">
          <a:blip r:embed="rId6"/>
          <a:srcRect r="3472" b="3572"/>
          <a:stretch/>
        </p:blipFill>
        <p:spPr>
          <a:xfrm>
            <a:off x="3276600" y="3225724"/>
            <a:ext cx="11734799" cy="4114800"/>
          </a:xfrm>
          <a:prstGeom prst="rect">
            <a:avLst/>
          </a:prstGeom>
        </p:spPr>
      </p:pic>
      <p:sp>
        <p:nvSpPr>
          <p:cNvPr id="7" name="Rectangle 1"/>
          <p:cNvSpPr>
            <a:spLocks noChangeArrowheads="1"/>
          </p:cNvSpPr>
          <p:nvPr/>
        </p:nvSpPr>
        <p:spPr bwMode="auto">
          <a:xfrm>
            <a:off x="1524000" y="7436003"/>
            <a:ext cx="16087737" cy="1933049"/>
          </a:xfrm>
          <a:prstGeom prst="rect">
            <a:avLst/>
          </a:prstGeom>
          <a:solidFill>
            <a:srgbClr val="F9FAFB">
              <a:alpha val="0"/>
            </a:srgbClr>
          </a:solidFill>
          <a:ln>
            <a:noFill/>
          </a:ln>
          <a:effectLst/>
        </p:spPr>
        <p:txBody>
          <a:bodyPr vert="horz" wrap="none" lIns="0" tIns="271377" rIns="0" bIns="271377"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rPr>
              <a:t>llm = HuggingFaceInferenceAPI(</a:t>
            </a:r>
            <a:r>
              <a:rPr kumimoji="0" lang="en-US" altLang="en-US" sz="3000" b="0" i="0" u="none" strike="noStrike" cap="none" normalizeH="0" baseline="0" dirty="0" err="1" smtClean="0">
                <a:ln>
                  <a:noFill/>
                </a:ln>
                <a:solidFill>
                  <a:srgbClr val="17375E"/>
                </a:solidFill>
                <a:effectLst/>
                <a:latin typeface="Open Sans" panose="020B0604020202020204" charset="0"/>
                <a:ea typeface="Open Sans" panose="020B0604020202020204" charset="0"/>
                <a:cs typeface="Open Sans" panose="020B0604020202020204" charset="0"/>
              </a:rPr>
              <a:t>model_name</a:t>
            </a:r>
            <a:r>
              <a:rPr kumimoji="0" lang="en-US" altLang="en-US" sz="3000" b="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rPr>
              <a:t>="Qwen/Qwen2.5-Coder-32B-Instruct")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rPr>
              <a:t>agent = AgentWorkflow.from_tools_or_functions( [  FunctionTool.from_defaults(multiply)],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3000" dirty="0">
                <a:solidFill>
                  <a:srgbClr val="17375E"/>
                </a:solidFill>
                <a:latin typeface="Open Sans" panose="020B0604020202020204" charset="0"/>
                <a:ea typeface="Open Sans" panose="020B0604020202020204" charset="0"/>
                <a:cs typeface="Open Sans" panose="020B0604020202020204" charset="0"/>
              </a:rPr>
              <a:t>	</a:t>
            </a:r>
            <a:r>
              <a:rPr lang="en-US" altLang="en-US" sz="3000" dirty="0" smtClean="0">
                <a:solidFill>
                  <a:srgbClr val="17375E"/>
                </a:solidFill>
                <a:latin typeface="Open Sans" panose="020B0604020202020204" charset="0"/>
                <a:ea typeface="Open Sans" panose="020B0604020202020204" charset="0"/>
                <a:cs typeface="Open Sans" panose="020B0604020202020204" charset="0"/>
              </a:rPr>
              <a:t>									</a:t>
            </a:r>
            <a:r>
              <a:rPr kumimoji="0" lang="en-US" altLang="en-US" sz="3000" b="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rPr>
              <a:t>llm=llm ) </a:t>
            </a:r>
          </a:p>
        </p:txBody>
      </p:sp>
    </p:spTree>
    <p:extLst>
      <p:ext uri="{BB962C8B-B14F-4D97-AF65-F5344CB8AC3E}">
        <p14:creationId xmlns:p14="http://schemas.microsoft.com/office/powerpoint/2010/main" val="1923851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336674" y="-6604364"/>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3" name="Freeform 3"/>
          <p:cNvSpPr/>
          <p:nvPr/>
        </p:nvSpPr>
        <p:spPr>
          <a:xfrm>
            <a:off x="6029200" y="959623"/>
            <a:ext cx="5934317" cy="2028458"/>
          </a:xfrm>
          <a:custGeom>
            <a:avLst/>
            <a:gdLst/>
            <a:ahLst/>
            <a:cxnLst/>
            <a:rect l="l" t="t" r="r" b="b"/>
            <a:pathLst>
              <a:path w="5934317" h="2028458">
                <a:moveTo>
                  <a:pt x="0" y="0"/>
                </a:moveTo>
                <a:lnTo>
                  <a:pt x="5934317" y="0"/>
                </a:lnTo>
                <a:lnTo>
                  <a:pt x="5934317" y="2028458"/>
                </a:lnTo>
                <a:lnTo>
                  <a:pt x="0" y="202845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a:off x="6039751" y="8955191"/>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6" name="TextBox 6"/>
          <p:cNvSpPr txBox="1"/>
          <p:nvPr/>
        </p:nvSpPr>
        <p:spPr>
          <a:xfrm>
            <a:off x="6326284" y="1142855"/>
            <a:ext cx="5340148" cy="1661993"/>
          </a:xfrm>
          <a:prstGeom prst="rect">
            <a:avLst/>
          </a:prstGeom>
        </p:spPr>
        <p:txBody>
          <a:bodyPr wrap="square" lIns="0" tIns="0" rIns="0" bIns="0" rtlCol="0" anchor="t">
            <a:spAutoFit/>
          </a:bodyPr>
          <a:lstStyle/>
          <a:p>
            <a:r>
              <a:rPr lang="en-US" sz="5400" b="1" dirty="0" smtClean="0">
                <a:solidFill>
                  <a:srgbClr val="17375E"/>
                </a:solidFill>
                <a:latin typeface="Hobo" panose="020B0604020202020204" charset="0"/>
              </a:rPr>
              <a:t>Build Multi Agent Using LlamaIndex</a:t>
            </a:r>
            <a:endParaRPr lang="en-US" sz="5400" b="1" dirty="0">
              <a:solidFill>
                <a:srgbClr val="17375E"/>
              </a:solidFill>
              <a:latin typeface="Hobo" panose="020B0604020202020204" charset="0"/>
            </a:endParaRPr>
          </a:p>
        </p:txBody>
      </p:sp>
      <p:sp>
        <p:nvSpPr>
          <p:cNvPr id="17" name="TextBox 16"/>
          <p:cNvSpPr txBox="1"/>
          <p:nvPr/>
        </p:nvSpPr>
        <p:spPr>
          <a:xfrm>
            <a:off x="16687800" y="9182100"/>
            <a:ext cx="1295400" cy="523220"/>
          </a:xfrm>
          <a:prstGeom prst="rect">
            <a:avLst/>
          </a:prstGeom>
          <a:noFill/>
        </p:spPr>
        <p:txBody>
          <a:bodyPr wrap="square" rtlCol="0">
            <a:spAutoFit/>
          </a:bodyPr>
          <a:lstStyle/>
          <a:p>
            <a:r>
              <a:rPr lang="en-US" sz="2800" dirty="0" smtClean="0"/>
              <a:t>37</a:t>
            </a:r>
            <a:endParaRPr lang="en-US" sz="2800" dirty="0"/>
          </a:p>
        </p:txBody>
      </p:sp>
      <p:pic>
        <p:nvPicPr>
          <p:cNvPr id="8" name="Picture 7"/>
          <p:cNvPicPr>
            <a:picLocks noChangeAspect="1"/>
          </p:cNvPicPr>
          <p:nvPr/>
        </p:nvPicPr>
        <p:blipFill>
          <a:blip r:embed="rId6"/>
          <a:stretch>
            <a:fillRect/>
          </a:stretch>
        </p:blipFill>
        <p:spPr>
          <a:xfrm>
            <a:off x="228600" y="3869458"/>
            <a:ext cx="6705649" cy="3838603"/>
          </a:xfrm>
          <a:prstGeom prst="rect">
            <a:avLst/>
          </a:prstGeom>
        </p:spPr>
      </p:pic>
      <p:sp>
        <p:nvSpPr>
          <p:cNvPr id="10" name="Rectangle 1"/>
          <p:cNvSpPr>
            <a:spLocks noChangeArrowheads="1"/>
          </p:cNvSpPr>
          <p:nvPr/>
        </p:nvSpPr>
        <p:spPr bwMode="auto">
          <a:xfrm>
            <a:off x="7315200" y="4113019"/>
            <a:ext cx="10506200" cy="3595042"/>
          </a:xfrm>
          <a:prstGeom prst="rect">
            <a:avLst/>
          </a:prstGeom>
          <a:solidFill>
            <a:srgbClr val="F9FAFB">
              <a:alpha val="0"/>
            </a:srgbClr>
          </a:solidFill>
          <a:ln>
            <a:noFill/>
          </a:ln>
          <a:effectLst/>
        </p:spPr>
        <p:txBody>
          <a:bodyPr vert="horz" wrap="square" lIns="0" tIns="271377" rIns="0" bIns="271377"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rPr>
              <a:t>calculator_agent = ReActAgent(       name="calculator",</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solidFill>
                  <a:srgbClr val="17375E"/>
                </a:solidFill>
                <a:latin typeface="Open Sans" panose="020B0604020202020204" charset="0"/>
                <a:ea typeface="Open Sans" panose="020B0604020202020204" charset="0"/>
                <a:cs typeface="Open Sans" panose="020B0604020202020204" charset="0"/>
              </a:rPr>
              <a:t>	</a:t>
            </a:r>
            <a:r>
              <a:rPr lang="en-US" altLang="en-US" dirty="0" smtClean="0">
                <a:solidFill>
                  <a:srgbClr val="17375E"/>
                </a:solidFill>
                <a:latin typeface="Open Sans" panose="020B0604020202020204" charset="0"/>
                <a:ea typeface="Open Sans" panose="020B0604020202020204" charset="0"/>
                <a:cs typeface="Open Sans" panose="020B0604020202020204" charset="0"/>
              </a:rPr>
              <a:t>			</a:t>
            </a:r>
            <a:r>
              <a:rPr kumimoji="0" lang="en-US" altLang="en-US" b="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rPr>
              <a:t>description="Performs basic arithmetic operations",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solidFill>
                  <a:srgbClr val="17375E"/>
                </a:solidFill>
                <a:latin typeface="Open Sans" panose="020B0604020202020204" charset="0"/>
                <a:ea typeface="Open Sans" panose="020B0604020202020204" charset="0"/>
                <a:cs typeface="Open Sans" panose="020B0604020202020204" charset="0"/>
              </a:rPr>
              <a:t>	</a:t>
            </a:r>
            <a:r>
              <a:rPr lang="en-US" altLang="en-US" dirty="0" smtClean="0">
                <a:solidFill>
                  <a:srgbClr val="17375E"/>
                </a:solidFill>
                <a:latin typeface="Open Sans" panose="020B0604020202020204" charset="0"/>
                <a:ea typeface="Open Sans" panose="020B0604020202020204" charset="0"/>
                <a:cs typeface="Open Sans" panose="020B0604020202020204" charset="0"/>
              </a:rPr>
              <a:t>			</a:t>
            </a:r>
            <a:r>
              <a:rPr kumimoji="0" lang="en-US" altLang="en-US" b="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rPr>
              <a:t>system_prompt="You are a calculator assistant. Use your tools 				for any math operation.",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solidFill>
                  <a:srgbClr val="17375E"/>
                </a:solidFill>
                <a:latin typeface="Open Sans" panose="020B0604020202020204" charset="0"/>
                <a:ea typeface="Open Sans" panose="020B0604020202020204" charset="0"/>
                <a:cs typeface="Open Sans" panose="020B0604020202020204" charset="0"/>
              </a:rPr>
              <a:t>	</a:t>
            </a:r>
            <a:r>
              <a:rPr lang="en-US" altLang="en-US" dirty="0" smtClean="0">
                <a:solidFill>
                  <a:srgbClr val="17375E"/>
                </a:solidFill>
                <a:latin typeface="Open Sans" panose="020B0604020202020204" charset="0"/>
                <a:ea typeface="Open Sans" panose="020B0604020202020204" charset="0"/>
                <a:cs typeface="Open Sans" panose="020B0604020202020204" charset="0"/>
              </a:rPr>
              <a:t>			</a:t>
            </a:r>
            <a:r>
              <a:rPr kumimoji="0" lang="en-US" altLang="en-US" b="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rPr>
              <a:t>tools=[add, subtract], llm=llm,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rPr>
              <a:t>query_agent = ReActAgent( 	name="info_lookup",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solidFill>
                  <a:srgbClr val="17375E"/>
                </a:solidFill>
                <a:latin typeface="Open Sans" panose="020B0604020202020204" charset="0"/>
                <a:ea typeface="Open Sans" panose="020B0604020202020204" charset="0"/>
                <a:cs typeface="Open Sans" panose="020B0604020202020204" charset="0"/>
              </a:rPr>
              <a:t>	</a:t>
            </a:r>
            <a:r>
              <a:rPr lang="en-US" altLang="en-US" dirty="0" smtClean="0">
                <a:solidFill>
                  <a:srgbClr val="17375E"/>
                </a:solidFill>
                <a:latin typeface="Open Sans" panose="020B0604020202020204" charset="0"/>
                <a:ea typeface="Open Sans" panose="020B0604020202020204" charset="0"/>
                <a:cs typeface="Open Sans" panose="020B0604020202020204" charset="0"/>
              </a:rPr>
              <a:t>			</a:t>
            </a:r>
            <a:r>
              <a:rPr kumimoji="0" lang="en-US" altLang="en-US" b="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rPr>
              <a:t>description="Looks up information about XYZ",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solidFill>
                  <a:srgbClr val="17375E"/>
                </a:solidFill>
                <a:latin typeface="Open Sans" panose="020B0604020202020204" charset="0"/>
                <a:ea typeface="Open Sans" panose="020B0604020202020204" charset="0"/>
                <a:cs typeface="Open Sans" panose="020B0604020202020204" charset="0"/>
              </a:rPr>
              <a:t>	</a:t>
            </a:r>
            <a:r>
              <a:rPr lang="en-US" altLang="en-US" dirty="0" smtClean="0">
                <a:solidFill>
                  <a:srgbClr val="17375E"/>
                </a:solidFill>
                <a:latin typeface="Open Sans" panose="020B0604020202020204" charset="0"/>
                <a:ea typeface="Open Sans" panose="020B0604020202020204" charset="0"/>
                <a:cs typeface="Open Sans" panose="020B0604020202020204" charset="0"/>
              </a:rPr>
              <a:t>			</a:t>
            </a:r>
            <a:r>
              <a:rPr kumimoji="0" lang="en-US" altLang="en-US" b="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rPr>
              <a:t>system_prompt="Use your tool to query a RAG system to 					answer information about XYZ",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solidFill>
                  <a:srgbClr val="17375E"/>
                </a:solidFill>
                <a:latin typeface="Open Sans" panose="020B0604020202020204" charset="0"/>
                <a:ea typeface="Open Sans" panose="020B0604020202020204" charset="0"/>
                <a:cs typeface="Open Sans" panose="020B0604020202020204" charset="0"/>
              </a:rPr>
              <a:t>	</a:t>
            </a:r>
            <a:r>
              <a:rPr lang="en-US" altLang="en-US" dirty="0" smtClean="0">
                <a:solidFill>
                  <a:srgbClr val="17375E"/>
                </a:solidFill>
                <a:latin typeface="Open Sans" panose="020B0604020202020204" charset="0"/>
                <a:ea typeface="Open Sans" panose="020B0604020202020204" charset="0"/>
                <a:cs typeface="Open Sans" panose="020B0604020202020204" charset="0"/>
              </a:rPr>
              <a:t>			</a:t>
            </a:r>
            <a:r>
              <a:rPr kumimoji="0" lang="en-US" altLang="en-US" b="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rPr>
              <a:t>tools=[query_engine_tool], llm=llm ) </a:t>
            </a:r>
            <a:endParaRPr lang="en-US" altLang="en-US" i="1" dirty="0">
              <a:solidFill>
                <a:srgbClr val="17375E"/>
              </a:solidFill>
              <a:latin typeface="Open Sans" panose="020B0604020202020204" charset="0"/>
              <a:ea typeface="Open Sans" panose="020B0604020202020204" charset="0"/>
              <a:cs typeface="Open Sans" panose="020B060402020202020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rPr>
              <a:t>agent = AgentWorkflow( agents=[calculator_agent, query_agent], root_agent="calculator" )</a:t>
            </a:r>
            <a:r>
              <a:rPr kumimoji="0" lang="en-US" altLang="en-US" sz="900" b="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rPr>
              <a:t> </a:t>
            </a:r>
            <a:endParaRPr kumimoji="0" lang="en-US" altLang="en-US" b="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endParaRPr>
          </a:p>
        </p:txBody>
      </p:sp>
    </p:spTree>
    <p:extLst>
      <p:ext uri="{BB962C8B-B14F-4D97-AF65-F5344CB8AC3E}">
        <p14:creationId xmlns:p14="http://schemas.microsoft.com/office/powerpoint/2010/main" val="284921317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p:cTn id="14" dur="500" fill="hold"/>
                                        <p:tgtEl>
                                          <p:spTgt spid="10"/>
                                        </p:tgtEl>
                                        <p:attrNameLst>
                                          <p:attrName>ppt_w</p:attrName>
                                        </p:attrNameLst>
                                      </p:cBhvr>
                                      <p:tavLst>
                                        <p:tav tm="0">
                                          <p:val>
                                            <p:fltVal val="0"/>
                                          </p:val>
                                        </p:tav>
                                        <p:tav tm="100000">
                                          <p:val>
                                            <p:strVal val="#ppt_w"/>
                                          </p:val>
                                        </p:tav>
                                      </p:tavLst>
                                    </p:anim>
                                    <p:anim calcmode="lin" valueType="num">
                                      <p:cBhvr>
                                        <p:cTn id="15" dur="500" fill="hold"/>
                                        <p:tgtEl>
                                          <p:spTgt spid="10"/>
                                        </p:tgtEl>
                                        <p:attrNameLst>
                                          <p:attrName>ppt_h</p:attrName>
                                        </p:attrNameLst>
                                      </p:cBhvr>
                                      <p:tavLst>
                                        <p:tav tm="0">
                                          <p:val>
                                            <p:fltVal val="0"/>
                                          </p:val>
                                        </p:tav>
                                        <p:tav tm="100000">
                                          <p:val>
                                            <p:strVal val="#ppt_h"/>
                                          </p:val>
                                        </p:tav>
                                      </p:tavLst>
                                    </p:anim>
                                    <p:animEffect transition="in" filter="fade">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336674" y="-6604364"/>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3" name="Freeform 3"/>
          <p:cNvSpPr/>
          <p:nvPr/>
        </p:nvSpPr>
        <p:spPr>
          <a:xfrm>
            <a:off x="5842558" y="949952"/>
            <a:ext cx="6391400" cy="2028458"/>
          </a:xfrm>
          <a:custGeom>
            <a:avLst/>
            <a:gdLst/>
            <a:ahLst/>
            <a:cxnLst/>
            <a:rect l="l" t="t" r="r" b="b"/>
            <a:pathLst>
              <a:path w="5934317" h="2028458">
                <a:moveTo>
                  <a:pt x="0" y="0"/>
                </a:moveTo>
                <a:lnTo>
                  <a:pt x="5934317" y="0"/>
                </a:lnTo>
                <a:lnTo>
                  <a:pt x="5934317" y="2028458"/>
                </a:lnTo>
                <a:lnTo>
                  <a:pt x="0" y="202845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a:off x="6039751" y="8955191"/>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6" name="TextBox 6"/>
          <p:cNvSpPr txBox="1"/>
          <p:nvPr/>
        </p:nvSpPr>
        <p:spPr>
          <a:xfrm>
            <a:off x="6029200" y="1472129"/>
            <a:ext cx="6018116" cy="830997"/>
          </a:xfrm>
          <a:prstGeom prst="rect">
            <a:avLst/>
          </a:prstGeom>
        </p:spPr>
        <p:txBody>
          <a:bodyPr wrap="square" lIns="0" tIns="0" rIns="0" bIns="0" rtlCol="0" anchor="t">
            <a:spAutoFit/>
          </a:bodyPr>
          <a:lstStyle/>
          <a:p>
            <a:r>
              <a:rPr lang="en-US" sz="5400" b="1" dirty="0" smtClean="0">
                <a:solidFill>
                  <a:srgbClr val="17375E"/>
                </a:solidFill>
                <a:latin typeface="Hobo" panose="020B0604020202020204" charset="0"/>
              </a:rPr>
              <a:t>What are Workflow?</a:t>
            </a:r>
            <a:endParaRPr lang="en-US" sz="5400" b="1" dirty="0">
              <a:solidFill>
                <a:srgbClr val="17375E"/>
              </a:solidFill>
              <a:latin typeface="Hobo" panose="020B0604020202020204" charset="0"/>
            </a:endParaRPr>
          </a:p>
        </p:txBody>
      </p:sp>
      <p:sp>
        <p:nvSpPr>
          <p:cNvPr id="17" name="TextBox 16"/>
          <p:cNvSpPr txBox="1"/>
          <p:nvPr/>
        </p:nvSpPr>
        <p:spPr>
          <a:xfrm>
            <a:off x="16687800" y="9182100"/>
            <a:ext cx="1295400" cy="523220"/>
          </a:xfrm>
          <a:prstGeom prst="rect">
            <a:avLst/>
          </a:prstGeom>
          <a:noFill/>
        </p:spPr>
        <p:txBody>
          <a:bodyPr wrap="square" rtlCol="0">
            <a:spAutoFit/>
          </a:bodyPr>
          <a:lstStyle/>
          <a:p>
            <a:r>
              <a:rPr lang="en-US" sz="2800" dirty="0" smtClean="0"/>
              <a:t>38</a:t>
            </a:r>
            <a:endParaRPr lang="en-US" sz="2800" dirty="0"/>
          </a:p>
        </p:txBody>
      </p:sp>
      <p:sp>
        <p:nvSpPr>
          <p:cNvPr id="10" name="Rectangle 1"/>
          <p:cNvSpPr>
            <a:spLocks noChangeArrowheads="1"/>
          </p:cNvSpPr>
          <p:nvPr/>
        </p:nvSpPr>
        <p:spPr bwMode="auto">
          <a:xfrm>
            <a:off x="3124200" y="3638812"/>
            <a:ext cx="12987603" cy="3318043"/>
          </a:xfrm>
          <a:prstGeom prst="rect">
            <a:avLst/>
          </a:prstGeom>
          <a:solidFill>
            <a:srgbClr val="F9FAFB">
              <a:alpha val="0"/>
            </a:srgbClr>
          </a:solidFill>
          <a:ln>
            <a:noFill/>
          </a:ln>
          <a:effectLst/>
        </p:spPr>
        <p:txBody>
          <a:bodyPr vert="horz" wrap="square" lIns="0" tIns="271377" rIns="0" bIns="271377" numCol="1" anchor="ctr" anchorCtr="0" compatLnSpc="1">
            <a:prstTxWarp prst="textNoShape">
              <a:avLst/>
            </a:prstTxWarp>
            <a:spAutoFit/>
          </a:bodyPr>
          <a:lstStyle/>
          <a:p>
            <a:pPr lvl="0" eaLnBrk="0" fontAlgn="base" hangingPunct="0">
              <a:spcBef>
                <a:spcPct val="0"/>
              </a:spcBef>
              <a:spcAft>
                <a:spcPct val="0"/>
              </a:spcAft>
            </a:pPr>
            <a:r>
              <a:rPr lang="en-US" sz="3000" dirty="0">
                <a:solidFill>
                  <a:srgbClr val="17375E"/>
                </a:solidFill>
                <a:latin typeface="Open Sans" panose="020B0604020202020204" charset="0"/>
                <a:ea typeface="Open Sans" panose="020B0604020202020204" charset="0"/>
                <a:cs typeface="Open Sans" panose="020B0604020202020204" charset="0"/>
              </a:rPr>
              <a:t>Workflows are multi-step processes that combine one or more agents, data connectors, and other tools to complete a task. They are event-driven software that allows you to combine RAG data sources and multiple agents to create a complex application that can perform a wide variety of tasks with reflection, error-correction, and other hallmarks of advanced LLM </a:t>
            </a:r>
            <a:r>
              <a:rPr lang="en-US" sz="3000" dirty="0" smtClean="0">
                <a:solidFill>
                  <a:srgbClr val="17375E"/>
                </a:solidFill>
                <a:latin typeface="Open Sans" panose="020B0604020202020204" charset="0"/>
                <a:ea typeface="Open Sans" panose="020B0604020202020204" charset="0"/>
                <a:cs typeface="Open Sans" panose="020B0604020202020204" charset="0"/>
              </a:rPr>
              <a:t>applications</a:t>
            </a:r>
            <a:r>
              <a:rPr lang="en-US" sz="3000" dirty="0">
                <a:solidFill>
                  <a:srgbClr val="17375E"/>
                </a:solidFill>
                <a:latin typeface="Open Sans" panose="020B0604020202020204" charset="0"/>
                <a:ea typeface="Open Sans" panose="020B0604020202020204" charset="0"/>
                <a:cs typeface="Open Sans" panose="020B0604020202020204" charset="0"/>
              </a:rPr>
              <a:t> </a:t>
            </a:r>
            <a:r>
              <a:rPr lang="en-US" sz="3000" dirty="0" smtClean="0">
                <a:solidFill>
                  <a:srgbClr val="17375E"/>
                </a:solidFill>
                <a:latin typeface="Open Sans" panose="020B0604020202020204" charset="0"/>
                <a:ea typeface="Open Sans" panose="020B0604020202020204" charset="0"/>
                <a:cs typeface="Open Sans" panose="020B0604020202020204" charset="0"/>
                <a:hlinkClick r:id="rId6" action="ppaction://hlinksldjump"/>
              </a:rPr>
              <a:t>[5]</a:t>
            </a:r>
            <a:r>
              <a:rPr lang="en-US" sz="3000" dirty="0" smtClean="0">
                <a:solidFill>
                  <a:srgbClr val="17375E"/>
                </a:solidFill>
                <a:latin typeface="Open Sans" panose="020B0604020202020204" charset="0"/>
                <a:ea typeface="Open Sans" panose="020B0604020202020204" charset="0"/>
                <a:cs typeface="Open Sans" panose="020B0604020202020204" charset="0"/>
              </a:rPr>
              <a:t>.</a:t>
            </a:r>
            <a:endParaRPr kumimoji="0" lang="en-US" altLang="en-US" sz="3000" b="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endParaRPr>
          </a:p>
        </p:txBody>
      </p:sp>
    </p:spTree>
    <p:extLst>
      <p:ext uri="{BB962C8B-B14F-4D97-AF65-F5344CB8AC3E}">
        <p14:creationId xmlns:p14="http://schemas.microsoft.com/office/powerpoint/2010/main" val="2503734973"/>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336674" y="-6604364"/>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3" name="Freeform 3"/>
          <p:cNvSpPr/>
          <p:nvPr/>
        </p:nvSpPr>
        <p:spPr>
          <a:xfrm>
            <a:off x="5842558" y="949952"/>
            <a:ext cx="6391400" cy="2028458"/>
          </a:xfrm>
          <a:custGeom>
            <a:avLst/>
            <a:gdLst/>
            <a:ahLst/>
            <a:cxnLst/>
            <a:rect l="l" t="t" r="r" b="b"/>
            <a:pathLst>
              <a:path w="5934317" h="2028458">
                <a:moveTo>
                  <a:pt x="0" y="0"/>
                </a:moveTo>
                <a:lnTo>
                  <a:pt x="5934317" y="0"/>
                </a:lnTo>
                <a:lnTo>
                  <a:pt x="5934317" y="2028458"/>
                </a:lnTo>
                <a:lnTo>
                  <a:pt x="0" y="202845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a:off x="6039751" y="8955191"/>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3"/>
            <a:stretch>
              <a:fillRect/>
            </a:stretch>
          </a:blipFill>
        </p:spPr>
      </p:sp>
      <p:sp>
        <p:nvSpPr>
          <p:cNvPr id="6" name="TextBox 6"/>
          <p:cNvSpPr txBox="1"/>
          <p:nvPr/>
        </p:nvSpPr>
        <p:spPr>
          <a:xfrm>
            <a:off x="6705600" y="1316417"/>
            <a:ext cx="6018116" cy="1661993"/>
          </a:xfrm>
          <a:prstGeom prst="rect">
            <a:avLst/>
          </a:prstGeom>
        </p:spPr>
        <p:txBody>
          <a:bodyPr wrap="square" lIns="0" tIns="0" rIns="0" bIns="0" rtlCol="0" anchor="t">
            <a:spAutoFit/>
          </a:bodyPr>
          <a:lstStyle/>
          <a:p>
            <a:r>
              <a:rPr lang="en-US" sz="5400" b="1" dirty="0" smtClean="0">
                <a:solidFill>
                  <a:srgbClr val="17375E"/>
                </a:solidFill>
                <a:latin typeface="Hobo" panose="020B0604020202020204" charset="0"/>
              </a:rPr>
              <a:t>Build Workflow System</a:t>
            </a:r>
            <a:endParaRPr lang="en-US" sz="5400" b="1" dirty="0">
              <a:solidFill>
                <a:srgbClr val="17375E"/>
              </a:solidFill>
              <a:latin typeface="Hobo" panose="020B0604020202020204" charset="0"/>
            </a:endParaRPr>
          </a:p>
        </p:txBody>
      </p:sp>
      <p:sp>
        <p:nvSpPr>
          <p:cNvPr id="17" name="TextBox 16"/>
          <p:cNvSpPr txBox="1"/>
          <p:nvPr/>
        </p:nvSpPr>
        <p:spPr>
          <a:xfrm>
            <a:off x="16687800" y="9182100"/>
            <a:ext cx="1295400" cy="523220"/>
          </a:xfrm>
          <a:prstGeom prst="rect">
            <a:avLst/>
          </a:prstGeom>
          <a:noFill/>
        </p:spPr>
        <p:txBody>
          <a:bodyPr wrap="square" rtlCol="0">
            <a:spAutoFit/>
          </a:bodyPr>
          <a:lstStyle/>
          <a:p>
            <a:r>
              <a:rPr lang="en-US" sz="2800" dirty="0" smtClean="0"/>
              <a:t>39</a:t>
            </a:r>
            <a:endParaRPr lang="en-US" sz="2800" dirty="0"/>
          </a:p>
        </p:txBody>
      </p:sp>
      <p:pic>
        <p:nvPicPr>
          <p:cNvPr id="5" name="Picture 4"/>
          <p:cNvPicPr>
            <a:picLocks noChangeAspect="1"/>
          </p:cNvPicPr>
          <p:nvPr/>
        </p:nvPicPr>
        <p:blipFill>
          <a:blip r:embed="rId6"/>
          <a:stretch>
            <a:fillRect/>
          </a:stretch>
        </p:blipFill>
        <p:spPr>
          <a:xfrm>
            <a:off x="914400" y="3771900"/>
            <a:ext cx="7678605" cy="4077455"/>
          </a:xfrm>
          <a:prstGeom prst="rect">
            <a:avLst/>
          </a:prstGeom>
        </p:spPr>
      </p:pic>
      <p:pic>
        <p:nvPicPr>
          <p:cNvPr id="7" name="Picture 6"/>
          <p:cNvPicPr>
            <a:picLocks noChangeAspect="1"/>
          </p:cNvPicPr>
          <p:nvPr/>
        </p:nvPicPr>
        <p:blipFill>
          <a:blip r:embed="rId7"/>
          <a:stretch>
            <a:fillRect/>
          </a:stretch>
        </p:blipFill>
        <p:spPr>
          <a:xfrm>
            <a:off x="8915400" y="3344876"/>
            <a:ext cx="8756591" cy="4257142"/>
          </a:xfrm>
          <a:prstGeom prst="rect">
            <a:avLst/>
          </a:prstGeom>
        </p:spPr>
      </p:pic>
      <p:sp>
        <p:nvSpPr>
          <p:cNvPr id="8" name="TextBox 7"/>
          <p:cNvSpPr txBox="1"/>
          <p:nvPr/>
        </p:nvSpPr>
        <p:spPr>
          <a:xfrm>
            <a:off x="4191000" y="7844330"/>
            <a:ext cx="11277600" cy="1477328"/>
          </a:xfrm>
          <a:prstGeom prst="rect">
            <a:avLst/>
          </a:prstGeom>
          <a:noFill/>
        </p:spPr>
        <p:txBody>
          <a:bodyPr wrap="square" rtlCol="0">
            <a:spAutoFit/>
          </a:bodyPr>
          <a:lstStyle/>
          <a:p>
            <a:pPr lvl="0"/>
            <a:r>
              <a:rPr lang="en-US" sz="3000" dirty="0" smtClean="0">
                <a:solidFill>
                  <a:srgbClr val="17375E"/>
                </a:solidFill>
                <a:latin typeface="Open Sans" panose="020B0604020202020204" charset="0"/>
                <a:ea typeface="Open Sans" panose="020B0604020202020204" charset="0"/>
                <a:cs typeface="Open Sans" panose="020B0604020202020204" charset="0"/>
              </a:rPr>
              <a:t>To Run:     </a:t>
            </a:r>
            <a:r>
              <a:rPr lang="en-US" altLang="en-US" sz="3000" dirty="0" smtClean="0">
                <a:solidFill>
                  <a:srgbClr val="17375E"/>
                </a:solidFill>
                <a:latin typeface="Open Sans" panose="020B0604020202020204" charset="0"/>
                <a:ea typeface="Open Sans" panose="020B0604020202020204" charset="0"/>
                <a:cs typeface="Open Sans" panose="020B0604020202020204" charset="0"/>
              </a:rPr>
              <a:t>w </a:t>
            </a:r>
            <a:r>
              <a:rPr lang="en-US" altLang="en-US" sz="3000" dirty="0">
                <a:solidFill>
                  <a:srgbClr val="17375E"/>
                </a:solidFill>
                <a:latin typeface="Open Sans" panose="020B0604020202020204" charset="0"/>
                <a:ea typeface="Open Sans" panose="020B0604020202020204" charset="0"/>
                <a:cs typeface="Open Sans" panose="020B0604020202020204" charset="0"/>
              </a:rPr>
              <a:t>= MyWorkflow(timeout=10, verbose=False) </a:t>
            </a:r>
            <a:endParaRPr lang="en-US" altLang="en-US" sz="3000" dirty="0" smtClean="0">
              <a:solidFill>
                <a:srgbClr val="17375E"/>
              </a:solidFill>
              <a:latin typeface="Open Sans" panose="020B0604020202020204" charset="0"/>
              <a:ea typeface="Open Sans" panose="020B0604020202020204" charset="0"/>
              <a:cs typeface="Open Sans" panose="020B0604020202020204" charset="0"/>
            </a:endParaRPr>
          </a:p>
          <a:p>
            <a:pPr lvl="0"/>
            <a:r>
              <a:rPr lang="en-US" altLang="en-US" sz="3000" dirty="0">
                <a:solidFill>
                  <a:srgbClr val="17375E"/>
                </a:solidFill>
                <a:latin typeface="Open Sans" panose="020B0604020202020204" charset="0"/>
                <a:ea typeface="Open Sans" panose="020B0604020202020204" charset="0"/>
                <a:cs typeface="Open Sans" panose="020B0604020202020204" charset="0"/>
              </a:rPr>
              <a:t>	</a:t>
            </a:r>
            <a:r>
              <a:rPr lang="en-US" altLang="en-US" sz="3000" dirty="0" smtClean="0">
                <a:solidFill>
                  <a:srgbClr val="17375E"/>
                </a:solidFill>
                <a:latin typeface="Open Sans" panose="020B0604020202020204" charset="0"/>
                <a:ea typeface="Open Sans" panose="020B0604020202020204" charset="0"/>
                <a:cs typeface="Open Sans" panose="020B0604020202020204" charset="0"/>
              </a:rPr>
              <a:t>	result </a:t>
            </a:r>
            <a:r>
              <a:rPr lang="en-US" altLang="en-US" sz="3000" dirty="0">
                <a:solidFill>
                  <a:srgbClr val="17375E"/>
                </a:solidFill>
                <a:latin typeface="Open Sans" panose="020B0604020202020204" charset="0"/>
                <a:ea typeface="Open Sans" panose="020B0604020202020204" charset="0"/>
                <a:cs typeface="Open Sans" panose="020B0604020202020204" charset="0"/>
              </a:rPr>
              <a:t>= await w.run() </a:t>
            </a:r>
          </a:p>
          <a:p>
            <a:endParaRPr lang="en-US" sz="3000" dirty="0">
              <a:solidFill>
                <a:srgbClr val="17375E"/>
              </a:solidFill>
              <a:latin typeface="Open Sans" panose="020B0604020202020204" charset="0"/>
              <a:ea typeface="Open Sans" panose="020B0604020202020204" charset="0"/>
              <a:cs typeface="Open Sans" panose="020B0604020202020204" charset="0"/>
            </a:endParaRPr>
          </a:p>
        </p:txBody>
      </p:sp>
    </p:spTree>
    <p:extLst>
      <p:ext uri="{BB962C8B-B14F-4D97-AF65-F5344CB8AC3E}">
        <p14:creationId xmlns:p14="http://schemas.microsoft.com/office/powerpoint/2010/main" val="2924580920"/>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p:cTn id="15" dur="1000" fill="hold"/>
                                        <p:tgtEl>
                                          <p:spTgt spid="7"/>
                                        </p:tgtEl>
                                        <p:attrNameLst>
                                          <p:attrName>ppt_w</p:attrName>
                                        </p:attrNameLst>
                                      </p:cBhvr>
                                      <p:tavLst>
                                        <p:tav tm="0">
                                          <p:val>
                                            <p:fltVal val="0"/>
                                          </p:val>
                                        </p:tav>
                                        <p:tav tm="100000">
                                          <p:val>
                                            <p:strVal val="#ppt_w"/>
                                          </p:val>
                                        </p:tav>
                                      </p:tavLst>
                                    </p:anim>
                                    <p:anim calcmode="lin" valueType="num">
                                      <p:cBhvr>
                                        <p:cTn id="16" dur="1000" fill="hold"/>
                                        <p:tgtEl>
                                          <p:spTgt spid="7"/>
                                        </p:tgtEl>
                                        <p:attrNameLst>
                                          <p:attrName>ppt_h</p:attrName>
                                        </p:attrNameLst>
                                      </p:cBhvr>
                                      <p:tavLst>
                                        <p:tav tm="0">
                                          <p:val>
                                            <p:fltVal val="0"/>
                                          </p:val>
                                        </p:tav>
                                        <p:tav tm="100000">
                                          <p:val>
                                            <p:strVal val="#ppt_h"/>
                                          </p:val>
                                        </p:tav>
                                      </p:tavLst>
                                    </p:anim>
                                    <p:anim calcmode="lin" valueType="num">
                                      <p:cBhvr>
                                        <p:cTn id="17" dur="1000" fill="hold"/>
                                        <p:tgtEl>
                                          <p:spTgt spid="7"/>
                                        </p:tgtEl>
                                        <p:attrNameLst>
                                          <p:attrName>style.rotation</p:attrName>
                                        </p:attrNameLst>
                                      </p:cBhvr>
                                      <p:tavLst>
                                        <p:tav tm="0">
                                          <p:val>
                                            <p:fltVal val="90"/>
                                          </p:val>
                                        </p:tav>
                                        <p:tav tm="100000">
                                          <p:val>
                                            <p:fltVal val="0"/>
                                          </p:val>
                                        </p:tav>
                                      </p:tavLst>
                                    </p:anim>
                                    <p:animEffect transition="in" filter="fade">
                                      <p:cBhvr>
                                        <p:cTn id="18" dur="10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67720" y="8031009"/>
            <a:ext cx="16805381" cy="9025890"/>
          </a:xfrm>
          <a:custGeom>
            <a:avLst/>
            <a:gdLst/>
            <a:ahLst/>
            <a:cxnLst/>
            <a:rect l="l" t="t" r="r" b="b"/>
            <a:pathLst>
              <a:path w="16805381" h="9025890">
                <a:moveTo>
                  <a:pt x="0" y="0"/>
                </a:moveTo>
                <a:lnTo>
                  <a:pt x="16805381" y="0"/>
                </a:lnTo>
                <a:lnTo>
                  <a:pt x="16805381" y="9025890"/>
                </a:lnTo>
                <a:lnTo>
                  <a:pt x="0" y="9025890"/>
                </a:lnTo>
                <a:lnTo>
                  <a:pt x="0" y="0"/>
                </a:lnTo>
                <a:close/>
              </a:path>
            </a:pathLst>
          </a:custGeom>
          <a:blipFill>
            <a:blip r:embed="rId2">
              <a:alphaModFix amt="85000"/>
            </a:blip>
            <a:stretch>
              <a:fillRect/>
            </a:stretch>
          </a:blipFill>
        </p:spPr>
      </p:sp>
      <p:sp>
        <p:nvSpPr>
          <p:cNvPr id="8" name="Freeform 8"/>
          <p:cNvSpPr/>
          <p:nvPr/>
        </p:nvSpPr>
        <p:spPr>
          <a:xfrm>
            <a:off x="10910287" y="-6589014"/>
            <a:ext cx="16805381" cy="9025890"/>
          </a:xfrm>
          <a:custGeom>
            <a:avLst/>
            <a:gdLst/>
            <a:ahLst/>
            <a:cxnLst/>
            <a:rect l="l" t="t" r="r" b="b"/>
            <a:pathLst>
              <a:path w="16805381" h="9025890">
                <a:moveTo>
                  <a:pt x="0" y="0"/>
                </a:moveTo>
                <a:lnTo>
                  <a:pt x="16805381" y="0"/>
                </a:lnTo>
                <a:lnTo>
                  <a:pt x="16805381" y="9025890"/>
                </a:lnTo>
                <a:lnTo>
                  <a:pt x="0" y="9025890"/>
                </a:lnTo>
                <a:lnTo>
                  <a:pt x="0" y="0"/>
                </a:lnTo>
                <a:close/>
              </a:path>
            </a:pathLst>
          </a:custGeom>
          <a:blipFill>
            <a:blip r:embed="rId2">
              <a:alphaModFix amt="85000"/>
            </a:blip>
            <a:stretch>
              <a:fillRect/>
            </a:stretch>
          </a:blipFill>
        </p:spPr>
      </p:sp>
      <p:sp>
        <p:nvSpPr>
          <p:cNvPr id="19" name="TextBox 19"/>
          <p:cNvSpPr txBox="1"/>
          <p:nvPr/>
        </p:nvSpPr>
        <p:spPr>
          <a:xfrm>
            <a:off x="5233387" y="4687370"/>
            <a:ext cx="11353800" cy="1016945"/>
          </a:xfrm>
          <a:prstGeom prst="rect">
            <a:avLst/>
          </a:prstGeom>
        </p:spPr>
        <p:txBody>
          <a:bodyPr wrap="square" lIns="0" tIns="0" rIns="0" bIns="0" rtlCol="0" anchor="t">
            <a:spAutoFit/>
          </a:bodyPr>
          <a:lstStyle/>
          <a:p>
            <a:pPr algn="ctr">
              <a:lnSpc>
                <a:spcPts val="7279"/>
              </a:lnSpc>
            </a:pPr>
            <a:r>
              <a:rPr lang="en-US" sz="9600" dirty="0" smtClean="0">
                <a:solidFill>
                  <a:srgbClr val="17375E"/>
                </a:solidFill>
                <a:latin typeface="Sergio Trendy" panose="020B0604020202020204" charset="0"/>
              </a:rPr>
              <a:t>LangGraph</a:t>
            </a:r>
            <a:endParaRPr lang="en-US" sz="9600" dirty="0">
              <a:solidFill>
                <a:srgbClr val="17375E"/>
              </a:solidFill>
              <a:latin typeface="Sergio Trendy" panose="020B0604020202020204" charset="0"/>
              <a:ea typeface="Hobo"/>
              <a:cs typeface="Hobo"/>
              <a:sym typeface="Hobo"/>
            </a:endParaRPr>
          </a:p>
        </p:txBody>
      </p:sp>
      <p:sp>
        <p:nvSpPr>
          <p:cNvPr id="6" name="TextBox 5"/>
          <p:cNvSpPr txBox="1"/>
          <p:nvPr/>
        </p:nvSpPr>
        <p:spPr>
          <a:xfrm>
            <a:off x="16687800" y="9182100"/>
            <a:ext cx="1295400" cy="523220"/>
          </a:xfrm>
          <a:prstGeom prst="rect">
            <a:avLst/>
          </a:prstGeom>
          <a:noFill/>
        </p:spPr>
        <p:txBody>
          <a:bodyPr wrap="square" rtlCol="0">
            <a:spAutoFit/>
          </a:bodyPr>
          <a:lstStyle/>
          <a:p>
            <a:r>
              <a:rPr lang="en-US" sz="2800" dirty="0" smtClean="0"/>
              <a:t>40</a:t>
            </a:r>
            <a:endParaRPr lang="en-US" sz="2800" dirty="0"/>
          </a:p>
        </p:txBody>
      </p:sp>
    </p:spTree>
    <p:extLst>
      <p:ext uri="{BB962C8B-B14F-4D97-AF65-F5344CB8AC3E}">
        <p14:creationId xmlns:p14="http://schemas.microsoft.com/office/powerpoint/2010/main" val="4424795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21911" y="1251769"/>
            <a:ext cx="6443498" cy="2005176"/>
          </a:xfrm>
          <a:custGeom>
            <a:avLst/>
            <a:gdLst/>
            <a:ahLst/>
            <a:cxnLst/>
            <a:rect l="l" t="t" r="r" b="b"/>
            <a:pathLst>
              <a:path w="5934317" h="2028458">
                <a:moveTo>
                  <a:pt x="0" y="0"/>
                </a:moveTo>
                <a:lnTo>
                  <a:pt x="5934318" y="0"/>
                </a:lnTo>
                <a:lnTo>
                  <a:pt x="5934318" y="2028458"/>
                </a:lnTo>
                <a:lnTo>
                  <a:pt x="0" y="2028458"/>
                </a:lnTo>
                <a:lnTo>
                  <a:pt x="0"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3" name="Freeform 3"/>
          <p:cNvSpPr/>
          <p:nvPr/>
        </p:nvSpPr>
        <p:spPr>
          <a:xfrm>
            <a:off x="-3303104" y="8865103"/>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6">
              <a:alphaModFix amt="80000"/>
            </a:blip>
            <a:stretch>
              <a:fillRect/>
            </a:stretch>
          </a:blipFill>
        </p:spPr>
      </p:sp>
      <p:sp>
        <p:nvSpPr>
          <p:cNvPr id="4" name="Freeform 4"/>
          <p:cNvSpPr/>
          <p:nvPr/>
        </p:nvSpPr>
        <p:spPr>
          <a:xfrm>
            <a:off x="7721735" y="-6604364"/>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6">
              <a:alphaModFix amt="78000"/>
            </a:blip>
            <a:stretch>
              <a:fillRect/>
            </a:stretch>
          </a:blipFill>
        </p:spPr>
      </p:sp>
      <p:sp>
        <p:nvSpPr>
          <p:cNvPr id="6" name="TextBox 6"/>
          <p:cNvSpPr txBox="1"/>
          <p:nvPr/>
        </p:nvSpPr>
        <p:spPr>
          <a:xfrm>
            <a:off x="1176502" y="1810810"/>
            <a:ext cx="5934317" cy="887095"/>
          </a:xfrm>
          <a:prstGeom prst="rect">
            <a:avLst/>
          </a:prstGeom>
        </p:spPr>
        <p:txBody>
          <a:bodyPr lIns="0" tIns="0" rIns="0" bIns="0" rtlCol="0" anchor="t">
            <a:spAutoFit/>
          </a:bodyPr>
          <a:lstStyle/>
          <a:p>
            <a:pPr algn="ctr">
              <a:lnSpc>
                <a:spcPts val="7279"/>
              </a:lnSpc>
            </a:pPr>
            <a:r>
              <a:rPr lang="en-US" sz="5199" dirty="0" smtClean="0">
                <a:solidFill>
                  <a:srgbClr val="022C5E"/>
                </a:solidFill>
                <a:latin typeface="Hobo"/>
                <a:ea typeface="Hobo"/>
                <a:cs typeface="Hobo"/>
                <a:sym typeface="Hobo"/>
              </a:rPr>
              <a:t>What is LangGraph? </a:t>
            </a:r>
            <a:endParaRPr lang="en-US" sz="5199" dirty="0">
              <a:solidFill>
                <a:srgbClr val="022C5E"/>
              </a:solidFill>
              <a:latin typeface="Hobo"/>
              <a:ea typeface="Hobo"/>
              <a:cs typeface="Hobo"/>
              <a:sym typeface="Hobo"/>
            </a:endParaRPr>
          </a:p>
        </p:txBody>
      </p:sp>
      <p:sp>
        <p:nvSpPr>
          <p:cNvPr id="8" name="TextBox 7"/>
          <p:cNvSpPr txBox="1"/>
          <p:nvPr/>
        </p:nvSpPr>
        <p:spPr>
          <a:xfrm>
            <a:off x="16687800" y="9182100"/>
            <a:ext cx="1295400" cy="523220"/>
          </a:xfrm>
          <a:prstGeom prst="rect">
            <a:avLst/>
          </a:prstGeom>
          <a:noFill/>
        </p:spPr>
        <p:txBody>
          <a:bodyPr wrap="square" rtlCol="0">
            <a:spAutoFit/>
          </a:bodyPr>
          <a:lstStyle/>
          <a:p>
            <a:r>
              <a:rPr lang="en-US" sz="2800" dirty="0" smtClean="0"/>
              <a:t>41</a:t>
            </a:r>
            <a:endParaRPr lang="en-US" sz="2800" dirty="0"/>
          </a:p>
        </p:txBody>
      </p:sp>
      <p:sp>
        <p:nvSpPr>
          <p:cNvPr id="5" name="Rectangle 1"/>
          <p:cNvSpPr>
            <a:spLocks noChangeArrowheads="1"/>
          </p:cNvSpPr>
          <p:nvPr/>
        </p:nvSpPr>
        <p:spPr bwMode="auto">
          <a:xfrm>
            <a:off x="1176502" y="3815986"/>
            <a:ext cx="15849600" cy="92333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rPr>
              <a:t>LangGraph is a framework developed by </a:t>
            </a:r>
            <a:r>
              <a:rPr kumimoji="0" lang="en-US" altLang="en-US" sz="3000" i="0"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rPr>
              <a:t>LangChain</a:t>
            </a:r>
            <a:r>
              <a:rPr lang="en-US" altLang="en-US" sz="3000" dirty="0">
                <a:solidFill>
                  <a:srgbClr val="17375E"/>
                </a:solidFill>
                <a:latin typeface="Open Sans" panose="020B0604020202020204" charset="0"/>
                <a:ea typeface="Open Sans" panose="020B0604020202020204" charset="0"/>
                <a:cs typeface="Open Sans" panose="020B0604020202020204" charset="0"/>
              </a:rPr>
              <a:t> </a:t>
            </a:r>
            <a:r>
              <a:rPr kumimoji="0" lang="en-US" altLang="en-US" sz="300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rPr>
              <a:t>to manage the control flow of applications that integrate an LLM</a:t>
            </a:r>
            <a:r>
              <a:rPr kumimoji="0" lang="en-US" altLang="en-US" sz="3000" i="0" u="none" strike="noStrike" cap="none" normalizeH="0" dirty="0" smtClean="0">
                <a:ln>
                  <a:noFill/>
                </a:ln>
                <a:solidFill>
                  <a:srgbClr val="17375E"/>
                </a:solidFill>
                <a:effectLst/>
                <a:latin typeface="Open Sans" panose="020B0604020202020204" charset="0"/>
                <a:ea typeface="Open Sans" panose="020B0604020202020204" charset="0"/>
                <a:cs typeface="Open Sans" panose="020B0604020202020204" charset="0"/>
              </a:rPr>
              <a:t> </a:t>
            </a:r>
            <a:r>
              <a:rPr kumimoji="0" lang="en-US" altLang="en-US" sz="3000" i="0" u="none" strike="noStrike" cap="none" normalizeH="0" dirty="0" smtClean="0">
                <a:ln>
                  <a:noFill/>
                </a:ln>
                <a:solidFill>
                  <a:srgbClr val="17375E"/>
                </a:solidFill>
                <a:effectLst/>
                <a:latin typeface="Open Sans" panose="020B0604020202020204" charset="0"/>
                <a:ea typeface="Open Sans" panose="020B0604020202020204" charset="0"/>
                <a:cs typeface="Open Sans" panose="020B0604020202020204" charset="0"/>
                <a:hlinkClick r:id="rId7" action="ppaction://hlinksldjump"/>
              </a:rPr>
              <a:t>[7].</a:t>
            </a:r>
            <a:endParaRPr kumimoji="0" lang="en-US" altLang="en-US" sz="3000" i="0" u="none" strike="noStrike" cap="none" normalizeH="0" baseline="0" dirty="0" smtClean="0">
              <a:ln>
                <a:noFill/>
              </a:ln>
              <a:solidFill>
                <a:srgbClr val="17375E"/>
              </a:solidFill>
              <a:effectLst/>
              <a:latin typeface="Open Sans" panose="020B0604020202020204" charset="0"/>
              <a:ea typeface="Open Sans" panose="020B0604020202020204" charset="0"/>
              <a:cs typeface="Open Sans" panose="020B0604020202020204" charset="0"/>
            </a:endParaRPr>
          </a:p>
        </p:txBody>
      </p:sp>
      <p:sp>
        <p:nvSpPr>
          <p:cNvPr id="11" name="Rectangle 10"/>
          <p:cNvSpPr/>
          <p:nvPr/>
        </p:nvSpPr>
        <p:spPr>
          <a:xfrm>
            <a:off x="1162434" y="4991074"/>
            <a:ext cx="15525366" cy="1477328"/>
          </a:xfrm>
          <a:prstGeom prst="rect">
            <a:avLst/>
          </a:prstGeom>
        </p:spPr>
        <p:txBody>
          <a:bodyPr wrap="square">
            <a:spAutoFit/>
          </a:bodyPr>
          <a:lstStyle/>
          <a:p>
            <a:r>
              <a:rPr lang="en-US" sz="3000" dirty="0">
                <a:solidFill>
                  <a:srgbClr val="17375E"/>
                </a:solidFill>
                <a:latin typeface="Open Sans" panose="020B0604020202020204" charset="0"/>
                <a:ea typeface="Open Sans" panose="020B0604020202020204" charset="0"/>
                <a:cs typeface="Open Sans" panose="020B0604020202020204" charset="0"/>
              </a:rPr>
              <a:t>LangChain provides a standard interface to interact with models and other components, useful for retrieval, LLM calls and tools calls. The classes from LangChain might be used in LangGraph, but do not HAVE to be </a:t>
            </a:r>
            <a:r>
              <a:rPr lang="en-US" sz="3000" dirty="0" smtClean="0">
                <a:solidFill>
                  <a:srgbClr val="17375E"/>
                </a:solidFill>
                <a:latin typeface="Open Sans" panose="020B0604020202020204" charset="0"/>
                <a:ea typeface="Open Sans" panose="020B0604020202020204" charset="0"/>
                <a:cs typeface="Open Sans" panose="020B0604020202020204" charset="0"/>
              </a:rPr>
              <a:t>used </a:t>
            </a:r>
            <a:r>
              <a:rPr lang="en-US" sz="3000" dirty="0" smtClean="0">
                <a:solidFill>
                  <a:srgbClr val="17375E"/>
                </a:solidFill>
                <a:latin typeface="Open Sans" panose="020B0604020202020204" charset="0"/>
                <a:ea typeface="Open Sans" panose="020B0604020202020204" charset="0"/>
                <a:cs typeface="Open Sans" panose="020B0604020202020204" charset="0"/>
                <a:hlinkClick r:id="rId7" action="ppaction://hlinksldjump"/>
              </a:rPr>
              <a:t>[7]</a:t>
            </a:r>
            <a:r>
              <a:rPr lang="en-US" sz="3000" dirty="0" smtClean="0">
                <a:solidFill>
                  <a:srgbClr val="17375E"/>
                </a:solidFill>
                <a:latin typeface="Open Sans" panose="020B0604020202020204" charset="0"/>
                <a:ea typeface="Open Sans" panose="020B0604020202020204" charset="0"/>
                <a:cs typeface="Open Sans" panose="020B0604020202020204" charset="0"/>
              </a:rPr>
              <a:t>.</a:t>
            </a:r>
            <a:endParaRPr lang="en-US" sz="3000" dirty="0">
              <a:solidFill>
                <a:srgbClr val="17375E"/>
              </a:solidFill>
              <a:latin typeface="Open Sans" panose="020B0604020202020204" charset="0"/>
              <a:ea typeface="Open Sans" panose="020B0604020202020204" charset="0"/>
              <a:cs typeface="Open Sans" panose="020B0604020202020204" charset="0"/>
            </a:endParaRPr>
          </a:p>
        </p:txBody>
      </p:sp>
    </p:spTree>
    <p:extLst>
      <p:ext uri="{BB962C8B-B14F-4D97-AF65-F5344CB8AC3E}">
        <p14:creationId xmlns:p14="http://schemas.microsoft.com/office/powerpoint/2010/main" val="347042257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047117" y="350478"/>
            <a:ext cx="7660366" cy="2180075"/>
          </a:xfrm>
          <a:custGeom>
            <a:avLst/>
            <a:gdLst/>
            <a:ahLst/>
            <a:cxnLst/>
            <a:rect l="l" t="t" r="r" b="b"/>
            <a:pathLst>
              <a:path w="5934317" h="2028458">
                <a:moveTo>
                  <a:pt x="0" y="0"/>
                </a:moveTo>
                <a:lnTo>
                  <a:pt x="5934318" y="0"/>
                </a:lnTo>
                <a:lnTo>
                  <a:pt x="5934318" y="2028458"/>
                </a:lnTo>
                <a:lnTo>
                  <a:pt x="0" y="2028458"/>
                </a:lnTo>
                <a:lnTo>
                  <a:pt x="0"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3" name="Freeform 3"/>
          <p:cNvSpPr/>
          <p:nvPr/>
        </p:nvSpPr>
        <p:spPr>
          <a:xfrm>
            <a:off x="-3303104" y="8865103"/>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6">
              <a:alphaModFix amt="80000"/>
            </a:blip>
            <a:stretch>
              <a:fillRect/>
            </a:stretch>
          </a:blipFill>
        </p:spPr>
      </p:sp>
      <p:sp>
        <p:nvSpPr>
          <p:cNvPr id="4" name="Freeform 4"/>
          <p:cNvSpPr/>
          <p:nvPr/>
        </p:nvSpPr>
        <p:spPr>
          <a:xfrm>
            <a:off x="7721735" y="-6604364"/>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6">
              <a:alphaModFix amt="78000"/>
            </a:blip>
            <a:stretch>
              <a:fillRect/>
            </a:stretch>
          </a:blipFill>
        </p:spPr>
      </p:sp>
      <p:sp>
        <p:nvSpPr>
          <p:cNvPr id="6" name="TextBox 6"/>
          <p:cNvSpPr txBox="1"/>
          <p:nvPr/>
        </p:nvSpPr>
        <p:spPr>
          <a:xfrm>
            <a:off x="5539154" y="1071259"/>
            <a:ext cx="6629400" cy="936154"/>
          </a:xfrm>
          <a:prstGeom prst="rect">
            <a:avLst/>
          </a:prstGeom>
        </p:spPr>
        <p:txBody>
          <a:bodyPr wrap="square" lIns="0" tIns="0" rIns="0" bIns="0" rtlCol="0" anchor="t">
            <a:spAutoFit/>
          </a:bodyPr>
          <a:lstStyle/>
          <a:p>
            <a:pPr algn="ctr">
              <a:lnSpc>
                <a:spcPts val="7279"/>
              </a:lnSpc>
            </a:pPr>
            <a:r>
              <a:rPr lang="en-US" sz="5199" dirty="0" smtClean="0">
                <a:solidFill>
                  <a:srgbClr val="022C5E"/>
                </a:solidFill>
                <a:latin typeface="Hobo"/>
                <a:ea typeface="Hobo"/>
                <a:cs typeface="Hobo"/>
                <a:sym typeface="Hobo"/>
              </a:rPr>
              <a:t>Choose LangGraph for:</a:t>
            </a:r>
            <a:endParaRPr lang="en-US" sz="5199" dirty="0">
              <a:solidFill>
                <a:srgbClr val="022C5E"/>
              </a:solidFill>
              <a:latin typeface="Hobo"/>
              <a:ea typeface="Hobo"/>
              <a:cs typeface="Hobo"/>
              <a:sym typeface="Hobo"/>
            </a:endParaRPr>
          </a:p>
        </p:txBody>
      </p:sp>
      <p:sp>
        <p:nvSpPr>
          <p:cNvPr id="8" name="TextBox 7"/>
          <p:cNvSpPr txBox="1"/>
          <p:nvPr/>
        </p:nvSpPr>
        <p:spPr>
          <a:xfrm>
            <a:off x="16687800" y="9182100"/>
            <a:ext cx="1295400" cy="523220"/>
          </a:xfrm>
          <a:prstGeom prst="rect">
            <a:avLst/>
          </a:prstGeom>
          <a:noFill/>
        </p:spPr>
        <p:txBody>
          <a:bodyPr wrap="square" rtlCol="0">
            <a:spAutoFit/>
          </a:bodyPr>
          <a:lstStyle/>
          <a:p>
            <a:r>
              <a:rPr lang="en-US" sz="2800" dirty="0" smtClean="0"/>
              <a:t>42</a:t>
            </a:r>
            <a:endParaRPr lang="en-US" sz="2800" dirty="0"/>
          </a:p>
        </p:txBody>
      </p:sp>
      <p:sp>
        <p:nvSpPr>
          <p:cNvPr id="10" name="Freeform 2"/>
          <p:cNvSpPr/>
          <p:nvPr/>
        </p:nvSpPr>
        <p:spPr>
          <a:xfrm>
            <a:off x="10820400" y="6474007"/>
            <a:ext cx="5105400" cy="2161813"/>
          </a:xfrm>
          <a:custGeom>
            <a:avLst/>
            <a:gdLst/>
            <a:ahLst/>
            <a:cxnLst/>
            <a:rect l="l" t="t" r="r" b="b"/>
            <a:pathLst>
              <a:path w="5934317" h="2028458">
                <a:moveTo>
                  <a:pt x="0" y="0"/>
                </a:moveTo>
                <a:lnTo>
                  <a:pt x="5934318" y="0"/>
                </a:lnTo>
                <a:lnTo>
                  <a:pt x="5934318" y="2028458"/>
                </a:lnTo>
                <a:lnTo>
                  <a:pt x="0" y="2028458"/>
                </a:lnTo>
                <a:lnTo>
                  <a:pt x="0"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12" name="Freeform 2"/>
          <p:cNvSpPr/>
          <p:nvPr/>
        </p:nvSpPr>
        <p:spPr>
          <a:xfrm>
            <a:off x="2514599" y="6475411"/>
            <a:ext cx="3962401" cy="2282295"/>
          </a:xfrm>
          <a:custGeom>
            <a:avLst/>
            <a:gdLst/>
            <a:ahLst/>
            <a:cxnLst/>
            <a:rect l="l" t="t" r="r" b="b"/>
            <a:pathLst>
              <a:path w="5934317" h="2028458">
                <a:moveTo>
                  <a:pt x="0" y="0"/>
                </a:moveTo>
                <a:lnTo>
                  <a:pt x="5934318" y="0"/>
                </a:lnTo>
                <a:lnTo>
                  <a:pt x="5934318" y="2028458"/>
                </a:lnTo>
                <a:lnTo>
                  <a:pt x="0" y="2028458"/>
                </a:lnTo>
                <a:lnTo>
                  <a:pt x="0"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13" name="Freeform 2"/>
          <p:cNvSpPr/>
          <p:nvPr/>
        </p:nvSpPr>
        <p:spPr>
          <a:xfrm>
            <a:off x="6705600" y="4127241"/>
            <a:ext cx="4343400" cy="2138553"/>
          </a:xfrm>
          <a:custGeom>
            <a:avLst/>
            <a:gdLst/>
            <a:ahLst/>
            <a:cxnLst/>
            <a:rect l="l" t="t" r="r" b="b"/>
            <a:pathLst>
              <a:path w="5934317" h="2028458">
                <a:moveTo>
                  <a:pt x="0" y="0"/>
                </a:moveTo>
                <a:lnTo>
                  <a:pt x="5934318" y="0"/>
                </a:lnTo>
                <a:lnTo>
                  <a:pt x="5934318" y="2028458"/>
                </a:lnTo>
                <a:lnTo>
                  <a:pt x="0" y="2028458"/>
                </a:lnTo>
                <a:lnTo>
                  <a:pt x="0"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14" name="TextBox 6"/>
          <p:cNvSpPr txBox="1"/>
          <p:nvPr/>
        </p:nvSpPr>
        <p:spPr>
          <a:xfrm>
            <a:off x="11163300" y="6721216"/>
            <a:ext cx="4648200" cy="1872307"/>
          </a:xfrm>
          <a:prstGeom prst="rect">
            <a:avLst/>
          </a:prstGeom>
        </p:spPr>
        <p:txBody>
          <a:bodyPr wrap="square" lIns="0" tIns="0" rIns="0" bIns="0" rtlCol="0" anchor="t">
            <a:spAutoFit/>
          </a:bodyPr>
          <a:lstStyle/>
          <a:p>
            <a:pPr algn="ctr">
              <a:lnSpc>
                <a:spcPts val="7279"/>
              </a:lnSpc>
            </a:pPr>
            <a:r>
              <a:rPr lang="en-US" sz="4000" dirty="0" smtClean="0">
                <a:solidFill>
                  <a:srgbClr val="022C5E"/>
                </a:solidFill>
                <a:latin typeface="Hobo"/>
                <a:ea typeface="Hobo"/>
                <a:cs typeface="Hobo"/>
                <a:sym typeface="Hobo"/>
              </a:rPr>
              <a:t>First-Class Streaming Support</a:t>
            </a:r>
            <a:endParaRPr lang="en-US" sz="4000" dirty="0">
              <a:solidFill>
                <a:srgbClr val="022C5E"/>
              </a:solidFill>
              <a:latin typeface="Hobo"/>
              <a:ea typeface="Hobo"/>
              <a:cs typeface="Hobo"/>
              <a:sym typeface="Hobo"/>
            </a:endParaRPr>
          </a:p>
        </p:txBody>
      </p:sp>
      <p:sp>
        <p:nvSpPr>
          <p:cNvPr id="16" name="TextBox 6"/>
          <p:cNvSpPr txBox="1"/>
          <p:nvPr/>
        </p:nvSpPr>
        <p:spPr>
          <a:xfrm>
            <a:off x="5847458" y="4288379"/>
            <a:ext cx="6172200" cy="1872307"/>
          </a:xfrm>
          <a:prstGeom prst="rect">
            <a:avLst/>
          </a:prstGeom>
        </p:spPr>
        <p:txBody>
          <a:bodyPr wrap="square" lIns="0" tIns="0" rIns="0" bIns="0" rtlCol="0" anchor="t">
            <a:spAutoFit/>
          </a:bodyPr>
          <a:lstStyle/>
          <a:p>
            <a:pPr algn="ctr">
              <a:lnSpc>
                <a:spcPts val="7279"/>
              </a:lnSpc>
            </a:pPr>
            <a:r>
              <a:rPr lang="en-US" sz="4000" dirty="0" smtClean="0">
                <a:solidFill>
                  <a:srgbClr val="022C5E"/>
                </a:solidFill>
                <a:latin typeface="Hobo"/>
                <a:ea typeface="Hobo"/>
                <a:cs typeface="Hobo"/>
                <a:sym typeface="Hobo"/>
              </a:rPr>
              <a:t>Reliability and Controllability</a:t>
            </a:r>
            <a:endParaRPr lang="en-US" sz="4000" dirty="0">
              <a:solidFill>
                <a:srgbClr val="022C5E"/>
              </a:solidFill>
              <a:latin typeface="Hobo"/>
              <a:ea typeface="Hobo"/>
              <a:cs typeface="Hobo"/>
              <a:sym typeface="Hobo"/>
            </a:endParaRPr>
          </a:p>
        </p:txBody>
      </p:sp>
      <p:sp>
        <p:nvSpPr>
          <p:cNvPr id="17" name="TextBox 6"/>
          <p:cNvSpPr txBox="1"/>
          <p:nvPr/>
        </p:nvSpPr>
        <p:spPr>
          <a:xfrm>
            <a:off x="1981200" y="6721217"/>
            <a:ext cx="5029200" cy="1872307"/>
          </a:xfrm>
          <a:prstGeom prst="rect">
            <a:avLst/>
          </a:prstGeom>
        </p:spPr>
        <p:txBody>
          <a:bodyPr wrap="square" lIns="0" tIns="0" rIns="0" bIns="0" rtlCol="0" anchor="t">
            <a:spAutoFit/>
          </a:bodyPr>
          <a:lstStyle/>
          <a:p>
            <a:pPr algn="ctr">
              <a:lnSpc>
                <a:spcPts val="7279"/>
              </a:lnSpc>
            </a:pPr>
            <a:r>
              <a:rPr lang="en-US" sz="4000" dirty="0" smtClean="0">
                <a:solidFill>
                  <a:srgbClr val="022C5E"/>
                </a:solidFill>
                <a:latin typeface="Hobo"/>
                <a:ea typeface="Hobo"/>
                <a:cs typeface="Hobo"/>
                <a:sym typeface="Hobo"/>
              </a:rPr>
              <a:t>Low level and Extensile</a:t>
            </a:r>
            <a:endParaRPr lang="en-US" sz="4000" dirty="0">
              <a:solidFill>
                <a:srgbClr val="022C5E"/>
              </a:solidFill>
              <a:latin typeface="Hobo"/>
              <a:ea typeface="Hobo"/>
              <a:cs typeface="Hobo"/>
              <a:sym typeface="Hobo"/>
            </a:endParaRPr>
          </a:p>
        </p:txBody>
      </p:sp>
    </p:spTree>
    <p:extLst>
      <p:ext uri="{BB962C8B-B14F-4D97-AF65-F5344CB8AC3E}">
        <p14:creationId xmlns:p14="http://schemas.microsoft.com/office/powerpoint/2010/main" val="316687429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6"/>
                                        </p:tgtEl>
                                        <p:attrNameLst>
                                          <p:attrName>style.visibility</p:attrName>
                                        </p:attrNameLst>
                                      </p:cBhvr>
                                      <p:to>
                                        <p:strVal val="visible"/>
                                      </p:to>
                                    </p:set>
                                    <p:anim calcmode="lin" valueType="num">
                                      <p:cBhvr>
                                        <p:cTn id="12" dur="500" fill="hold"/>
                                        <p:tgtEl>
                                          <p:spTgt spid="16"/>
                                        </p:tgtEl>
                                        <p:attrNameLst>
                                          <p:attrName>ppt_w</p:attrName>
                                        </p:attrNameLst>
                                      </p:cBhvr>
                                      <p:tavLst>
                                        <p:tav tm="0">
                                          <p:val>
                                            <p:fltVal val="0"/>
                                          </p:val>
                                        </p:tav>
                                        <p:tav tm="100000">
                                          <p:val>
                                            <p:strVal val="#ppt_w"/>
                                          </p:val>
                                        </p:tav>
                                      </p:tavLst>
                                    </p:anim>
                                    <p:anim calcmode="lin" valueType="num">
                                      <p:cBhvr>
                                        <p:cTn id="13" dur="500" fill="hold"/>
                                        <p:tgtEl>
                                          <p:spTgt spid="16"/>
                                        </p:tgtEl>
                                        <p:attrNameLst>
                                          <p:attrName>ppt_h</p:attrName>
                                        </p:attrNameLst>
                                      </p:cBhvr>
                                      <p:tavLst>
                                        <p:tav tm="0">
                                          <p:val>
                                            <p:fltVal val="0"/>
                                          </p:val>
                                        </p:tav>
                                        <p:tav tm="100000">
                                          <p:val>
                                            <p:strVal val="#ppt_h"/>
                                          </p:val>
                                        </p:tav>
                                      </p:tavLst>
                                    </p:anim>
                                    <p:animEffect transition="in" filter="fade">
                                      <p:cBhvr>
                                        <p:cTn id="14" dur="500"/>
                                        <p:tgtEl>
                                          <p:spTgt spid="16"/>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p:cTn id="19" dur="500" fill="hold"/>
                                        <p:tgtEl>
                                          <p:spTgt spid="12"/>
                                        </p:tgtEl>
                                        <p:attrNameLst>
                                          <p:attrName>ppt_w</p:attrName>
                                        </p:attrNameLst>
                                      </p:cBhvr>
                                      <p:tavLst>
                                        <p:tav tm="0">
                                          <p:val>
                                            <p:fltVal val="0"/>
                                          </p:val>
                                        </p:tav>
                                        <p:tav tm="100000">
                                          <p:val>
                                            <p:strVal val="#ppt_w"/>
                                          </p:val>
                                        </p:tav>
                                      </p:tavLst>
                                    </p:anim>
                                    <p:anim calcmode="lin" valueType="num">
                                      <p:cBhvr>
                                        <p:cTn id="20" dur="500" fill="hold"/>
                                        <p:tgtEl>
                                          <p:spTgt spid="12"/>
                                        </p:tgtEl>
                                        <p:attrNameLst>
                                          <p:attrName>ppt_h</p:attrName>
                                        </p:attrNameLst>
                                      </p:cBhvr>
                                      <p:tavLst>
                                        <p:tav tm="0">
                                          <p:val>
                                            <p:fltVal val="0"/>
                                          </p:val>
                                        </p:tav>
                                        <p:tav tm="100000">
                                          <p:val>
                                            <p:strVal val="#ppt_h"/>
                                          </p:val>
                                        </p:tav>
                                      </p:tavLst>
                                    </p:anim>
                                    <p:animEffect transition="in" filter="fade">
                                      <p:cBhvr>
                                        <p:cTn id="21" dur="500"/>
                                        <p:tgtEl>
                                          <p:spTgt spid="12"/>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 calcmode="lin" valueType="num">
                                      <p:cBhvr>
                                        <p:cTn id="24" dur="500" fill="hold"/>
                                        <p:tgtEl>
                                          <p:spTgt spid="17"/>
                                        </p:tgtEl>
                                        <p:attrNameLst>
                                          <p:attrName>ppt_w</p:attrName>
                                        </p:attrNameLst>
                                      </p:cBhvr>
                                      <p:tavLst>
                                        <p:tav tm="0">
                                          <p:val>
                                            <p:fltVal val="0"/>
                                          </p:val>
                                        </p:tav>
                                        <p:tav tm="100000">
                                          <p:val>
                                            <p:strVal val="#ppt_w"/>
                                          </p:val>
                                        </p:tav>
                                      </p:tavLst>
                                    </p:anim>
                                    <p:anim calcmode="lin" valueType="num">
                                      <p:cBhvr>
                                        <p:cTn id="25" dur="500" fill="hold"/>
                                        <p:tgtEl>
                                          <p:spTgt spid="17"/>
                                        </p:tgtEl>
                                        <p:attrNameLst>
                                          <p:attrName>ppt_h</p:attrName>
                                        </p:attrNameLst>
                                      </p:cBhvr>
                                      <p:tavLst>
                                        <p:tav tm="0">
                                          <p:val>
                                            <p:fltVal val="0"/>
                                          </p:val>
                                        </p:tav>
                                        <p:tav tm="100000">
                                          <p:val>
                                            <p:strVal val="#ppt_h"/>
                                          </p:val>
                                        </p:tav>
                                      </p:tavLst>
                                    </p:anim>
                                    <p:animEffect transition="in" filter="fade">
                                      <p:cBhvr>
                                        <p:cTn id="26" dur="5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p:cTn id="31" dur="500" fill="hold"/>
                                        <p:tgtEl>
                                          <p:spTgt spid="10"/>
                                        </p:tgtEl>
                                        <p:attrNameLst>
                                          <p:attrName>ppt_w</p:attrName>
                                        </p:attrNameLst>
                                      </p:cBhvr>
                                      <p:tavLst>
                                        <p:tav tm="0">
                                          <p:val>
                                            <p:fltVal val="0"/>
                                          </p:val>
                                        </p:tav>
                                        <p:tav tm="100000">
                                          <p:val>
                                            <p:strVal val="#ppt_w"/>
                                          </p:val>
                                        </p:tav>
                                      </p:tavLst>
                                    </p:anim>
                                    <p:anim calcmode="lin" valueType="num">
                                      <p:cBhvr>
                                        <p:cTn id="32" dur="500" fill="hold"/>
                                        <p:tgtEl>
                                          <p:spTgt spid="10"/>
                                        </p:tgtEl>
                                        <p:attrNameLst>
                                          <p:attrName>ppt_h</p:attrName>
                                        </p:attrNameLst>
                                      </p:cBhvr>
                                      <p:tavLst>
                                        <p:tav tm="0">
                                          <p:val>
                                            <p:fltVal val="0"/>
                                          </p:val>
                                        </p:tav>
                                        <p:tav tm="100000">
                                          <p:val>
                                            <p:strVal val="#ppt_h"/>
                                          </p:val>
                                        </p:tav>
                                      </p:tavLst>
                                    </p:anim>
                                    <p:animEffect transition="in" filter="fade">
                                      <p:cBhvr>
                                        <p:cTn id="33" dur="500"/>
                                        <p:tgtEl>
                                          <p:spTgt spid="10"/>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p:cTn id="36" dur="500" fill="hold"/>
                                        <p:tgtEl>
                                          <p:spTgt spid="14"/>
                                        </p:tgtEl>
                                        <p:attrNameLst>
                                          <p:attrName>ppt_w</p:attrName>
                                        </p:attrNameLst>
                                      </p:cBhvr>
                                      <p:tavLst>
                                        <p:tav tm="0">
                                          <p:val>
                                            <p:fltVal val="0"/>
                                          </p:val>
                                        </p:tav>
                                        <p:tav tm="100000">
                                          <p:val>
                                            <p:strVal val="#ppt_w"/>
                                          </p:val>
                                        </p:tav>
                                      </p:tavLst>
                                    </p:anim>
                                    <p:anim calcmode="lin" valueType="num">
                                      <p:cBhvr>
                                        <p:cTn id="37" dur="500" fill="hold"/>
                                        <p:tgtEl>
                                          <p:spTgt spid="14"/>
                                        </p:tgtEl>
                                        <p:attrNameLst>
                                          <p:attrName>ppt_h</p:attrName>
                                        </p:attrNameLst>
                                      </p:cBhvr>
                                      <p:tavLst>
                                        <p:tav tm="0">
                                          <p:val>
                                            <p:fltVal val="0"/>
                                          </p:val>
                                        </p:tav>
                                        <p:tav tm="100000">
                                          <p:val>
                                            <p:strVal val="#ppt_h"/>
                                          </p:val>
                                        </p:tav>
                                      </p:tavLst>
                                    </p:anim>
                                    <p:animEffect transition="in" filter="fade">
                                      <p:cBhvr>
                                        <p:cTn id="3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19135" y="303105"/>
            <a:ext cx="7678283" cy="2888022"/>
          </a:xfrm>
          <a:custGeom>
            <a:avLst/>
            <a:gdLst/>
            <a:ahLst/>
            <a:cxnLst/>
            <a:rect l="l" t="t" r="r" b="b"/>
            <a:pathLst>
              <a:path w="5934317" h="2028458">
                <a:moveTo>
                  <a:pt x="0" y="0"/>
                </a:moveTo>
                <a:lnTo>
                  <a:pt x="5934318" y="0"/>
                </a:lnTo>
                <a:lnTo>
                  <a:pt x="5934318" y="2028458"/>
                </a:lnTo>
                <a:lnTo>
                  <a:pt x="0" y="2028458"/>
                </a:lnTo>
                <a:lnTo>
                  <a:pt x="0"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3" name="Freeform 3"/>
          <p:cNvSpPr/>
          <p:nvPr/>
        </p:nvSpPr>
        <p:spPr>
          <a:xfrm>
            <a:off x="-3303104" y="8865103"/>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6">
              <a:alphaModFix amt="80000"/>
            </a:blip>
            <a:stretch>
              <a:fillRect/>
            </a:stretch>
          </a:blipFill>
        </p:spPr>
      </p:sp>
      <p:sp>
        <p:nvSpPr>
          <p:cNvPr id="4" name="Freeform 4"/>
          <p:cNvSpPr/>
          <p:nvPr/>
        </p:nvSpPr>
        <p:spPr>
          <a:xfrm>
            <a:off x="7721735" y="-6604364"/>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6">
              <a:alphaModFix amt="78000"/>
            </a:blip>
            <a:stretch>
              <a:fillRect/>
            </a:stretch>
          </a:blipFill>
        </p:spPr>
      </p:sp>
      <p:sp>
        <p:nvSpPr>
          <p:cNvPr id="6" name="TextBox 6"/>
          <p:cNvSpPr txBox="1"/>
          <p:nvPr/>
        </p:nvSpPr>
        <p:spPr>
          <a:xfrm>
            <a:off x="1219200" y="850877"/>
            <a:ext cx="6629400" cy="1792478"/>
          </a:xfrm>
          <a:prstGeom prst="rect">
            <a:avLst/>
          </a:prstGeom>
        </p:spPr>
        <p:txBody>
          <a:bodyPr wrap="square" lIns="0" tIns="0" rIns="0" bIns="0" rtlCol="0" anchor="t">
            <a:spAutoFit/>
          </a:bodyPr>
          <a:lstStyle/>
          <a:p>
            <a:pPr algn="ctr">
              <a:lnSpc>
                <a:spcPts val="7279"/>
              </a:lnSpc>
            </a:pPr>
            <a:r>
              <a:rPr lang="en-US" sz="5199" dirty="0" smtClean="0">
                <a:solidFill>
                  <a:srgbClr val="022C5E"/>
                </a:solidFill>
                <a:latin typeface="Hobo"/>
                <a:ea typeface="Hobo"/>
                <a:cs typeface="Hobo"/>
                <a:sym typeface="Hobo"/>
              </a:rPr>
              <a:t>Simple Example of how work LangGraph</a:t>
            </a:r>
            <a:endParaRPr lang="en-US" sz="5199" dirty="0">
              <a:solidFill>
                <a:srgbClr val="022C5E"/>
              </a:solidFill>
              <a:latin typeface="Hobo"/>
              <a:ea typeface="Hobo"/>
              <a:cs typeface="Hobo"/>
              <a:sym typeface="Hobo"/>
            </a:endParaRPr>
          </a:p>
        </p:txBody>
      </p:sp>
      <p:sp>
        <p:nvSpPr>
          <p:cNvPr id="8" name="TextBox 7"/>
          <p:cNvSpPr txBox="1"/>
          <p:nvPr/>
        </p:nvSpPr>
        <p:spPr>
          <a:xfrm>
            <a:off x="16687800" y="9182100"/>
            <a:ext cx="1295400" cy="523220"/>
          </a:xfrm>
          <a:prstGeom prst="rect">
            <a:avLst/>
          </a:prstGeom>
          <a:noFill/>
        </p:spPr>
        <p:txBody>
          <a:bodyPr wrap="square" rtlCol="0">
            <a:spAutoFit/>
          </a:bodyPr>
          <a:lstStyle/>
          <a:p>
            <a:r>
              <a:rPr lang="en-US" sz="2800" dirty="0" smtClean="0"/>
              <a:t>43</a:t>
            </a:r>
            <a:endParaRPr lang="en-US" sz="2800" dirty="0"/>
          </a:p>
        </p:txBody>
      </p:sp>
      <p:pic>
        <p:nvPicPr>
          <p:cNvPr id="5" name="Picture 4"/>
          <p:cNvPicPr>
            <a:picLocks noChangeAspect="1"/>
          </p:cNvPicPr>
          <p:nvPr/>
        </p:nvPicPr>
        <p:blipFill>
          <a:blip r:embed="rId7"/>
          <a:stretch>
            <a:fillRect/>
          </a:stretch>
        </p:blipFill>
        <p:spPr>
          <a:xfrm>
            <a:off x="9384734" y="952500"/>
            <a:ext cx="6669977" cy="7912603"/>
          </a:xfrm>
          <a:prstGeom prst="rect">
            <a:avLst/>
          </a:prstGeom>
        </p:spPr>
      </p:pic>
    </p:spTree>
    <p:extLst>
      <p:ext uri="{BB962C8B-B14F-4D97-AF65-F5344CB8AC3E}">
        <p14:creationId xmlns:p14="http://schemas.microsoft.com/office/powerpoint/2010/main" val="3541495169"/>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19135" y="342900"/>
            <a:ext cx="6719865" cy="2888022"/>
          </a:xfrm>
          <a:custGeom>
            <a:avLst/>
            <a:gdLst/>
            <a:ahLst/>
            <a:cxnLst/>
            <a:rect l="l" t="t" r="r" b="b"/>
            <a:pathLst>
              <a:path w="5934317" h="2028458">
                <a:moveTo>
                  <a:pt x="0" y="0"/>
                </a:moveTo>
                <a:lnTo>
                  <a:pt x="5934318" y="0"/>
                </a:lnTo>
                <a:lnTo>
                  <a:pt x="5934318" y="2028458"/>
                </a:lnTo>
                <a:lnTo>
                  <a:pt x="0" y="2028458"/>
                </a:lnTo>
                <a:lnTo>
                  <a:pt x="0"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3" name="Freeform 3"/>
          <p:cNvSpPr/>
          <p:nvPr/>
        </p:nvSpPr>
        <p:spPr>
          <a:xfrm>
            <a:off x="-3303104" y="8865103"/>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6">
              <a:alphaModFix amt="80000"/>
            </a:blip>
            <a:stretch>
              <a:fillRect/>
            </a:stretch>
          </a:blipFill>
        </p:spPr>
      </p:sp>
      <p:sp>
        <p:nvSpPr>
          <p:cNvPr id="4" name="Freeform 4"/>
          <p:cNvSpPr/>
          <p:nvPr/>
        </p:nvSpPr>
        <p:spPr>
          <a:xfrm>
            <a:off x="7721735" y="-6604364"/>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6">
              <a:alphaModFix amt="78000"/>
            </a:blip>
            <a:stretch>
              <a:fillRect/>
            </a:stretch>
          </a:blipFill>
        </p:spPr>
      </p:sp>
      <p:sp>
        <p:nvSpPr>
          <p:cNvPr id="6" name="TextBox 6"/>
          <p:cNvSpPr txBox="1"/>
          <p:nvPr/>
        </p:nvSpPr>
        <p:spPr>
          <a:xfrm>
            <a:off x="1828800" y="1104900"/>
            <a:ext cx="6629400" cy="1600438"/>
          </a:xfrm>
          <a:prstGeom prst="rect">
            <a:avLst/>
          </a:prstGeom>
        </p:spPr>
        <p:txBody>
          <a:bodyPr wrap="square" lIns="0" tIns="0" rIns="0" bIns="0" rtlCol="0" anchor="t">
            <a:spAutoFit/>
          </a:bodyPr>
          <a:lstStyle/>
          <a:p>
            <a:r>
              <a:rPr lang="en-US" sz="5200" b="1" dirty="0" smtClean="0">
                <a:solidFill>
                  <a:srgbClr val="17375E"/>
                </a:solidFill>
                <a:latin typeface="Hobo" panose="020B0604020202020204" charset="0"/>
              </a:rPr>
              <a:t>Components of </a:t>
            </a:r>
            <a:r>
              <a:rPr lang="en-US" sz="5200" b="1" dirty="0">
                <a:solidFill>
                  <a:srgbClr val="17375E"/>
                </a:solidFill>
                <a:latin typeface="Hobo" panose="020B0604020202020204" charset="0"/>
              </a:rPr>
              <a:t>LangGraph</a:t>
            </a:r>
          </a:p>
        </p:txBody>
      </p:sp>
      <p:sp>
        <p:nvSpPr>
          <p:cNvPr id="8" name="TextBox 7"/>
          <p:cNvSpPr txBox="1"/>
          <p:nvPr/>
        </p:nvSpPr>
        <p:spPr>
          <a:xfrm>
            <a:off x="16687800" y="9182100"/>
            <a:ext cx="1295400" cy="523220"/>
          </a:xfrm>
          <a:prstGeom prst="rect">
            <a:avLst/>
          </a:prstGeom>
          <a:noFill/>
        </p:spPr>
        <p:txBody>
          <a:bodyPr wrap="square" rtlCol="0">
            <a:spAutoFit/>
          </a:bodyPr>
          <a:lstStyle/>
          <a:p>
            <a:r>
              <a:rPr lang="en-US" sz="2800" dirty="0" smtClean="0"/>
              <a:t>44</a:t>
            </a:r>
            <a:endParaRPr lang="en-US" sz="2800" dirty="0"/>
          </a:p>
        </p:txBody>
      </p:sp>
      <p:sp>
        <p:nvSpPr>
          <p:cNvPr id="5" name="Oval 4"/>
          <p:cNvSpPr/>
          <p:nvPr/>
        </p:nvSpPr>
        <p:spPr>
          <a:xfrm>
            <a:off x="1219200" y="4219212"/>
            <a:ext cx="3733800" cy="1828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1447800" y="4663017"/>
            <a:ext cx="381000" cy="923330"/>
          </a:xfrm>
          <a:prstGeom prst="rect">
            <a:avLst/>
          </a:prstGeom>
          <a:noFill/>
        </p:spPr>
        <p:txBody>
          <a:bodyPr wrap="square" rtlCol="0">
            <a:spAutoFit/>
          </a:bodyPr>
          <a:lstStyle/>
          <a:p>
            <a:r>
              <a:rPr lang="en-US" sz="5400" b="1" dirty="0" smtClean="0">
                <a:ln w="12700">
                  <a:solidFill>
                    <a:schemeClr val="accent5"/>
                  </a:solidFill>
                  <a:prstDash val="solid"/>
                </a:ln>
                <a:pattFill prst="ltDnDiag">
                  <a:fgClr>
                    <a:schemeClr val="accent5">
                      <a:lumMod val="60000"/>
                      <a:lumOff val="40000"/>
                    </a:schemeClr>
                  </a:fgClr>
                  <a:bgClr>
                    <a:schemeClr val="bg1"/>
                  </a:bgClr>
                </a:pattFill>
              </a:rPr>
              <a:t>1</a:t>
            </a:r>
            <a:endParaRPr lang="en-US" sz="54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
        <p:nvSpPr>
          <p:cNvPr id="9" name="TextBox 8"/>
          <p:cNvSpPr txBox="1"/>
          <p:nvPr/>
        </p:nvSpPr>
        <p:spPr>
          <a:xfrm>
            <a:off x="2361127" y="4739961"/>
            <a:ext cx="2590800" cy="769441"/>
          </a:xfrm>
          <a:prstGeom prst="rect">
            <a:avLst/>
          </a:prstGeom>
          <a:noFill/>
        </p:spPr>
        <p:txBody>
          <a:bodyPr wrap="square" rtlCol="0">
            <a:spAutoFit/>
          </a:bodyPr>
          <a:lstStyle/>
          <a:p>
            <a:r>
              <a:rPr lang="en-US" sz="4400" dirty="0" smtClean="0">
                <a:solidFill>
                  <a:schemeClr val="bg1"/>
                </a:solidFill>
                <a:latin typeface="Hobo" panose="020B0604020202020204" charset="0"/>
                <a:ea typeface="Open Sans" panose="020B0604020202020204" charset="0"/>
                <a:cs typeface="Open Sans" panose="020B0604020202020204" charset="0"/>
              </a:rPr>
              <a:t>State</a:t>
            </a:r>
            <a:endParaRPr lang="en-US" sz="4400" dirty="0">
              <a:solidFill>
                <a:schemeClr val="bg1"/>
              </a:solidFill>
              <a:latin typeface="Hobo" panose="020B0604020202020204" charset="0"/>
              <a:ea typeface="Open Sans" panose="020B0604020202020204" charset="0"/>
              <a:cs typeface="Open Sans" panose="020B0604020202020204" charset="0"/>
            </a:endParaRPr>
          </a:p>
        </p:txBody>
      </p:sp>
      <p:cxnSp>
        <p:nvCxnSpPr>
          <p:cNvPr id="11" name="Straight Arrow Connector 10"/>
          <p:cNvCxnSpPr/>
          <p:nvPr/>
        </p:nvCxnSpPr>
        <p:spPr>
          <a:xfrm>
            <a:off x="5143500" y="5124681"/>
            <a:ext cx="18669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7315200" y="4506505"/>
            <a:ext cx="8585065" cy="1477328"/>
          </a:xfrm>
          <a:prstGeom prst="rect">
            <a:avLst/>
          </a:prstGeom>
          <a:noFill/>
        </p:spPr>
        <p:txBody>
          <a:bodyPr wrap="square" rtlCol="0">
            <a:spAutoFit/>
          </a:bodyPr>
          <a:lstStyle/>
          <a:p>
            <a:r>
              <a:rPr lang="en-US" sz="3000" dirty="0">
                <a:solidFill>
                  <a:srgbClr val="17375E"/>
                </a:solidFill>
                <a:latin typeface="Open Sans" panose="020B0604020202020204" charset="0"/>
                <a:ea typeface="Open Sans" panose="020B0604020202020204" charset="0"/>
                <a:cs typeface="Open Sans" panose="020B0604020202020204" charset="0"/>
              </a:rPr>
              <a:t>State is the central concept in LangGraph. It represents all the information that flows through your </a:t>
            </a:r>
            <a:r>
              <a:rPr lang="en-US" sz="3000" dirty="0" smtClean="0">
                <a:solidFill>
                  <a:srgbClr val="17375E"/>
                </a:solidFill>
                <a:latin typeface="Open Sans" panose="020B0604020202020204" charset="0"/>
                <a:ea typeface="Open Sans" panose="020B0604020202020204" charset="0"/>
                <a:cs typeface="Open Sans" panose="020B0604020202020204" charset="0"/>
              </a:rPr>
              <a:t>application </a:t>
            </a:r>
            <a:r>
              <a:rPr lang="en-US" sz="3000" dirty="0" smtClean="0">
                <a:solidFill>
                  <a:srgbClr val="17375E"/>
                </a:solidFill>
                <a:latin typeface="Open Sans" panose="020B0604020202020204" charset="0"/>
                <a:ea typeface="Open Sans" panose="020B0604020202020204" charset="0"/>
                <a:cs typeface="Open Sans" panose="020B0604020202020204" charset="0"/>
                <a:hlinkClick r:id="rId7" action="ppaction://hlinksldjump"/>
              </a:rPr>
              <a:t>[7]</a:t>
            </a:r>
            <a:r>
              <a:rPr lang="en-US" sz="3000" dirty="0" smtClean="0">
                <a:solidFill>
                  <a:srgbClr val="17375E"/>
                </a:solidFill>
                <a:latin typeface="Open Sans" panose="020B0604020202020204" charset="0"/>
                <a:ea typeface="Open Sans" panose="020B0604020202020204" charset="0"/>
                <a:cs typeface="Open Sans" panose="020B0604020202020204" charset="0"/>
              </a:rPr>
              <a:t>.</a:t>
            </a:r>
            <a:endParaRPr lang="en-US" sz="3000" dirty="0">
              <a:solidFill>
                <a:srgbClr val="17375E"/>
              </a:solidFill>
              <a:latin typeface="Open Sans" panose="020B0604020202020204" charset="0"/>
              <a:ea typeface="Open Sans" panose="020B0604020202020204" charset="0"/>
              <a:cs typeface="Open Sans" panose="020B0604020202020204" charset="0"/>
            </a:endParaRPr>
          </a:p>
        </p:txBody>
      </p:sp>
    </p:spTree>
    <p:extLst>
      <p:ext uri="{BB962C8B-B14F-4D97-AF65-F5344CB8AC3E}">
        <p14:creationId xmlns:p14="http://schemas.microsoft.com/office/powerpoint/2010/main" val="388206816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p:cTn id="24" dur="500" fill="hold"/>
                                        <p:tgtEl>
                                          <p:spTgt spid="11"/>
                                        </p:tgtEl>
                                        <p:attrNameLst>
                                          <p:attrName>ppt_w</p:attrName>
                                        </p:attrNameLst>
                                      </p:cBhvr>
                                      <p:tavLst>
                                        <p:tav tm="0">
                                          <p:val>
                                            <p:fltVal val="0"/>
                                          </p:val>
                                        </p:tav>
                                        <p:tav tm="100000">
                                          <p:val>
                                            <p:strVal val="#ppt_w"/>
                                          </p:val>
                                        </p:tav>
                                      </p:tavLst>
                                    </p:anim>
                                    <p:anim calcmode="lin" valueType="num">
                                      <p:cBhvr>
                                        <p:cTn id="25" dur="500" fill="hold"/>
                                        <p:tgtEl>
                                          <p:spTgt spid="11"/>
                                        </p:tgtEl>
                                        <p:attrNameLst>
                                          <p:attrName>ppt_h</p:attrName>
                                        </p:attrNameLst>
                                      </p:cBhvr>
                                      <p:tavLst>
                                        <p:tav tm="0">
                                          <p:val>
                                            <p:fltVal val="0"/>
                                          </p:val>
                                        </p:tav>
                                        <p:tav tm="100000">
                                          <p:val>
                                            <p:strVal val="#ppt_h"/>
                                          </p:val>
                                        </p:tav>
                                      </p:tavLst>
                                    </p:anim>
                                    <p:animEffect transition="in" filter="fade">
                                      <p:cBhvr>
                                        <p:cTn id="26" dur="500"/>
                                        <p:tgtEl>
                                          <p:spTgt spid="11"/>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p:cTn id="29" dur="500" fill="hold"/>
                                        <p:tgtEl>
                                          <p:spTgt spid="12"/>
                                        </p:tgtEl>
                                        <p:attrNameLst>
                                          <p:attrName>ppt_w</p:attrName>
                                        </p:attrNameLst>
                                      </p:cBhvr>
                                      <p:tavLst>
                                        <p:tav tm="0">
                                          <p:val>
                                            <p:fltVal val="0"/>
                                          </p:val>
                                        </p:tav>
                                        <p:tav tm="100000">
                                          <p:val>
                                            <p:strVal val="#ppt_w"/>
                                          </p:val>
                                        </p:tav>
                                      </p:tavLst>
                                    </p:anim>
                                    <p:anim calcmode="lin" valueType="num">
                                      <p:cBhvr>
                                        <p:cTn id="30" dur="500" fill="hold"/>
                                        <p:tgtEl>
                                          <p:spTgt spid="12"/>
                                        </p:tgtEl>
                                        <p:attrNameLst>
                                          <p:attrName>ppt_h</p:attrName>
                                        </p:attrNameLst>
                                      </p:cBhvr>
                                      <p:tavLst>
                                        <p:tav tm="0">
                                          <p:val>
                                            <p:fltVal val="0"/>
                                          </p:val>
                                        </p:tav>
                                        <p:tav tm="100000">
                                          <p:val>
                                            <p:strVal val="#ppt_h"/>
                                          </p:val>
                                        </p:tav>
                                      </p:tavLst>
                                    </p:anim>
                                    <p:animEffect transition="in" filter="fade">
                                      <p:cBhvr>
                                        <p:cTn id="3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9" grpId="0"/>
      <p:bldP spid="1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19135" y="342900"/>
            <a:ext cx="6719865" cy="2888022"/>
          </a:xfrm>
          <a:custGeom>
            <a:avLst/>
            <a:gdLst/>
            <a:ahLst/>
            <a:cxnLst/>
            <a:rect l="l" t="t" r="r" b="b"/>
            <a:pathLst>
              <a:path w="5934317" h="2028458">
                <a:moveTo>
                  <a:pt x="0" y="0"/>
                </a:moveTo>
                <a:lnTo>
                  <a:pt x="5934318" y="0"/>
                </a:lnTo>
                <a:lnTo>
                  <a:pt x="5934318" y="2028458"/>
                </a:lnTo>
                <a:lnTo>
                  <a:pt x="0" y="2028458"/>
                </a:lnTo>
                <a:lnTo>
                  <a:pt x="0"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3" name="Freeform 3"/>
          <p:cNvSpPr/>
          <p:nvPr/>
        </p:nvSpPr>
        <p:spPr>
          <a:xfrm>
            <a:off x="-3303104" y="8865103"/>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6">
              <a:alphaModFix amt="80000"/>
            </a:blip>
            <a:stretch>
              <a:fillRect/>
            </a:stretch>
          </a:blipFill>
        </p:spPr>
      </p:sp>
      <p:sp>
        <p:nvSpPr>
          <p:cNvPr id="4" name="Freeform 4"/>
          <p:cNvSpPr/>
          <p:nvPr/>
        </p:nvSpPr>
        <p:spPr>
          <a:xfrm>
            <a:off x="7721735" y="-6604364"/>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6">
              <a:alphaModFix amt="78000"/>
            </a:blip>
            <a:stretch>
              <a:fillRect/>
            </a:stretch>
          </a:blipFill>
        </p:spPr>
      </p:sp>
      <p:sp>
        <p:nvSpPr>
          <p:cNvPr id="6" name="TextBox 6"/>
          <p:cNvSpPr txBox="1"/>
          <p:nvPr/>
        </p:nvSpPr>
        <p:spPr>
          <a:xfrm>
            <a:off x="1828800" y="1104900"/>
            <a:ext cx="6629400" cy="1600438"/>
          </a:xfrm>
          <a:prstGeom prst="rect">
            <a:avLst/>
          </a:prstGeom>
        </p:spPr>
        <p:txBody>
          <a:bodyPr wrap="square" lIns="0" tIns="0" rIns="0" bIns="0" rtlCol="0" anchor="t">
            <a:spAutoFit/>
          </a:bodyPr>
          <a:lstStyle/>
          <a:p>
            <a:r>
              <a:rPr lang="en-US" sz="5200" b="1" dirty="0" smtClean="0">
                <a:solidFill>
                  <a:srgbClr val="17375E"/>
                </a:solidFill>
                <a:latin typeface="Hobo" panose="020B0604020202020204" charset="0"/>
              </a:rPr>
              <a:t>Components of </a:t>
            </a:r>
            <a:r>
              <a:rPr lang="en-US" sz="5200" b="1" dirty="0">
                <a:solidFill>
                  <a:srgbClr val="17375E"/>
                </a:solidFill>
                <a:latin typeface="Hobo" panose="020B0604020202020204" charset="0"/>
              </a:rPr>
              <a:t>LangGraph</a:t>
            </a:r>
          </a:p>
        </p:txBody>
      </p:sp>
      <p:sp>
        <p:nvSpPr>
          <p:cNvPr id="8" name="TextBox 7"/>
          <p:cNvSpPr txBox="1"/>
          <p:nvPr/>
        </p:nvSpPr>
        <p:spPr>
          <a:xfrm>
            <a:off x="16687800" y="9182100"/>
            <a:ext cx="1295400" cy="523220"/>
          </a:xfrm>
          <a:prstGeom prst="rect">
            <a:avLst/>
          </a:prstGeom>
          <a:noFill/>
        </p:spPr>
        <p:txBody>
          <a:bodyPr wrap="square" rtlCol="0">
            <a:spAutoFit/>
          </a:bodyPr>
          <a:lstStyle/>
          <a:p>
            <a:r>
              <a:rPr lang="en-US" sz="2800" dirty="0" smtClean="0"/>
              <a:t>45</a:t>
            </a:r>
            <a:endParaRPr lang="en-US" sz="2800" dirty="0"/>
          </a:p>
        </p:txBody>
      </p:sp>
      <p:sp>
        <p:nvSpPr>
          <p:cNvPr id="5" name="Oval 4"/>
          <p:cNvSpPr/>
          <p:nvPr/>
        </p:nvSpPr>
        <p:spPr>
          <a:xfrm>
            <a:off x="1219200" y="4219212"/>
            <a:ext cx="3733800" cy="1828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1447800" y="4663017"/>
            <a:ext cx="381000" cy="923330"/>
          </a:xfrm>
          <a:prstGeom prst="rect">
            <a:avLst/>
          </a:prstGeom>
          <a:noFill/>
        </p:spPr>
        <p:txBody>
          <a:bodyPr wrap="square" rtlCol="0">
            <a:spAutoFit/>
          </a:bodyPr>
          <a:lstStyle/>
          <a:p>
            <a:r>
              <a:rPr lang="en-US" sz="5400" b="1" dirty="0">
                <a:ln w="12700">
                  <a:solidFill>
                    <a:schemeClr val="accent5"/>
                  </a:solidFill>
                  <a:prstDash val="solid"/>
                </a:ln>
                <a:pattFill prst="ltDnDiag">
                  <a:fgClr>
                    <a:schemeClr val="accent5">
                      <a:lumMod val="60000"/>
                      <a:lumOff val="40000"/>
                    </a:schemeClr>
                  </a:fgClr>
                  <a:bgClr>
                    <a:schemeClr val="bg1"/>
                  </a:bgClr>
                </a:pattFill>
              </a:rPr>
              <a:t>2</a:t>
            </a:r>
            <a:endParaRPr lang="en-US" sz="54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
        <p:nvSpPr>
          <p:cNvPr id="9" name="TextBox 8"/>
          <p:cNvSpPr txBox="1"/>
          <p:nvPr/>
        </p:nvSpPr>
        <p:spPr>
          <a:xfrm>
            <a:off x="2361127" y="4739961"/>
            <a:ext cx="2590800" cy="769441"/>
          </a:xfrm>
          <a:prstGeom prst="rect">
            <a:avLst/>
          </a:prstGeom>
          <a:noFill/>
        </p:spPr>
        <p:txBody>
          <a:bodyPr wrap="square" rtlCol="0">
            <a:spAutoFit/>
          </a:bodyPr>
          <a:lstStyle/>
          <a:p>
            <a:r>
              <a:rPr lang="en-US" sz="4400" dirty="0" smtClean="0">
                <a:solidFill>
                  <a:schemeClr val="bg1"/>
                </a:solidFill>
                <a:latin typeface="Hobo" panose="020B0604020202020204" charset="0"/>
                <a:ea typeface="Open Sans" panose="020B0604020202020204" charset="0"/>
                <a:cs typeface="Open Sans" panose="020B0604020202020204" charset="0"/>
              </a:rPr>
              <a:t>Nodes</a:t>
            </a:r>
            <a:endParaRPr lang="en-US" sz="4400" dirty="0">
              <a:solidFill>
                <a:schemeClr val="bg1"/>
              </a:solidFill>
              <a:latin typeface="Hobo" panose="020B0604020202020204" charset="0"/>
              <a:ea typeface="Open Sans" panose="020B0604020202020204" charset="0"/>
              <a:cs typeface="Open Sans" panose="020B0604020202020204" charset="0"/>
            </a:endParaRPr>
          </a:p>
        </p:txBody>
      </p:sp>
      <p:cxnSp>
        <p:nvCxnSpPr>
          <p:cNvPr id="11" name="Straight Arrow Connector 10"/>
          <p:cNvCxnSpPr/>
          <p:nvPr/>
        </p:nvCxnSpPr>
        <p:spPr>
          <a:xfrm>
            <a:off x="5143500" y="5124681"/>
            <a:ext cx="18669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7315200" y="4506505"/>
            <a:ext cx="8915400" cy="1938992"/>
          </a:xfrm>
          <a:prstGeom prst="rect">
            <a:avLst/>
          </a:prstGeom>
          <a:noFill/>
        </p:spPr>
        <p:txBody>
          <a:bodyPr wrap="square" rtlCol="0">
            <a:spAutoFit/>
          </a:bodyPr>
          <a:lstStyle/>
          <a:p>
            <a:r>
              <a:rPr lang="en-US" sz="3000" dirty="0">
                <a:solidFill>
                  <a:srgbClr val="17375E"/>
                </a:solidFill>
                <a:latin typeface="Open Sans" panose="020B0604020202020204" charset="0"/>
                <a:ea typeface="Open Sans" panose="020B0604020202020204" charset="0"/>
                <a:cs typeface="Open Sans" panose="020B0604020202020204" charset="0"/>
              </a:rPr>
              <a:t>Nodes are python functions. Each node:</a:t>
            </a:r>
          </a:p>
          <a:p>
            <a:pPr marL="457200" indent="-457200">
              <a:buFont typeface="Arial" panose="020B0604020202020204" pitchFamily="34" charset="0"/>
              <a:buChar char="•"/>
            </a:pPr>
            <a:r>
              <a:rPr lang="en-US" sz="3000" dirty="0">
                <a:solidFill>
                  <a:srgbClr val="17375E"/>
                </a:solidFill>
                <a:latin typeface="Open Sans" panose="020B0604020202020204" charset="0"/>
                <a:ea typeface="Open Sans" panose="020B0604020202020204" charset="0"/>
                <a:cs typeface="Open Sans" panose="020B0604020202020204" charset="0"/>
              </a:rPr>
              <a:t>Takes the state as input</a:t>
            </a:r>
          </a:p>
          <a:p>
            <a:pPr marL="457200" indent="-457200">
              <a:buFont typeface="Arial" panose="020B0604020202020204" pitchFamily="34" charset="0"/>
              <a:buChar char="•"/>
            </a:pPr>
            <a:r>
              <a:rPr lang="en-US" sz="3000" dirty="0">
                <a:solidFill>
                  <a:srgbClr val="17375E"/>
                </a:solidFill>
                <a:latin typeface="Open Sans" panose="020B0604020202020204" charset="0"/>
                <a:ea typeface="Open Sans" panose="020B0604020202020204" charset="0"/>
                <a:cs typeface="Open Sans" panose="020B0604020202020204" charset="0"/>
              </a:rPr>
              <a:t>Performs some operation</a:t>
            </a:r>
          </a:p>
          <a:p>
            <a:pPr marL="457200" indent="-457200">
              <a:buFont typeface="Arial" panose="020B0604020202020204" pitchFamily="34" charset="0"/>
              <a:buChar char="•"/>
            </a:pPr>
            <a:r>
              <a:rPr lang="en-US" sz="3000" dirty="0">
                <a:solidFill>
                  <a:srgbClr val="17375E"/>
                </a:solidFill>
                <a:latin typeface="Open Sans" panose="020B0604020202020204" charset="0"/>
                <a:ea typeface="Open Sans" panose="020B0604020202020204" charset="0"/>
                <a:cs typeface="Open Sans" panose="020B0604020202020204" charset="0"/>
              </a:rPr>
              <a:t>Returns updates to the </a:t>
            </a:r>
            <a:r>
              <a:rPr lang="en-US" sz="3000" dirty="0" smtClean="0">
                <a:solidFill>
                  <a:srgbClr val="17375E"/>
                </a:solidFill>
                <a:latin typeface="Open Sans" panose="020B0604020202020204" charset="0"/>
                <a:ea typeface="Open Sans" panose="020B0604020202020204" charset="0"/>
                <a:cs typeface="Open Sans" panose="020B0604020202020204" charset="0"/>
              </a:rPr>
              <a:t>state </a:t>
            </a:r>
            <a:r>
              <a:rPr lang="en-US" sz="3000" dirty="0" smtClean="0">
                <a:solidFill>
                  <a:srgbClr val="17375E"/>
                </a:solidFill>
                <a:latin typeface="Open Sans" panose="020B0604020202020204" charset="0"/>
                <a:ea typeface="Open Sans" panose="020B0604020202020204" charset="0"/>
                <a:cs typeface="Open Sans" panose="020B0604020202020204" charset="0"/>
                <a:hlinkClick r:id="rId7" action="ppaction://hlinksldjump"/>
              </a:rPr>
              <a:t>[7]</a:t>
            </a:r>
            <a:r>
              <a:rPr lang="en-US" sz="3000" dirty="0" smtClean="0">
                <a:solidFill>
                  <a:srgbClr val="17375E"/>
                </a:solidFill>
                <a:latin typeface="Open Sans" panose="020B0604020202020204" charset="0"/>
                <a:ea typeface="Open Sans" panose="020B0604020202020204" charset="0"/>
                <a:cs typeface="Open Sans" panose="020B0604020202020204" charset="0"/>
              </a:rPr>
              <a:t>.</a:t>
            </a:r>
            <a:endParaRPr lang="en-US" sz="3000" dirty="0">
              <a:solidFill>
                <a:srgbClr val="17375E"/>
              </a:solidFill>
              <a:latin typeface="Open Sans" panose="020B0604020202020204" charset="0"/>
              <a:ea typeface="Open Sans" panose="020B0604020202020204" charset="0"/>
              <a:cs typeface="Open Sans" panose="020B0604020202020204" charset="0"/>
            </a:endParaRPr>
          </a:p>
        </p:txBody>
      </p:sp>
    </p:spTree>
    <p:extLst>
      <p:ext uri="{BB962C8B-B14F-4D97-AF65-F5344CB8AC3E}">
        <p14:creationId xmlns:p14="http://schemas.microsoft.com/office/powerpoint/2010/main" val="108203054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p:cTn id="24" dur="500" fill="hold"/>
                                        <p:tgtEl>
                                          <p:spTgt spid="11"/>
                                        </p:tgtEl>
                                        <p:attrNameLst>
                                          <p:attrName>ppt_w</p:attrName>
                                        </p:attrNameLst>
                                      </p:cBhvr>
                                      <p:tavLst>
                                        <p:tav tm="0">
                                          <p:val>
                                            <p:fltVal val="0"/>
                                          </p:val>
                                        </p:tav>
                                        <p:tav tm="100000">
                                          <p:val>
                                            <p:strVal val="#ppt_w"/>
                                          </p:val>
                                        </p:tav>
                                      </p:tavLst>
                                    </p:anim>
                                    <p:anim calcmode="lin" valueType="num">
                                      <p:cBhvr>
                                        <p:cTn id="25" dur="500" fill="hold"/>
                                        <p:tgtEl>
                                          <p:spTgt spid="11"/>
                                        </p:tgtEl>
                                        <p:attrNameLst>
                                          <p:attrName>ppt_h</p:attrName>
                                        </p:attrNameLst>
                                      </p:cBhvr>
                                      <p:tavLst>
                                        <p:tav tm="0">
                                          <p:val>
                                            <p:fltVal val="0"/>
                                          </p:val>
                                        </p:tav>
                                        <p:tav tm="100000">
                                          <p:val>
                                            <p:strVal val="#ppt_h"/>
                                          </p:val>
                                        </p:tav>
                                      </p:tavLst>
                                    </p:anim>
                                    <p:animEffect transition="in" filter="fade">
                                      <p:cBhvr>
                                        <p:cTn id="26" dur="500"/>
                                        <p:tgtEl>
                                          <p:spTgt spid="11"/>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p:cTn id="29" dur="500" fill="hold"/>
                                        <p:tgtEl>
                                          <p:spTgt spid="12"/>
                                        </p:tgtEl>
                                        <p:attrNameLst>
                                          <p:attrName>ppt_w</p:attrName>
                                        </p:attrNameLst>
                                      </p:cBhvr>
                                      <p:tavLst>
                                        <p:tav tm="0">
                                          <p:val>
                                            <p:fltVal val="0"/>
                                          </p:val>
                                        </p:tav>
                                        <p:tav tm="100000">
                                          <p:val>
                                            <p:strVal val="#ppt_w"/>
                                          </p:val>
                                        </p:tav>
                                      </p:tavLst>
                                    </p:anim>
                                    <p:anim calcmode="lin" valueType="num">
                                      <p:cBhvr>
                                        <p:cTn id="30" dur="500" fill="hold"/>
                                        <p:tgtEl>
                                          <p:spTgt spid="12"/>
                                        </p:tgtEl>
                                        <p:attrNameLst>
                                          <p:attrName>ppt_h</p:attrName>
                                        </p:attrNameLst>
                                      </p:cBhvr>
                                      <p:tavLst>
                                        <p:tav tm="0">
                                          <p:val>
                                            <p:fltVal val="0"/>
                                          </p:val>
                                        </p:tav>
                                        <p:tav tm="100000">
                                          <p:val>
                                            <p:strVal val="#ppt_h"/>
                                          </p:val>
                                        </p:tav>
                                      </p:tavLst>
                                    </p:anim>
                                    <p:animEffect transition="in" filter="fade">
                                      <p:cBhvr>
                                        <p:cTn id="3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9" grpId="0"/>
      <p:bldP spid="1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19135" y="342900"/>
            <a:ext cx="6719865" cy="2888022"/>
          </a:xfrm>
          <a:custGeom>
            <a:avLst/>
            <a:gdLst/>
            <a:ahLst/>
            <a:cxnLst/>
            <a:rect l="l" t="t" r="r" b="b"/>
            <a:pathLst>
              <a:path w="5934317" h="2028458">
                <a:moveTo>
                  <a:pt x="0" y="0"/>
                </a:moveTo>
                <a:lnTo>
                  <a:pt x="5934318" y="0"/>
                </a:lnTo>
                <a:lnTo>
                  <a:pt x="5934318" y="2028458"/>
                </a:lnTo>
                <a:lnTo>
                  <a:pt x="0" y="2028458"/>
                </a:lnTo>
                <a:lnTo>
                  <a:pt x="0"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3" name="Freeform 3"/>
          <p:cNvSpPr/>
          <p:nvPr/>
        </p:nvSpPr>
        <p:spPr>
          <a:xfrm>
            <a:off x="-3303104" y="8865103"/>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6">
              <a:alphaModFix amt="80000"/>
            </a:blip>
            <a:stretch>
              <a:fillRect/>
            </a:stretch>
          </a:blipFill>
        </p:spPr>
      </p:sp>
      <p:sp>
        <p:nvSpPr>
          <p:cNvPr id="4" name="Freeform 4"/>
          <p:cNvSpPr/>
          <p:nvPr/>
        </p:nvSpPr>
        <p:spPr>
          <a:xfrm>
            <a:off x="7721735" y="-6604364"/>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6">
              <a:alphaModFix amt="78000"/>
            </a:blip>
            <a:stretch>
              <a:fillRect/>
            </a:stretch>
          </a:blipFill>
        </p:spPr>
      </p:sp>
      <p:sp>
        <p:nvSpPr>
          <p:cNvPr id="6" name="TextBox 6"/>
          <p:cNvSpPr txBox="1"/>
          <p:nvPr/>
        </p:nvSpPr>
        <p:spPr>
          <a:xfrm>
            <a:off x="1828800" y="1104900"/>
            <a:ext cx="6629400" cy="1600438"/>
          </a:xfrm>
          <a:prstGeom prst="rect">
            <a:avLst/>
          </a:prstGeom>
        </p:spPr>
        <p:txBody>
          <a:bodyPr wrap="square" lIns="0" tIns="0" rIns="0" bIns="0" rtlCol="0" anchor="t">
            <a:spAutoFit/>
          </a:bodyPr>
          <a:lstStyle/>
          <a:p>
            <a:r>
              <a:rPr lang="en-US" sz="5200" b="1" dirty="0" smtClean="0">
                <a:solidFill>
                  <a:srgbClr val="17375E"/>
                </a:solidFill>
                <a:latin typeface="Hobo" panose="020B0604020202020204" charset="0"/>
              </a:rPr>
              <a:t>Components of </a:t>
            </a:r>
            <a:r>
              <a:rPr lang="en-US" sz="5200" b="1" dirty="0">
                <a:solidFill>
                  <a:srgbClr val="17375E"/>
                </a:solidFill>
                <a:latin typeface="Hobo" panose="020B0604020202020204" charset="0"/>
              </a:rPr>
              <a:t>LangGraph</a:t>
            </a:r>
          </a:p>
        </p:txBody>
      </p:sp>
      <p:sp>
        <p:nvSpPr>
          <p:cNvPr id="8" name="TextBox 7"/>
          <p:cNvSpPr txBox="1"/>
          <p:nvPr/>
        </p:nvSpPr>
        <p:spPr>
          <a:xfrm>
            <a:off x="16687800" y="9182100"/>
            <a:ext cx="1295400" cy="523220"/>
          </a:xfrm>
          <a:prstGeom prst="rect">
            <a:avLst/>
          </a:prstGeom>
          <a:noFill/>
        </p:spPr>
        <p:txBody>
          <a:bodyPr wrap="square" rtlCol="0">
            <a:spAutoFit/>
          </a:bodyPr>
          <a:lstStyle/>
          <a:p>
            <a:r>
              <a:rPr lang="en-US" sz="2800" dirty="0" smtClean="0"/>
              <a:t>46</a:t>
            </a:r>
            <a:endParaRPr lang="en-US" sz="2800" dirty="0"/>
          </a:p>
        </p:txBody>
      </p:sp>
      <p:sp>
        <p:nvSpPr>
          <p:cNvPr id="5" name="Oval 4"/>
          <p:cNvSpPr/>
          <p:nvPr/>
        </p:nvSpPr>
        <p:spPr>
          <a:xfrm>
            <a:off x="1219200" y="4219212"/>
            <a:ext cx="3733800" cy="1828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1447800" y="4663017"/>
            <a:ext cx="381000" cy="923330"/>
          </a:xfrm>
          <a:prstGeom prst="rect">
            <a:avLst/>
          </a:prstGeom>
          <a:noFill/>
        </p:spPr>
        <p:txBody>
          <a:bodyPr wrap="square" rtlCol="0">
            <a:spAutoFit/>
          </a:bodyPr>
          <a:lstStyle/>
          <a:p>
            <a:r>
              <a:rPr lang="en-US" sz="5400" b="1" dirty="0">
                <a:ln w="12700">
                  <a:solidFill>
                    <a:schemeClr val="accent5"/>
                  </a:solidFill>
                  <a:prstDash val="solid"/>
                </a:ln>
                <a:pattFill prst="ltDnDiag">
                  <a:fgClr>
                    <a:schemeClr val="accent5">
                      <a:lumMod val="60000"/>
                      <a:lumOff val="40000"/>
                    </a:schemeClr>
                  </a:fgClr>
                  <a:bgClr>
                    <a:schemeClr val="bg1"/>
                  </a:bgClr>
                </a:pattFill>
              </a:rPr>
              <a:t>3</a:t>
            </a:r>
            <a:endParaRPr lang="en-US" sz="54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
        <p:nvSpPr>
          <p:cNvPr id="9" name="TextBox 8"/>
          <p:cNvSpPr txBox="1"/>
          <p:nvPr/>
        </p:nvSpPr>
        <p:spPr>
          <a:xfrm>
            <a:off x="2361127" y="4739961"/>
            <a:ext cx="2590800" cy="769441"/>
          </a:xfrm>
          <a:prstGeom prst="rect">
            <a:avLst/>
          </a:prstGeom>
          <a:noFill/>
        </p:spPr>
        <p:txBody>
          <a:bodyPr wrap="square" rtlCol="0">
            <a:spAutoFit/>
          </a:bodyPr>
          <a:lstStyle/>
          <a:p>
            <a:r>
              <a:rPr lang="en-US" sz="4400" dirty="0" smtClean="0">
                <a:solidFill>
                  <a:schemeClr val="bg1"/>
                </a:solidFill>
                <a:latin typeface="Hobo" panose="020B0604020202020204" charset="0"/>
                <a:ea typeface="Open Sans" panose="020B0604020202020204" charset="0"/>
                <a:cs typeface="Open Sans" panose="020B0604020202020204" charset="0"/>
              </a:rPr>
              <a:t>Edges</a:t>
            </a:r>
            <a:endParaRPr lang="en-US" sz="4400" dirty="0">
              <a:solidFill>
                <a:schemeClr val="bg1"/>
              </a:solidFill>
              <a:latin typeface="Hobo" panose="020B0604020202020204" charset="0"/>
              <a:ea typeface="Open Sans" panose="020B0604020202020204" charset="0"/>
              <a:cs typeface="Open Sans" panose="020B0604020202020204" charset="0"/>
            </a:endParaRPr>
          </a:p>
        </p:txBody>
      </p:sp>
      <p:cxnSp>
        <p:nvCxnSpPr>
          <p:cNvPr id="11" name="Straight Arrow Connector 10"/>
          <p:cNvCxnSpPr/>
          <p:nvPr/>
        </p:nvCxnSpPr>
        <p:spPr>
          <a:xfrm>
            <a:off x="5143500" y="5124681"/>
            <a:ext cx="18669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7315200" y="4506505"/>
            <a:ext cx="8585065" cy="2862322"/>
          </a:xfrm>
          <a:prstGeom prst="rect">
            <a:avLst/>
          </a:prstGeom>
          <a:noFill/>
        </p:spPr>
        <p:txBody>
          <a:bodyPr wrap="square" rtlCol="0">
            <a:spAutoFit/>
          </a:bodyPr>
          <a:lstStyle/>
          <a:p>
            <a:r>
              <a:rPr lang="en-US" sz="3000" dirty="0">
                <a:solidFill>
                  <a:srgbClr val="17375E"/>
                </a:solidFill>
                <a:latin typeface="Open Sans" panose="020B0604020202020204" charset="0"/>
                <a:ea typeface="Open Sans" panose="020B0604020202020204" charset="0"/>
                <a:cs typeface="Open Sans" panose="020B0604020202020204" charset="0"/>
              </a:rPr>
              <a:t>Edges connect nodes and define the possible paths through your </a:t>
            </a:r>
            <a:r>
              <a:rPr lang="en-US" sz="3000" dirty="0" smtClean="0">
                <a:solidFill>
                  <a:srgbClr val="17375E"/>
                </a:solidFill>
                <a:latin typeface="Open Sans" panose="020B0604020202020204" charset="0"/>
                <a:ea typeface="Open Sans" panose="020B0604020202020204" charset="0"/>
                <a:cs typeface="Open Sans" panose="020B0604020202020204" charset="0"/>
              </a:rPr>
              <a:t>graph</a:t>
            </a:r>
          </a:p>
          <a:p>
            <a:r>
              <a:rPr lang="en-US" sz="3000" dirty="0">
                <a:solidFill>
                  <a:srgbClr val="17375E"/>
                </a:solidFill>
                <a:latin typeface="Open Sans" panose="020B0604020202020204" charset="0"/>
                <a:ea typeface="Open Sans" panose="020B0604020202020204" charset="0"/>
                <a:cs typeface="Open Sans" panose="020B0604020202020204" charset="0"/>
              </a:rPr>
              <a:t>Edges can be:</a:t>
            </a:r>
          </a:p>
          <a:p>
            <a:pPr marL="457200" indent="-457200">
              <a:buFont typeface="Arial" panose="020B0604020202020204" pitchFamily="34" charset="0"/>
              <a:buChar char="•"/>
            </a:pPr>
            <a:r>
              <a:rPr lang="en-US" sz="3000" b="1" dirty="0">
                <a:solidFill>
                  <a:srgbClr val="17375E"/>
                </a:solidFill>
                <a:latin typeface="Open Sans" panose="020B0604020202020204" charset="0"/>
                <a:ea typeface="Open Sans" panose="020B0604020202020204" charset="0"/>
                <a:cs typeface="Open Sans" panose="020B0604020202020204" charset="0"/>
              </a:rPr>
              <a:t>Direct</a:t>
            </a:r>
            <a:r>
              <a:rPr lang="en-US" sz="3000" dirty="0">
                <a:solidFill>
                  <a:srgbClr val="17375E"/>
                </a:solidFill>
                <a:latin typeface="Open Sans" panose="020B0604020202020204" charset="0"/>
                <a:ea typeface="Open Sans" panose="020B0604020202020204" charset="0"/>
                <a:cs typeface="Open Sans" panose="020B0604020202020204" charset="0"/>
              </a:rPr>
              <a:t>: Always go from node A to node B</a:t>
            </a:r>
          </a:p>
          <a:p>
            <a:pPr marL="457200" indent="-457200">
              <a:buFont typeface="Arial" panose="020B0604020202020204" pitchFamily="34" charset="0"/>
              <a:buChar char="•"/>
            </a:pPr>
            <a:r>
              <a:rPr lang="en-US" sz="3000" b="1" dirty="0">
                <a:solidFill>
                  <a:srgbClr val="17375E"/>
                </a:solidFill>
                <a:latin typeface="Open Sans" panose="020B0604020202020204" charset="0"/>
                <a:ea typeface="Open Sans" panose="020B0604020202020204" charset="0"/>
                <a:cs typeface="Open Sans" panose="020B0604020202020204" charset="0"/>
              </a:rPr>
              <a:t>Conditional</a:t>
            </a:r>
            <a:r>
              <a:rPr lang="en-US" sz="3000" dirty="0">
                <a:solidFill>
                  <a:srgbClr val="17375E"/>
                </a:solidFill>
                <a:latin typeface="Open Sans" panose="020B0604020202020204" charset="0"/>
                <a:ea typeface="Open Sans" panose="020B0604020202020204" charset="0"/>
                <a:cs typeface="Open Sans" panose="020B0604020202020204" charset="0"/>
              </a:rPr>
              <a:t>: Choose the next node based on the current </a:t>
            </a:r>
            <a:r>
              <a:rPr lang="en-US" sz="3000" dirty="0" smtClean="0">
                <a:solidFill>
                  <a:srgbClr val="17375E"/>
                </a:solidFill>
                <a:latin typeface="Open Sans" panose="020B0604020202020204" charset="0"/>
                <a:ea typeface="Open Sans" panose="020B0604020202020204" charset="0"/>
                <a:cs typeface="Open Sans" panose="020B0604020202020204" charset="0"/>
              </a:rPr>
              <a:t>state </a:t>
            </a:r>
            <a:r>
              <a:rPr lang="en-US" sz="3000" dirty="0" smtClean="0">
                <a:solidFill>
                  <a:srgbClr val="17375E"/>
                </a:solidFill>
                <a:latin typeface="Open Sans" panose="020B0604020202020204" charset="0"/>
                <a:ea typeface="Open Sans" panose="020B0604020202020204" charset="0"/>
                <a:cs typeface="Open Sans" panose="020B0604020202020204" charset="0"/>
                <a:hlinkClick r:id="rId7" action="ppaction://hlinksldjump"/>
              </a:rPr>
              <a:t>[7]</a:t>
            </a:r>
            <a:r>
              <a:rPr lang="en-US" sz="3000" dirty="0" smtClean="0">
                <a:solidFill>
                  <a:srgbClr val="17375E"/>
                </a:solidFill>
                <a:latin typeface="Open Sans" panose="020B0604020202020204" charset="0"/>
                <a:ea typeface="Open Sans" panose="020B0604020202020204" charset="0"/>
                <a:cs typeface="Open Sans" panose="020B0604020202020204" charset="0"/>
              </a:rPr>
              <a:t>.</a:t>
            </a:r>
            <a:endParaRPr lang="en-US" sz="3000" dirty="0">
              <a:solidFill>
                <a:srgbClr val="17375E"/>
              </a:solidFill>
              <a:latin typeface="Open Sans" panose="020B0604020202020204" charset="0"/>
              <a:ea typeface="Open Sans" panose="020B0604020202020204" charset="0"/>
              <a:cs typeface="Open Sans" panose="020B0604020202020204" charset="0"/>
            </a:endParaRPr>
          </a:p>
        </p:txBody>
      </p:sp>
    </p:spTree>
    <p:extLst>
      <p:ext uri="{BB962C8B-B14F-4D97-AF65-F5344CB8AC3E}">
        <p14:creationId xmlns:p14="http://schemas.microsoft.com/office/powerpoint/2010/main" val="405431078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p:cTn id="24" dur="500" fill="hold"/>
                                        <p:tgtEl>
                                          <p:spTgt spid="11"/>
                                        </p:tgtEl>
                                        <p:attrNameLst>
                                          <p:attrName>ppt_w</p:attrName>
                                        </p:attrNameLst>
                                      </p:cBhvr>
                                      <p:tavLst>
                                        <p:tav tm="0">
                                          <p:val>
                                            <p:fltVal val="0"/>
                                          </p:val>
                                        </p:tav>
                                        <p:tav tm="100000">
                                          <p:val>
                                            <p:strVal val="#ppt_w"/>
                                          </p:val>
                                        </p:tav>
                                      </p:tavLst>
                                    </p:anim>
                                    <p:anim calcmode="lin" valueType="num">
                                      <p:cBhvr>
                                        <p:cTn id="25" dur="500" fill="hold"/>
                                        <p:tgtEl>
                                          <p:spTgt spid="11"/>
                                        </p:tgtEl>
                                        <p:attrNameLst>
                                          <p:attrName>ppt_h</p:attrName>
                                        </p:attrNameLst>
                                      </p:cBhvr>
                                      <p:tavLst>
                                        <p:tav tm="0">
                                          <p:val>
                                            <p:fltVal val="0"/>
                                          </p:val>
                                        </p:tav>
                                        <p:tav tm="100000">
                                          <p:val>
                                            <p:strVal val="#ppt_h"/>
                                          </p:val>
                                        </p:tav>
                                      </p:tavLst>
                                    </p:anim>
                                    <p:animEffect transition="in" filter="fade">
                                      <p:cBhvr>
                                        <p:cTn id="26" dur="500"/>
                                        <p:tgtEl>
                                          <p:spTgt spid="11"/>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p:cTn id="29" dur="500" fill="hold"/>
                                        <p:tgtEl>
                                          <p:spTgt spid="12"/>
                                        </p:tgtEl>
                                        <p:attrNameLst>
                                          <p:attrName>ppt_w</p:attrName>
                                        </p:attrNameLst>
                                      </p:cBhvr>
                                      <p:tavLst>
                                        <p:tav tm="0">
                                          <p:val>
                                            <p:fltVal val="0"/>
                                          </p:val>
                                        </p:tav>
                                        <p:tav tm="100000">
                                          <p:val>
                                            <p:strVal val="#ppt_w"/>
                                          </p:val>
                                        </p:tav>
                                      </p:tavLst>
                                    </p:anim>
                                    <p:anim calcmode="lin" valueType="num">
                                      <p:cBhvr>
                                        <p:cTn id="30" dur="500" fill="hold"/>
                                        <p:tgtEl>
                                          <p:spTgt spid="12"/>
                                        </p:tgtEl>
                                        <p:attrNameLst>
                                          <p:attrName>ppt_h</p:attrName>
                                        </p:attrNameLst>
                                      </p:cBhvr>
                                      <p:tavLst>
                                        <p:tav tm="0">
                                          <p:val>
                                            <p:fltVal val="0"/>
                                          </p:val>
                                        </p:tav>
                                        <p:tav tm="100000">
                                          <p:val>
                                            <p:strVal val="#ppt_h"/>
                                          </p:val>
                                        </p:tav>
                                      </p:tavLst>
                                    </p:anim>
                                    <p:animEffect transition="in" filter="fade">
                                      <p:cBhvr>
                                        <p:cTn id="3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9" grpId="0"/>
      <p:bldP spid="1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19135" y="342900"/>
            <a:ext cx="6719865" cy="2888022"/>
          </a:xfrm>
          <a:custGeom>
            <a:avLst/>
            <a:gdLst/>
            <a:ahLst/>
            <a:cxnLst/>
            <a:rect l="l" t="t" r="r" b="b"/>
            <a:pathLst>
              <a:path w="5934317" h="2028458">
                <a:moveTo>
                  <a:pt x="0" y="0"/>
                </a:moveTo>
                <a:lnTo>
                  <a:pt x="5934318" y="0"/>
                </a:lnTo>
                <a:lnTo>
                  <a:pt x="5934318" y="2028458"/>
                </a:lnTo>
                <a:lnTo>
                  <a:pt x="0" y="2028458"/>
                </a:lnTo>
                <a:lnTo>
                  <a:pt x="0"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3" name="Freeform 3"/>
          <p:cNvSpPr/>
          <p:nvPr/>
        </p:nvSpPr>
        <p:spPr>
          <a:xfrm>
            <a:off x="-3303104" y="8865103"/>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6">
              <a:alphaModFix amt="80000"/>
            </a:blip>
            <a:stretch>
              <a:fillRect/>
            </a:stretch>
          </a:blipFill>
        </p:spPr>
      </p:sp>
      <p:sp>
        <p:nvSpPr>
          <p:cNvPr id="4" name="Freeform 4"/>
          <p:cNvSpPr/>
          <p:nvPr/>
        </p:nvSpPr>
        <p:spPr>
          <a:xfrm>
            <a:off x="7721735" y="-6604364"/>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6">
              <a:alphaModFix amt="78000"/>
            </a:blip>
            <a:stretch>
              <a:fillRect/>
            </a:stretch>
          </a:blipFill>
        </p:spPr>
      </p:sp>
      <p:sp>
        <p:nvSpPr>
          <p:cNvPr id="6" name="TextBox 6"/>
          <p:cNvSpPr txBox="1"/>
          <p:nvPr/>
        </p:nvSpPr>
        <p:spPr>
          <a:xfrm>
            <a:off x="1828800" y="1104900"/>
            <a:ext cx="6629400" cy="1600438"/>
          </a:xfrm>
          <a:prstGeom prst="rect">
            <a:avLst/>
          </a:prstGeom>
        </p:spPr>
        <p:txBody>
          <a:bodyPr wrap="square" lIns="0" tIns="0" rIns="0" bIns="0" rtlCol="0" anchor="t">
            <a:spAutoFit/>
          </a:bodyPr>
          <a:lstStyle/>
          <a:p>
            <a:r>
              <a:rPr lang="en-US" sz="5200" b="1" dirty="0" smtClean="0">
                <a:solidFill>
                  <a:srgbClr val="17375E"/>
                </a:solidFill>
                <a:latin typeface="Hobo" panose="020B0604020202020204" charset="0"/>
              </a:rPr>
              <a:t>Components of </a:t>
            </a:r>
            <a:r>
              <a:rPr lang="en-US" sz="5200" b="1" dirty="0">
                <a:solidFill>
                  <a:srgbClr val="17375E"/>
                </a:solidFill>
                <a:latin typeface="Hobo" panose="020B0604020202020204" charset="0"/>
              </a:rPr>
              <a:t>LangGraph</a:t>
            </a:r>
          </a:p>
        </p:txBody>
      </p:sp>
      <p:sp>
        <p:nvSpPr>
          <p:cNvPr id="8" name="TextBox 7"/>
          <p:cNvSpPr txBox="1"/>
          <p:nvPr/>
        </p:nvSpPr>
        <p:spPr>
          <a:xfrm>
            <a:off x="16687800" y="9182100"/>
            <a:ext cx="1295400" cy="523220"/>
          </a:xfrm>
          <a:prstGeom prst="rect">
            <a:avLst/>
          </a:prstGeom>
          <a:noFill/>
        </p:spPr>
        <p:txBody>
          <a:bodyPr wrap="square" rtlCol="0">
            <a:spAutoFit/>
          </a:bodyPr>
          <a:lstStyle/>
          <a:p>
            <a:r>
              <a:rPr lang="en-US" sz="2800" dirty="0" smtClean="0"/>
              <a:t>47</a:t>
            </a:r>
            <a:endParaRPr lang="en-US" sz="2800" dirty="0"/>
          </a:p>
        </p:txBody>
      </p:sp>
      <p:sp>
        <p:nvSpPr>
          <p:cNvPr id="5" name="Oval 4"/>
          <p:cNvSpPr/>
          <p:nvPr/>
        </p:nvSpPr>
        <p:spPr>
          <a:xfrm>
            <a:off x="1219200" y="4219212"/>
            <a:ext cx="3733800" cy="1828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1447800" y="4663017"/>
            <a:ext cx="381000" cy="923330"/>
          </a:xfrm>
          <a:prstGeom prst="rect">
            <a:avLst/>
          </a:prstGeom>
          <a:noFill/>
        </p:spPr>
        <p:txBody>
          <a:bodyPr wrap="square" rtlCol="0">
            <a:spAutoFit/>
          </a:bodyPr>
          <a:lstStyle/>
          <a:p>
            <a:r>
              <a:rPr lang="en-US" sz="5400" b="1" dirty="0" smtClean="0">
                <a:ln w="12700">
                  <a:solidFill>
                    <a:schemeClr val="accent5"/>
                  </a:solidFill>
                  <a:prstDash val="solid"/>
                </a:ln>
                <a:pattFill prst="ltDnDiag">
                  <a:fgClr>
                    <a:schemeClr val="accent5">
                      <a:lumMod val="60000"/>
                      <a:lumOff val="40000"/>
                    </a:schemeClr>
                  </a:fgClr>
                  <a:bgClr>
                    <a:schemeClr val="bg1"/>
                  </a:bgClr>
                </a:pattFill>
              </a:rPr>
              <a:t>4</a:t>
            </a:r>
            <a:endParaRPr lang="en-US" sz="54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
        <p:nvSpPr>
          <p:cNvPr id="9" name="TextBox 8"/>
          <p:cNvSpPr txBox="1"/>
          <p:nvPr/>
        </p:nvSpPr>
        <p:spPr>
          <a:xfrm>
            <a:off x="1828800" y="4740728"/>
            <a:ext cx="3201473" cy="769441"/>
          </a:xfrm>
          <a:prstGeom prst="rect">
            <a:avLst/>
          </a:prstGeom>
          <a:noFill/>
        </p:spPr>
        <p:txBody>
          <a:bodyPr wrap="square" rtlCol="0">
            <a:spAutoFit/>
          </a:bodyPr>
          <a:lstStyle/>
          <a:p>
            <a:r>
              <a:rPr lang="en-US" sz="4400" dirty="0" smtClean="0">
                <a:solidFill>
                  <a:schemeClr val="bg1"/>
                </a:solidFill>
                <a:latin typeface="Hobo" panose="020B0604020202020204" charset="0"/>
                <a:ea typeface="Open Sans" panose="020B0604020202020204" charset="0"/>
                <a:cs typeface="Open Sans" panose="020B0604020202020204" charset="0"/>
              </a:rPr>
              <a:t>StateGraph</a:t>
            </a:r>
            <a:endParaRPr lang="en-US" sz="4400" dirty="0">
              <a:solidFill>
                <a:schemeClr val="bg1"/>
              </a:solidFill>
              <a:latin typeface="Hobo" panose="020B0604020202020204" charset="0"/>
              <a:ea typeface="Open Sans" panose="020B0604020202020204" charset="0"/>
              <a:cs typeface="Open Sans" panose="020B0604020202020204" charset="0"/>
            </a:endParaRPr>
          </a:p>
        </p:txBody>
      </p:sp>
      <p:cxnSp>
        <p:nvCxnSpPr>
          <p:cNvPr id="11" name="Straight Arrow Connector 10"/>
          <p:cNvCxnSpPr/>
          <p:nvPr/>
        </p:nvCxnSpPr>
        <p:spPr>
          <a:xfrm>
            <a:off x="5143500" y="5124681"/>
            <a:ext cx="18669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7239000" y="4570684"/>
            <a:ext cx="8585065" cy="1015663"/>
          </a:xfrm>
          <a:prstGeom prst="rect">
            <a:avLst/>
          </a:prstGeom>
          <a:noFill/>
        </p:spPr>
        <p:txBody>
          <a:bodyPr wrap="square" rtlCol="0">
            <a:spAutoFit/>
          </a:bodyPr>
          <a:lstStyle/>
          <a:p>
            <a:r>
              <a:rPr lang="en-US" sz="3000" dirty="0">
                <a:solidFill>
                  <a:srgbClr val="17375E"/>
                </a:solidFill>
                <a:latin typeface="Open Sans" panose="020B0604020202020204" charset="0"/>
                <a:ea typeface="Open Sans" panose="020B0604020202020204" charset="0"/>
                <a:cs typeface="Open Sans" panose="020B0604020202020204" charset="0"/>
              </a:rPr>
              <a:t>The StateGraph is the container that holds your entire agent </a:t>
            </a:r>
            <a:r>
              <a:rPr lang="en-US" sz="3000" dirty="0" smtClean="0">
                <a:solidFill>
                  <a:srgbClr val="17375E"/>
                </a:solidFill>
                <a:latin typeface="Open Sans" panose="020B0604020202020204" charset="0"/>
                <a:ea typeface="Open Sans" panose="020B0604020202020204" charset="0"/>
                <a:cs typeface="Open Sans" panose="020B0604020202020204" charset="0"/>
              </a:rPr>
              <a:t>workflow </a:t>
            </a:r>
            <a:r>
              <a:rPr lang="en-US" sz="3000" dirty="0" smtClean="0">
                <a:solidFill>
                  <a:srgbClr val="17375E"/>
                </a:solidFill>
                <a:latin typeface="Open Sans" panose="020B0604020202020204" charset="0"/>
                <a:ea typeface="Open Sans" panose="020B0604020202020204" charset="0"/>
                <a:cs typeface="Open Sans" panose="020B0604020202020204" charset="0"/>
                <a:hlinkClick r:id="rId7" action="ppaction://hlinksldjump"/>
              </a:rPr>
              <a:t>[7]</a:t>
            </a:r>
            <a:r>
              <a:rPr lang="en-US" sz="3000" dirty="0" smtClean="0">
                <a:solidFill>
                  <a:srgbClr val="17375E"/>
                </a:solidFill>
                <a:latin typeface="Open Sans" panose="020B0604020202020204" charset="0"/>
                <a:ea typeface="Open Sans" panose="020B0604020202020204" charset="0"/>
                <a:cs typeface="Open Sans" panose="020B0604020202020204" charset="0"/>
              </a:rPr>
              <a:t>.</a:t>
            </a:r>
            <a:endParaRPr lang="en-US" sz="3000" dirty="0">
              <a:solidFill>
                <a:srgbClr val="17375E"/>
              </a:solidFill>
              <a:latin typeface="Open Sans" panose="020B0604020202020204" charset="0"/>
              <a:ea typeface="Open Sans" panose="020B0604020202020204" charset="0"/>
              <a:cs typeface="Open Sans" panose="020B0604020202020204" charset="0"/>
            </a:endParaRPr>
          </a:p>
        </p:txBody>
      </p:sp>
    </p:spTree>
    <p:extLst>
      <p:ext uri="{BB962C8B-B14F-4D97-AF65-F5344CB8AC3E}">
        <p14:creationId xmlns:p14="http://schemas.microsoft.com/office/powerpoint/2010/main" val="110211193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p:cTn id="24" dur="500" fill="hold"/>
                                        <p:tgtEl>
                                          <p:spTgt spid="11"/>
                                        </p:tgtEl>
                                        <p:attrNameLst>
                                          <p:attrName>ppt_w</p:attrName>
                                        </p:attrNameLst>
                                      </p:cBhvr>
                                      <p:tavLst>
                                        <p:tav tm="0">
                                          <p:val>
                                            <p:fltVal val="0"/>
                                          </p:val>
                                        </p:tav>
                                        <p:tav tm="100000">
                                          <p:val>
                                            <p:strVal val="#ppt_w"/>
                                          </p:val>
                                        </p:tav>
                                      </p:tavLst>
                                    </p:anim>
                                    <p:anim calcmode="lin" valueType="num">
                                      <p:cBhvr>
                                        <p:cTn id="25" dur="500" fill="hold"/>
                                        <p:tgtEl>
                                          <p:spTgt spid="11"/>
                                        </p:tgtEl>
                                        <p:attrNameLst>
                                          <p:attrName>ppt_h</p:attrName>
                                        </p:attrNameLst>
                                      </p:cBhvr>
                                      <p:tavLst>
                                        <p:tav tm="0">
                                          <p:val>
                                            <p:fltVal val="0"/>
                                          </p:val>
                                        </p:tav>
                                        <p:tav tm="100000">
                                          <p:val>
                                            <p:strVal val="#ppt_h"/>
                                          </p:val>
                                        </p:tav>
                                      </p:tavLst>
                                    </p:anim>
                                    <p:animEffect transition="in" filter="fade">
                                      <p:cBhvr>
                                        <p:cTn id="26" dur="500"/>
                                        <p:tgtEl>
                                          <p:spTgt spid="11"/>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p:cTn id="29" dur="500" fill="hold"/>
                                        <p:tgtEl>
                                          <p:spTgt spid="12"/>
                                        </p:tgtEl>
                                        <p:attrNameLst>
                                          <p:attrName>ppt_w</p:attrName>
                                        </p:attrNameLst>
                                      </p:cBhvr>
                                      <p:tavLst>
                                        <p:tav tm="0">
                                          <p:val>
                                            <p:fltVal val="0"/>
                                          </p:val>
                                        </p:tav>
                                        <p:tav tm="100000">
                                          <p:val>
                                            <p:strVal val="#ppt_w"/>
                                          </p:val>
                                        </p:tav>
                                      </p:tavLst>
                                    </p:anim>
                                    <p:anim calcmode="lin" valueType="num">
                                      <p:cBhvr>
                                        <p:cTn id="30" dur="500" fill="hold"/>
                                        <p:tgtEl>
                                          <p:spTgt spid="12"/>
                                        </p:tgtEl>
                                        <p:attrNameLst>
                                          <p:attrName>ppt_h</p:attrName>
                                        </p:attrNameLst>
                                      </p:cBhvr>
                                      <p:tavLst>
                                        <p:tav tm="0">
                                          <p:val>
                                            <p:fltVal val="0"/>
                                          </p:val>
                                        </p:tav>
                                        <p:tav tm="100000">
                                          <p:val>
                                            <p:strVal val="#ppt_h"/>
                                          </p:val>
                                        </p:tav>
                                      </p:tavLst>
                                    </p:anim>
                                    <p:animEffect transition="in" filter="fade">
                                      <p:cBhvr>
                                        <p:cTn id="3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9" grpId="0"/>
      <p:bldP spid="1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19135" y="342900"/>
            <a:ext cx="6719865" cy="2888022"/>
          </a:xfrm>
          <a:custGeom>
            <a:avLst/>
            <a:gdLst/>
            <a:ahLst/>
            <a:cxnLst/>
            <a:rect l="l" t="t" r="r" b="b"/>
            <a:pathLst>
              <a:path w="5934317" h="2028458">
                <a:moveTo>
                  <a:pt x="0" y="0"/>
                </a:moveTo>
                <a:lnTo>
                  <a:pt x="5934318" y="0"/>
                </a:lnTo>
                <a:lnTo>
                  <a:pt x="5934318" y="2028458"/>
                </a:lnTo>
                <a:lnTo>
                  <a:pt x="0" y="2028458"/>
                </a:lnTo>
                <a:lnTo>
                  <a:pt x="0"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3" name="Freeform 3"/>
          <p:cNvSpPr/>
          <p:nvPr/>
        </p:nvSpPr>
        <p:spPr>
          <a:xfrm>
            <a:off x="-3303104" y="8865103"/>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6">
              <a:alphaModFix amt="80000"/>
            </a:blip>
            <a:stretch>
              <a:fillRect/>
            </a:stretch>
          </a:blipFill>
        </p:spPr>
      </p:sp>
      <p:sp>
        <p:nvSpPr>
          <p:cNvPr id="4" name="Freeform 4"/>
          <p:cNvSpPr/>
          <p:nvPr/>
        </p:nvSpPr>
        <p:spPr>
          <a:xfrm>
            <a:off x="7696200" y="-6743700"/>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6">
              <a:alphaModFix amt="78000"/>
            </a:blip>
            <a:stretch>
              <a:fillRect/>
            </a:stretch>
          </a:blipFill>
        </p:spPr>
      </p:sp>
      <p:sp>
        <p:nvSpPr>
          <p:cNvPr id="6" name="TextBox 6"/>
          <p:cNvSpPr txBox="1"/>
          <p:nvPr/>
        </p:nvSpPr>
        <p:spPr>
          <a:xfrm>
            <a:off x="1828800" y="1104900"/>
            <a:ext cx="6629400" cy="1600438"/>
          </a:xfrm>
          <a:prstGeom prst="rect">
            <a:avLst/>
          </a:prstGeom>
        </p:spPr>
        <p:txBody>
          <a:bodyPr wrap="square" lIns="0" tIns="0" rIns="0" bIns="0" rtlCol="0" anchor="t">
            <a:spAutoFit/>
          </a:bodyPr>
          <a:lstStyle/>
          <a:p>
            <a:r>
              <a:rPr lang="en-US" sz="5200" b="1" dirty="0" smtClean="0">
                <a:solidFill>
                  <a:srgbClr val="17375E"/>
                </a:solidFill>
                <a:latin typeface="Hobo" panose="020B0604020202020204" charset="0"/>
              </a:rPr>
              <a:t>Components of </a:t>
            </a:r>
            <a:r>
              <a:rPr lang="en-US" sz="5200" b="1" dirty="0">
                <a:solidFill>
                  <a:srgbClr val="17375E"/>
                </a:solidFill>
                <a:latin typeface="Hobo" panose="020B0604020202020204" charset="0"/>
              </a:rPr>
              <a:t>LangGraph</a:t>
            </a:r>
          </a:p>
        </p:txBody>
      </p:sp>
      <p:sp>
        <p:nvSpPr>
          <p:cNvPr id="8" name="TextBox 7"/>
          <p:cNvSpPr txBox="1"/>
          <p:nvPr/>
        </p:nvSpPr>
        <p:spPr>
          <a:xfrm>
            <a:off x="16687800" y="9182100"/>
            <a:ext cx="1295400" cy="523220"/>
          </a:xfrm>
          <a:prstGeom prst="rect">
            <a:avLst/>
          </a:prstGeom>
          <a:noFill/>
        </p:spPr>
        <p:txBody>
          <a:bodyPr wrap="square" rtlCol="0">
            <a:spAutoFit/>
          </a:bodyPr>
          <a:lstStyle/>
          <a:p>
            <a:r>
              <a:rPr lang="en-US" sz="2800" dirty="0" smtClean="0"/>
              <a:t>48</a:t>
            </a:r>
            <a:endParaRPr lang="en-US" sz="2800" dirty="0"/>
          </a:p>
        </p:txBody>
      </p:sp>
      <p:pic>
        <p:nvPicPr>
          <p:cNvPr id="10" name="Picture 9"/>
          <p:cNvPicPr>
            <a:picLocks noChangeAspect="1"/>
          </p:cNvPicPr>
          <p:nvPr/>
        </p:nvPicPr>
        <p:blipFill>
          <a:blip r:embed="rId7"/>
          <a:stretch>
            <a:fillRect/>
          </a:stretch>
        </p:blipFill>
        <p:spPr>
          <a:xfrm>
            <a:off x="9780744" y="1345512"/>
            <a:ext cx="5475125" cy="8008100"/>
          </a:xfrm>
          <a:prstGeom prst="rect">
            <a:avLst/>
          </a:prstGeom>
        </p:spPr>
      </p:pic>
    </p:spTree>
    <p:extLst>
      <p:ext uri="{BB962C8B-B14F-4D97-AF65-F5344CB8AC3E}">
        <p14:creationId xmlns:p14="http://schemas.microsoft.com/office/powerpoint/2010/main" val="233879263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19135" y="342900"/>
            <a:ext cx="6719865" cy="2888022"/>
          </a:xfrm>
          <a:custGeom>
            <a:avLst/>
            <a:gdLst/>
            <a:ahLst/>
            <a:cxnLst/>
            <a:rect l="l" t="t" r="r" b="b"/>
            <a:pathLst>
              <a:path w="5934317" h="2028458">
                <a:moveTo>
                  <a:pt x="0" y="0"/>
                </a:moveTo>
                <a:lnTo>
                  <a:pt x="5934318" y="0"/>
                </a:lnTo>
                <a:lnTo>
                  <a:pt x="5934318" y="2028458"/>
                </a:lnTo>
                <a:lnTo>
                  <a:pt x="0" y="2028458"/>
                </a:lnTo>
                <a:lnTo>
                  <a:pt x="0" y="0"/>
                </a:lnTo>
                <a:close/>
              </a:path>
            </a:pathLst>
          </a:custGeom>
          <a:blipFill>
            <a:blip r:embed="rId3">
              <a:extLst>
                <a:ext uri="{96DAC541-7B7A-43D3-8B79-37D633B846F1}">
                  <asvg:svgBlip xmlns:asvg="http://schemas.microsoft.com/office/drawing/2016/SVG/main" xmlns="" r:embed="rId5"/>
                </a:ext>
              </a:extLst>
            </a:blip>
            <a:stretch>
              <a:fillRect/>
            </a:stretch>
          </a:blipFill>
        </p:spPr>
      </p:sp>
      <p:sp>
        <p:nvSpPr>
          <p:cNvPr id="3" name="Freeform 3"/>
          <p:cNvSpPr/>
          <p:nvPr/>
        </p:nvSpPr>
        <p:spPr>
          <a:xfrm>
            <a:off x="-3303104" y="8865103"/>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6">
              <a:alphaModFix amt="80000"/>
            </a:blip>
            <a:stretch>
              <a:fillRect/>
            </a:stretch>
          </a:blipFill>
        </p:spPr>
      </p:sp>
      <p:sp>
        <p:nvSpPr>
          <p:cNvPr id="4" name="Freeform 4"/>
          <p:cNvSpPr/>
          <p:nvPr/>
        </p:nvSpPr>
        <p:spPr>
          <a:xfrm>
            <a:off x="7696200" y="-6743700"/>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6">
              <a:alphaModFix amt="78000"/>
            </a:blip>
            <a:stretch>
              <a:fillRect/>
            </a:stretch>
          </a:blipFill>
        </p:spPr>
      </p:sp>
      <p:sp>
        <p:nvSpPr>
          <p:cNvPr id="6" name="TextBox 6"/>
          <p:cNvSpPr txBox="1"/>
          <p:nvPr/>
        </p:nvSpPr>
        <p:spPr>
          <a:xfrm>
            <a:off x="1828800" y="1104900"/>
            <a:ext cx="6629400" cy="1600438"/>
          </a:xfrm>
          <a:prstGeom prst="rect">
            <a:avLst/>
          </a:prstGeom>
        </p:spPr>
        <p:txBody>
          <a:bodyPr wrap="square" lIns="0" tIns="0" rIns="0" bIns="0" rtlCol="0" anchor="t">
            <a:spAutoFit/>
          </a:bodyPr>
          <a:lstStyle/>
          <a:p>
            <a:r>
              <a:rPr lang="en-US" sz="5200" b="1" dirty="0" smtClean="0">
                <a:solidFill>
                  <a:srgbClr val="17375E"/>
                </a:solidFill>
                <a:latin typeface="Hobo" panose="020B0604020202020204" charset="0"/>
              </a:rPr>
              <a:t>Components of </a:t>
            </a:r>
            <a:r>
              <a:rPr lang="en-US" sz="5200" b="1" dirty="0">
                <a:solidFill>
                  <a:srgbClr val="17375E"/>
                </a:solidFill>
                <a:latin typeface="Hobo" panose="020B0604020202020204" charset="0"/>
              </a:rPr>
              <a:t>LangGraph</a:t>
            </a:r>
          </a:p>
        </p:txBody>
      </p:sp>
      <p:sp>
        <p:nvSpPr>
          <p:cNvPr id="8" name="TextBox 7"/>
          <p:cNvSpPr txBox="1"/>
          <p:nvPr/>
        </p:nvSpPr>
        <p:spPr>
          <a:xfrm>
            <a:off x="16687800" y="9182100"/>
            <a:ext cx="1295400" cy="523220"/>
          </a:xfrm>
          <a:prstGeom prst="rect">
            <a:avLst/>
          </a:prstGeom>
          <a:noFill/>
        </p:spPr>
        <p:txBody>
          <a:bodyPr wrap="square" rtlCol="0">
            <a:spAutoFit/>
          </a:bodyPr>
          <a:lstStyle/>
          <a:p>
            <a:r>
              <a:rPr lang="en-US" sz="2800" dirty="0" smtClean="0"/>
              <a:t>49</a:t>
            </a:r>
            <a:endParaRPr lang="en-US" sz="2800" dirty="0"/>
          </a:p>
        </p:txBody>
      </p:sp>
      <p:pic>
        <p:nvPicPr>
          <p:cNvPr id="5" name="Picture 4"/>
          <p:cNvPicPr>
            <a:picLocks noChangeAspect="1"/>
          </p:cNvPicPr>
          <p:nvPr/>
        </p:nvPicPr>
        <p:blipFill>
          <a:blip r:embed="rId7"/>
          <a:stretch>
            <a:fillRect/>
          </a:stretch>
        </p:blipFill>
        <p:spPr>
          <a:xfrm>
            <a:off x="2590800" y="3232695"/>
            <a:ext cx="13030200" cy="5632408"/>
          </a:xfrm>
          <a:prstGeom prst="rect">
            <a:avLst/>
          </a:prstGeom>
        </p:spPr>
      </p:pic>
    </p:spTree>
    <p:extLst>
      <p:ext uri="{BB962C8B-B14F-4D97-AF65-F5344CB8AC3E}">
        <p14:creationId xmlns:p14="http://schemas.microsoft.com/office/powerpoint/2010/main" val="334848705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B0DBF8"/>
        </a:solidFill>
        <a:effectLst/>
      </p:bgPr>
    </p:bg>
    <p:spTree>
      <p:nvGrpSpPr>
        <p:cNvPr id="1" name=""/>
        <p:cNvGrpSpPr/>
        <p:nvPr/>
      </p:nvGrpSpPr>
      <p:grpSpPr>
        <a:xfrm>
          <a:off x="0" y="0"/>
          <a:ext cx="0" cy="0"/>
          <a:chOff x="0" y="0"/>
          <a:chExt cx="0" cy="0"/>
        </a:xfrm>
      </p:grpSpPr>
      <p:sp>
        <p:nvSpPr>
          <p:cNvPr id="2" name="Freeform 2"/>
          <p:cNvSpPr/>
          <p:nvPr/>
        </p:nvSpPr>
        <p:spPr>
          <a:xfrm>
            <a:off x="-1046818" y="0"/>
            <a:ext cx="20525759" cy="11024043"/>
          </a:xfrm>
          <a:custGeom>
            <a:avLst/>
            <a:gdLst/>
            <a:ahLst/>
            <a:cxnLst/>
            <a:rect l="l" t="t" r="r" b="b"/>
            <a:pathLst>
              <a:path w="20525759" h="11024043">
                <a:moveTo>
                  <a:pt x="0" y="0"/>
                </a:moveTo>
                <a:lnTo>
                  <a:pt x="20525760" y="0"/>
                </a:lnTo>
                <a:lnTo>
                  <a:pt x="20525760" y="11024043"/>
                </a:lnTo>
                <a:lnTo>
                  <a:pt x="0" y="11024043"/>
                </a:lnTo>
                <a:lnTo>
                  <a:pt x="0" y="0"/>
                </a:lnTo>
                <a:close/>
              </a:path>
            </a:pathLst>
          </a:custGeom>
          <a:blipFill>
            <a:blip r:embed="rId2"/>
            <a:stretch>
              <a:fillRect/>
            </a:stretch>
          </a:blipFill>
        </p:spPr>
      </p:sp>
      <p:grpSp>
        <p:nvGrpSpPr>
          <p:cNvPr id="6" name="Group 5"/>
          <p:cNvGrpSpPr/>
          <p:nvPr/>
        </p:nvGrpSpPr>
        <p:grpSpPr>
          <a:xfrm>
            <a:off x="381000" y="0"/>
            <a:ext cx="5934317" cy="2028458"/>
            <a:chOff x="6176841" y="1028700"/>
            <a:chExt cx="5934317" cy="2028458"/>
          </a:xfrm>
        </p:grpSpPr>
        <p:sp>
          <p:nvSpPr>
            <p:cNvPr id="3" name="Freeform 3"/>
            <p:cNvSpPr/>
            <p:nvPr/>
          </p:nvSpPr>
          <p:spPr>
            <a:xfrm>
              <a:off x="6176841" y="1028700"/>
              <a:ext cx="5934317" cy="2028458"/>
            </a:xfrm>
            <a:custGeom>
              <a:avLst/>
              <a:gdLst/>
              <a:ahLst/>
              <a:cxnLst/>
              <a:rect l="l" t="t" r="r" b="b"/>
              <a:pathLst>
                <a:path w="5934317" h="2028458">
                  <a:moveTo>
                    <a:pt x="0" y="0"/>
                  </a:moveTo>
                  <a:lnTo>
                    <a:pt x="5934318" y="0"/>
                  </a:lnTo>
                  <a:lnTo>
                    <a:pt x="5934318" y="2028458"/>
                  </a:lnTo>
                  <a:lnTo>
                    <a:pt x="0" y="2028458"/>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5" name="TextBox 5"/>
            <p:cNvSpPr txBox="1"/>
            <p:nvPr/>
          </p:nvSpPr>
          <p:spPr>
            <a:xfrm>
              <a:off x="6176841" y="1551756"/>
              <a:ext cx="5934317" cy="887095"/>
            </a:xfrm>
            <a:prstGeom prst="rect">
              <a:avLst/>
            </a:prstGeom>
          </p:spPr>
          <p:txBody>
            <a:bodyPr lIns="0" tIns="0" rIns="0" bIns="0" rtlCol="0" anchor="t">
              <a:spAutoFit/>
            </a:bodyPr>
            <a:lstStyle/>
            <a:p>
              <a:pPr algn="ctr">
                <a:lnSpc>
                  <a:spcPts val="7279"/>
                </a:lnSpc>
              </a:pPr>
              <a:r>
                <a:rPr lang="en-US" sz="5199" dirty="0" smtClean="0">
                  <a:solidFill>
                    <a:srgbClr val="022C5E"/>
                  </a:solidFill>
                  <a:latin typeface="Hobo"/>
                  <a:ea typeface="Hobo"/>
                  <a:cs typeface="Hobo"/>
                  <a:sym typeface="Hobo"/>
                </a:rPr>
                <a:t>Reference</a:t>
              </a:r>
              <a:endParaRPr lang="en-US" sz="5199" dirty="0">
                <a:solidFill>
                  <a:srgbClr val="022C5E"/>
                </a:solidFill>
                <a:latin typeface="Hobo"/>
                <a:ea typeface="Hobo"/>
                <a:cs typeface="Hobo"/>
                <a:sym typeface="Hobo"/>
              </a:endParaRPr>
            </a:p>
          </p:txBody>
        </p:sp>
      </p:grpSp>
      <p:sp>
        <p:nvSpPr>
          <p:cNvPr id="7" name="TextBox 6"/>
          <p:cNvSpPr txBox="1"/>
          <p:nvPr/>
        </p:nvSpPr>
        <p:spPr>
          <a:xfrm>
            <a:off x="990600" y="2476500"/>
            <a:ext cx="13944600" cy="3539430"/>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Open Sans" panose="020B0604020202020204" charset="0"/>
                <a:ea typeface="Open Sans" panose="020B0604020202020204" charset="0"/>
                <a:cs typeface="Open Sans" panose="020B0604020202020204" charset="0"/>
                <a:hlinkClick r:id="rId5"/>
              </a:rPr>
              <a:t>https://</a:t>
            </a:r>
            <a:r>
              <a:rPr lang="en-US" sz="2800" dirty="0" smtClean="0">
                <a:latin typeface="Open Sans" panose="020B0604020202020204" charset="0"/>
                <a:ea typeface="Open Sans" panose="020B0604020202020204" charset="0"/>
                <a:cs typeface="Open Sans" panose="020B0604020202020204" charset="0"/>
                <a:hlinkClick r:id="rId5"/>
              </a:rPr>
              <a:t>www.coursera.org/articles/what-is-hugging-face </a:t>
            </a:r>
            <a:r>
              <a:rPr lang="en-US" sz="2800" dirty="0" smtClean="0">
                <a:latin typeface="Open Sans" panose="020B0604020202020204" charset="0"/>
                <a:ea typeface="Open Sans" panose="020B0604020202020204" charset="0"/>
                <a:cs typeface="Open Sans" panose="020B0604020202020204" charset="0"/>
                <a:hlinkClick r:id="rId6" action="ppaction://hlinksldjump"/>
              </a:rPr>
              <a:t>[1]</a:t>
            </a:r>
            <a:endParaRPr lang="en-US" sz="2800" dirty="0" smtClean="0">
              <a:latin typeface="Open Sans" panose="020B0604020202020204" charset="0"/>
              <a:ea typeface="Open Sans" panose="020B0604020202020204" charset="0"/>
              <a:cs typeface="Open Sans" panose="020B0604020202020204" charset="0"/>
            </a:endParaRPr>
          </a:p>
          <a:p>
            <a:pPr marL="285750" indent="-285750">
              <a:buFont typeface="Arial" panose="020B0604020202020204" pitchFamily="34" charset="0"/>
              <a:buChar char="•"/>
            </a:pPr>
            <a:r>
              <a:rPr lang="en-US" sz="2800" dirty="0">
                <a:latin typeface="Open Sans" panose="020B0604020202020204" charset="0"/>
                <a:ea typeface="Open Sans" panose="020B0604020202020204" charset="0"/>
                <a:cs typeface="Open Sans" panose="020B0604020202020204" charset="0"/>
                <a:hlinkClick r:id="rId7"/>
              </a:rPr>
              <a:t>https://</a:t>
            </a:r>
            <a:r>
              <a:rPr lang="en-US" sz="2800" dirty="0" smtClean="0">
                <a:latin typeface="Open Sans" panose="020B0604020202020204" charset="0"/>
                <a:ea typeface="Open Sans" panose="020B0604020202020204" charset="0"/>
                <a:cs typeface="Open Sans" panose="020B0604020202020204" charset="0"/>
                <a:hlinkClick r:id="rId7"/>
              </a:rPr>
              <a:t>huggingface.co/learn/agents-course/en/unit1/tutorial [2</a:t>
            </a:r>
            <a:r>
              <a:rPr lang="en-US" sz="2800" dirty="0" smtClean="0">
                <a:latin typeface="Open Sans" panose="020B0604020202020204" charset="0"/>
                <a:ea typeface="Open Sans" panose="020B0604020202020204" charset="0"/>
                <a:cs typeface="Open Sans" panose="020B0604020202020204" charset="0"/>
                <a:hlinkClick r:id="rId8" action="ppaction://hlinksldjump"/>
              </a:rPr>
              <a:t>]</a:t>
            </a:r>
            <a:endParaRPr lang="en-US" sz="2800" dirty="0" smtClean="0">
              <a:latin typeface="Open Sans" panose="020B0604020202020204" charset="0"/>
              <a:ea typeface="Open Sans" panose="020B0604020202020204" charset="0"/>
              <a:cs typeface="Open Sans" panose="020B0604020202020204" charset="0"/>
            </a:endParaRPr>
          </a:p>
          <a:p>
            <a:pPr marL="285750" indent="-285750">
              <a:buFont typeface="Arial" panose="020B0604020202020204" pitchFamily="34" charset="0"/>
              <a:buChar char="•"/>
            </a:pPr>
            <a:r>
              <a:rPr lang="en-US" sz="2800" dirty="0">
                <a:latin typeface="Open Sans" panose="020B0604020202020204" charset="0"/>
                <a:ea typeface="Open Sans" panose="020B0604020202020204" charset="0"/>
                <a:cs typeface="Open Sans" panose="020B0604020202020204" charset="0"/>
                <a:hlinkClick r:id="rId9"/>
              </a:rPr>
              <a:t>https://</a:t>
            </a:r>
            <a:r>
              <a:rPr lang="en-US" sz="2800" dirty="0" smtClean="0">
                <a:latin typeface="Open Sans" panose="020B0604020202020204" charset="0"/>
                <a:ea typeface="Open Sans" panose="020B0604020202020204" charset="0"/>
                <a:cs typeface="Open Sans" panose="020B0604020202020204" charset="0"/>
                <a:hlinkClick r:id="rId9"/>
              </a:rPr>
              <a:t>www.ibm.com/think/topics/llamaindex [3</a:t>
            </a:r>
            <a:r>
              <a:rPr lang="en-US" sz="2800" dirty="0" smtClean="0">
                <a:latin typeface="Open Sans" panose="020B0604020202020204" charset="0"/>
                <a:ea typeface="Open Sans" panose="020B0604020202020204" charset="0"/>
                <a:cs typeface="Open Sans" panose="020B0604020202020204" charset="0"/>
                <a:hlinkClick r:id="rId10" action="ppaction://hlinksldjump"/>
              </a:rPr>
              <a:t>]</a:t>
            </a:r>
            <a:endParaRPr lang="en-US" sz="2800" dirty="0" smtClean="0">
              <a:latin typeface="Open Sans" panose="020B0604020202020204" charset="0"/>
              <a:ea typeface="Open Sans" panose="020B0604020202020204" charset="0"/>
              <a:cs typeface="Open Sans" panose="020B0604020202020204" charset="0"/>
            </a:endParaRPr>
          </a:p>
          <a:p>
            <a:pPr marL="285750" indent="-285750">
              <a:buFont typeface="Arial" panose="020B0604020202020204" pitchFamily="34" charset="0"/>
              <a:buChar char="•"/>
            </a:pPr>
            <a:r>
              <a:rPr lang="en-US" sz="2800" dirty="0">
                <a:latin typeface="Open Sans" panose="020B0604020202020204" charset="0"/>
                <a:ea typeface="Open Sans" panose="020B0604020202020204" charset="0"/>
                <a:cs typeface="Open Sans" panose="020B0604020202020204" charset="0"/>
                <a:hlinkClick r:id="rId11"/>
              </a:rPr>
              <a:t>https://</a:t>
            </a:r>
            <a:r>
              <a:rPr lang="en-US" sz="2800" dirty="0" smtClean="0">
                <a:latin typeface="Open Sans" panose="020B0604020202020204" charset="0"/>
                <a:ea typeface="Open Sans" panose="020B0604020202020204" charset="0"/>
                <a:cs typeface="Open Sans" panose="020B0604020202020204" charset="0"/>
                <a:hlinkClick r:id="rId11"/>
              </a:rPr>
              <a:t>platform.openai.com/docs/guides/prompt-engineering</a:t>
            </a:r>
            <a:r>
              <a:rPr lang="en-US" sz="2800" dirty="0" smtClean="0">
                <a:latin typeface="Open Sans" panose="020B0604020202020204" charset="0"/>
                <a:ea typeface="Open Sans" panose="020B0604020202020204" charset="0"/>
                <a:cs typeface="Open Sans" panose="020B0604020202020204" charset="0"/>
              </a:rPr>
              <a:t> </a:t>
            </a:r>
            <a:r>
              <a:rPr lang="en-US" sz="2800" dirty="0" smtClean="0">
                <a:latin typeface="Open Sans" panose="020B0604020202020204" charset="0"/>
                <a:ea typeface="Open Sans" panose="020B0604020202020204" charset="0"/>
                <a:cs typeface="Open Sans" panose="020B0604020202020204" charset="0"/>
                <a:hlinkClick r:id="rId12" action="ppaction://hlinksldjump"/>
              </a:rPr>
              <a:t>[4]</a:t>
            </a:r>
            <a:endParaRPr lang="en-US" sz="2800" dirty="0" smtClean="0">
              <a:latin typeface="Open Sans" panose="020B0604020202020204" charset="0"/>
              <a:ea typeface="Open Sans" panose="020B0604020202020204" charset="0"/>
              <a:cs typeface="Open Sans" panose="020B0604020202020204" charset="0"/>
            </a:endParaRPr>
          </a:p>
          <a:p>
            <a:pPr marL="285750" indent="-285750">
              <a:buFont typeface="Arial" panose="020B0604020202020204" pitchFamily="34" charset="0"/>
              <a:buChar char="•"/>
            </a:pPr>
            <a:r>
              <a:rPr lang="en-US" sz="2800" dirty="0">
                <a:latin typeface="Open Sans" panose="020B0604020202020204" charset="0"/>
                <a:ea typeface="Open Sans" panose="020B0604020202020204" charset="0"/>
                <a:cs typeface="Open Sans" panose="020B0604020202020204" charset="0"/>
                <a:hlinkClick r:id="rId13"/>
              </a:rPr>
              <a:t>https://docs.llamaindex.ai/en/stable</a:t>
            </a:r>
            <a:r>
              <a:rPr lang="en-US" sz="2800" dirty="0" smtClean="0">
                <a:latin typeface="Open Sans" panose="020B0604020202020204" charset="0"/>
                <a:ea typeface="Open Sans" panose="020B0604020202020204" charset="0"/>
                <a:cs typeface="Open Sans" panose="020B0604020202020204" charset="0"/>
                <a:hlinkClick r:id="rId13"/>
              </a:rPr>
              <a:t>/</a:t>
            </a:r>
            <a:r>
              <a:rPr lang="en-US" sz="2800" dirty="0" smtClean="0">
                <a:latin typeface="Open Sans" panose="020B0604020202020204" charset="0"/>
                <a:ea typeface="Open Sans" panose="020B0604020202020204" charset="0"/>
                <a:cs typeface="Open Sans" panose="020B0604020202020204" charset="0"/>
              </a:rPr>
              <a:t> </a:t>
            </a:r>
            <a:r>
              <a:rPr lang="en-US" sz="2800" dirty="0" smtClean="0">
                <a:latin typeface="Open Sans" panose="020B0604020202020204" charset="0"/>
                <a:ea typeface="Open Sans" panose="020B0604020202020204" charset="0"/>
                <a:cs typeface="Open Sans" panose="020B0604020202020204" charset="0"/>
                <a:hlinkClick r:id="rId14" action="ppaction://hlinksldjump"/>
              </a:rPr>
              <a:t>[</a:t>
            </a:r>
            <a:r>
              <a:rPr lang="en-US" sz="2800" dirty="0">
                <a:latin typeface="Open Sans" panose="020B0604020202020204" charset="0"/>
                <a:ea typeface="Open Sans" panose="020B0604020202020204" charset="0"/>
                <a:cs typeface="Open Sans" panose="020B0604020202020204" charset="0"/>
                <a:hlinkClick r:id="rId14" action="ppaction://hlinksldjump"/>
              </a:rPr>
              <a:t>5</a:t>
            </a:r>
            <a:r>
              <a:rPr lang="en-US" sz="2800" dirty="0" smtClean="0">
                <a:latin typeface="Open Sans" panose="020B0604020202020204" charset="0"/>
                <a:ea typeface="Open Sans" panose="020B0604020202020204" charset="0"/>
                <a:cs typeface="Open Sans" panose="020B0604020202020204" charset="0"/>
                <a:hlinkClick r:id="rId14" action="ppaction://hlinksldjump"/>
              </a:rPr>
              <a:t>]</a:t>
            </a:r>
            <a:endParaRPr lang="en-US" sz="2800" dirty="0" smtClean="0">
              <a:latin typeface="Open Sans" panose="020B0604020202020204" charset="0"/>
              <a:ea typeface="Open Sans" panose="020B0604020202020204" charset="0"/>
              <a:cs typeface="Open Sans" panose="020B0604020202020204" charset="0"/>
            </a:endParaRPr>
          </a:p>
          <a:p>
            <a:pPr marL="285750" indent="-285750">
              <a:buFont typeface="Arial" panose="020B0604020202020204" pitchFamily="34" charset="0"/>
              <a:buChar char="•"/>
            </a:pPr>
            <a:r>
              <a:rPr lang="en-US" sz="2800" dirty="0">
                <a:latin typeface="Open Sans" panose="020B0604020202020204" charset="0"/>
                <a:ea typeface="Open Sans" panose="020B0604020202020204" charset="0"/>
                <a:cs typeface="Open Sans" panose="020B0604020202020204" charset="0"/>
                <a:hlinkClick r:id="rId15"/>
              </a:rPr>
              <a:t>https://</a:t>
            </a:r>
            <a:r>
              <a:rPr lang="en-US" sz="2800" dirty="0" smtClean="0">
                <a:latin typeface="Open Sans" panose="020B0604020202020204" charset="0"/>
                <a:ea typeface="Open Sans" panose="020B0604020202020204" charset="0"/>
                <a:cs typeface="Open Sans" panose="020B0604020202020204" charset="0"/>
                <a:hlinkClick r:id="rId15"/>
              </a:rPr>
              <a:t>huggingface.co/learn/agents-course/en/unit2/llama-index/introduction [6</a:t>
            </a:r>
            <a:r>
              <a:rPr lang="en-US" sz="2800" dirty="0" smtClean="0">
                <a:latin typeface="Open Sans" panose="020B0604020202020204" charset="0"/>
                <a:ea typeface="Open Sans" panose="020B0604020202020204" charset="0"/>
                <a:cs typeface="Open Sans" panose="020B0604020202020204" charset="0"/>
                <a:hlinkClick r:id="rId16" action="ppaction://hlinksldjump"/>
              </a:rPr>
              <a:t>]</a:t>
            </a:r>
            <a:endParaRPr lang="en-US" sz="2800" dirty="0" smtClean="0">
              <a:latin typeface="Open Sans" panose="020B0604020202020204" charset="0"/>
              <a:ea typeface="Open Sans" panose="020B0604020202020204" charset="0"/>
              <a:cs typeface="Open Sans" panose="020B0604020202020204" charset="0"/>
            </a:endParaRPr>
          </a:p>
          <a:p>
            <a:pPr marL="285750" indent="-285750">
              <a:buFont typeface="Arial" panose="020B0604020202020204" pitchFamily="34" charset="0"/>
              <a:buChar char="•"/>
            </a:pPr>
            <a:r>
              <a:rPr lang="en-US" sz="2800" dirty="0">
                <a:latin typeface="Open Sans" panose="020B0604020202020204" charset="0"/>
                <a:ea typeface="Open Sans" panose="020B0604020202020204" charset="0"/>
                <a:cs typeface="Open Sans" panose="020B0604020202020204" charset="0"/>
                <a:hlinkClick r:id="rId17"/>
              </a:rPr>
              <a:t>https://</a:t>
            </a:r>
            <a:r>
              <a:rPr lang="en-US" sz="2800" dirty="0" smtClean="0">
                <a:latin typeface="Open Sans" panose="020B0604020202020204" charset="0"/>
                <a:ea typeface="Open Sans" panose="020B0604020202020204" charset="0"/>
                <a:cs typeface="Open Sans" panose="020B0604020202020204" charset="0"/>
                <a:hlinkClick r:id="rId17"/>
              </a:rPr>
              <a:t>huggingface.co/learn/agents-course/en/unit2/langgraph/when_to_use_langgraph</a:t>
            </a:r>
            <a:r>
              <a:rPr lang="en-US" sz="2800" dirty="0" smtClean="0">
                <a:latin typeface="Open Sans" panose="020B0604020202020204" charset="0"/>
                <a:ea typeface="Open Sans" panose="020B0604020202020204" charset="0"/>
                <a:cs typeface="Open Sans" panose="020B0604020202020204" charset="0"/>
              </a:rPr>
              <a:t> </a:t>
            </a:r>
            <a:r>
              <a:rPr lang="en-US" sz="2800" dirty="0" smtClean="0">
                <a:latin typeface="Open Sans" panose="020B0604020202020204" charset="0"/>
                <a:ea typeface="Open Sans" panose="020B0604020202020204" charset="0"/>
                <a:cs typeface="Open Sans" panose="020B0604020202020204" charset="0"/>
                <a:hlinkClick r:id="rId18" action="ppaction://hlinksldjump"/>
              </a:rPr>
              <a:t>[7]</a:t>
            </a:r>
            <a:endParaRPr lang="en-US" sz="2800" dirty="0">
              <a:latin typeface="Open Sans" panose="020B0604020202020204" charset="0"/>
              <a:ea typeface="Open Sans" panose="020B0604020202020204" charset="0"/>
              <a:cs typeface="Open Sans" panose="020B0604020202020204" charset="0"/>
            </a:endParaRPr>
          </a:p>
        </p:txBody>
      </p:sp>
      <p:sp>
        <p:nvSpPr>
          <p:cNvPr id="9" name="TextBox 8"/>
          <p:cNvSpPr txBox="1"/>
          <p:nvPr/>
        </p:nvSpPr>
        <p:spPr>
          <a:xfrm>
            <a:off x="16687800" y="9182100"/>
            <a:ext cx="1295400" cy="523220"/>
          </a:xfrm>
          <a:prstGeom prst="rect">
            <a:avLst/>
          </a:prstGeom>
          <a:noFill/>
        </p:spPr>
        <p:txBody>
          <a:bodyPr wrap="square" rtlCol="0">
            <a:spAutoFit/>
          </a:bodyPr>
          <a:lstStyle/>
          <a:p>
            <a:r>
              <a:rPr lang="en-US" sz="2800" dirty="0" smtClean="0"/>
              <a:t>50</a:t>
            </a:r>
            <a:endParaRPr lang="en-US" sz="2800" dirty="0"/>
          </a:p>
        </p:txBody>
      </p:sp>
    </p:spTree>
  </p:cSld>
  <p:clrMapOvr>
    <a:masterClrMapping/>
  </p:clrMapOvr>
  <mc:AlternateContent xmlns:mc="http://schemas.openxmlformats.org/markup-compatibility/2006" xmlns:p14="http://schemas.microsoft.com/office/powerpoint/2010/main">
    <mc:Choice Requires="p14">
      <p:transition spd="slow" p14:dur="2250">
        <p14:glitter pattern="hexagon"/>
      </p:transition>
    </mc:Choice>
    <mc:Fallback xmlns="">
      <p:transition spd="slow">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6818" y="0"/>
            <a:ext cx="20525759" cy="11024043"/>
          </a:xfrm>
          <a:custGeom>
            <a:avLst/>
            <a:gdLst/>
            <a:ahLst/>
            <a:cxnLst/>
            <a:rect l="l" t="t" r="r" b="b"/>
            <a:pathLst>
              <a:path w="20525759" h="11024043">
                <a:moveTo>
                  <a:pt x="0" y="0"/>
                </a:moveTo>
                <a:lnTo>
                  <a:pt x="20525760" y="0"/>
                </a:lnTo>
                <a:lnTo>
                  <a:pt x="20525760" y="11024043"/>
                </a:lnTo>
                <a:lnTo>
                  <a:pt x="0" y="11024043"/>
                </a:lnTo>
                <a:lnTo>
                  <a:pt x="0" y="0"/>
                </a:lnTo>
                <a:close/>
              </a:path>
            </a:pathLst>
          </a:custGeom>
          <a:blipFill>
            <a:blip r:embed="rId2"/>
            <a:stretch>
              <a:fillRect/>
            </a:stretch>
          </a:blipFill>
        </p:spPr>
      </p:sp>
      <p:pic>
        <p:nvPicPr>
          <p:cNvPr id="4" name="Picture 3"/>
          <p:cNvPicPr>
            <a:picLocks noChangeAspect="1"/>
          </p:cNvPicPr>
          <p:nvPr/>
        </p:nvPicPr>
        <p:blipFill>
          <a:blip r:embed="rId3"/>
          <a:stretch>
            <a:fillRect/>
          </a:stretch>
        </p:blipFill>
        <p:spPr>
          <a:xfrm>
            <a:off x="3081961" y="647700"/>
            <a:ext cx="12268200" cy="8712200"/>
          </a:xfrm>
          <a:prstGeom prst="rect">
            <a:avLst/>
          </a:prstGeom>
        </p:spPr>
      </p:pic>
      <p:sp>
        <p:nvSpPr>
          <p:cNvPr id="9" name="TextBox 8"/>
          <p:cNvSpPr txBox="1"/>
          <p:nvPr/>
        </p:nvSpPr>
        <p:spPr>
          <a:xfrm>
            <a:off x="16687800" y="9182100"/>
            <a:ext cx="1295400" cy="523220"/>
          </a:xfrm>
          <a:prstGeom prst="rect">
            <a:avLst/>
          </a:prstGeom>
          <a:noFill/>
        </p:spPr>
        <p:txBody>
          <a:bodyPr wrap="square" rtlCol="0">
            <a:spAutoFit/>
          </a:bodyPr>
          <a:lstStyle/>
          <a:p>
            <a:r>
              <a:rPr lang="en-US" sz="2800" dirty="0" smtClean="0"/>
              <a:t>51</a:t>
            </a:r>
            <a:endParaRPr lang="en-US" sz="2800" dirty="0"/>
          </a:p>
        </p:txBody>
      </p:sp>
    </p:spTree>
    <p:extLst>
      <p:ext uri="{BB962C8B-B14F-4D97-AF65-F5344CB8AC3E}">
        <p14:creationId xmlns:p14="http://schemas.microsoft.com/office/powerpoint/2010/main" val="1275682524"/>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B0DBF8"/>
        </a:solidFill>
        <a:effectLst/>
      </p:bgPr>
    </p:bg>
    <p:spTree>
      <p:nvGrpSpPr>
        <p:cNvPr id="1" name=""/>
        <p:cNvGrpSpPr/>
        <p:nvPr/>
      </p:nvGrpSpPr>
      <p:grpSpPr>
        <a:xfrm>
          <a:off x="0" y="0"/>
          <a:ext cx="0" cy="0"/>
          <a:chOff x="0" y="0"/>
          <a:chExt cx="0" cy="0"/>
        </a:xfrm>
      </p:grpSpPr>
      <p:sp>
        <p:nvSpPr>
          <p:cNvPr id="2" name="Freeform 2"/>
          <p:cNvSpPr/>
          <p:nvPr/>
        </p:nvSpPr>
        <p:spPr>
          <a:xfrm>
            <a:off x="1936538" y="1028700"/>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2"/>
            <a:stretch>
              <a:fillRect/>
            </a:stretch>
          </a:blipFill>
        </p:spPr>
      </p:sp>
      <p:sp>
        <p:nvSpPr>
          <p:cNvPr id="3" name="TextBox 3"/>
          <p:cNvSpPr txBox="1"/>
          <p:nvPr/>
        </p:nvSpPr>
        <p:spPr>
          <a:xfrm>
            <a:off x="5548235" y="3594608"/>
            <a:ext cx="7191531" cy="3488310"/>
          </a:xfrm>
          <a:prstGeom prst="rect">
            <a:avLst/>
          </a:prstGeom>
        </p:spPr>
        <p:txBody>
          <a:bodyPr lIns="0" tIns="0" rIns="0" bIns="0" rtlCol="0" anchor="t">
            <a:spAutoFit/>
          </a:bodyPr>
          <a:lstStyle/>
          <a:p>
            <a:pPr algn="ctr">
              <a:lnSpc>
                <a:spcPts val="14248"/>
              </a:lnSpc>
            </a:pPr>
            <a:r>
              <a:rPr lang="en-US" sz="13700">
                <a:solidFill>
                  <a:srgbClr val="FFFFFF"/>
                </a:solidFill>
                <a:latin typeface="Sergio Trendy"/>
                <a:ea typeface="Sergio Trendy"/>
                <a:cs typeface="Sergio Trendy"/>
                <a:sym typeface="Sergio Trendy"/>
              </a:rPr>
              <a:t>Thank You</a:t>
            </a:r>
          </a:p>
        </p:txBody>
      </p:sp>
      <p:sp>
        <p:nvSpPr>
          <p:cNvPr id="4" name="Freeform 4"/>
          <p:cNvSpPr/>
          <p:nvPr/>
        </p:nvSpPr>
        <p:spPr>
          <a:xfrm>
            <a:off x="-3634180" y="-6174527"/>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2"/>
            <a:stretch>
              <a:fillRect/>
            </a:stretch>
          </a:blipFill>
        </p:spPr>
      </p:sp>
      <p:sp>
        <p:nvSpPr>
          <p:cNvPr id="5" name="Freeform 5"/>
          <p:cNvSpPr/>
          <p:nvPr/>
        </p:nvSpPr>
        <p:spPr>
          <a:xfrm>
            <a:off x="8714550" y="8235442"/>
            <a:ext cx="15322762" cy="8229600"/>
          </a:xfrm>
          <a:custGeom>
            <a:avLst/>
            <a:gdLst/>
            <a:ahLst/>
            <a:cxnLst/>
            <a:rect l="l" t="t" r="r" b="b"/>
            <a:pathLst>
              <a:path w="15322762" h="8229600">
                <a:moveTo>
                  <a:pt x="0" y="0"/>
                </a:moveTo>
                <a:lnTo>
                  <a:pt x="15322762" y="0"/>
                </a:lnTo>
                <a:lnTo>
                  <a:pt x="15322762" y="8229600"/>
                </a:lnTo>
                <a:lnTo>
                  <a:pt x="0" y="8229600"/>
                </a:lnTo>
                <a:lnTo>
                  <a:pt x="0" y="0"/>
                </a:lnTo>
                <a:close/>
              </a:path>
            </a:pathLst>
          </a:custGeom>
          <a:blipFill>
            <a:blip r:embed="rId2"/>
            <a:stretch>
              <a:fillRect/>
            </a:stretch>
          </a:blipFill>
        </p:spPr>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4395</TotalTime>
  <Words>1035</Words>
  <Application>Microsoft Office PowerPoint</Application>
  <PresentationFormat>Custom</PresentationFormat>
  <Paragraphs>308</Paragraphs>
  <Slides>52</Slides>
  <Notes>41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Open Sans</vt:lpstr>
      <vt:lpstr>Arial</vt:lpstr>
      <vt:lpstr>Sergio Trendy</vt:lpstr>
      <vt:lpstr>Hobo</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DELL.CC</cp:lastModifiedBy>
  <cp:revision>125</cp:revision>
  <dcterms:created xsi:type="dcterms:W3CDTF">2006-08-16T00:00:00Z</dcterms:created>
  <dcterms:modified xsi:type="dcterms:W3CDTF">2025-09-17T16:17:34Z</dcterms:modified>
  <dc:identifier>DAGwy4-pL5A</dc:identifier>
</cp:coreProperties>
</file>